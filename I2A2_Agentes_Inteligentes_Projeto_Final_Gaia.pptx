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6"/>
    </p:embeddedFont>
    <p:embeddedFont>
      <p:font typeface="Canva Sans Bold" panose="020B0604020202020204" charset="0"/>
      <p:regular r:id="rId17"/>
    </p:embeddedFont>
    <p:embeddedFont>
      <p:font typeface="League Spartan" panose="020B0604020202020204" charset="0"/>
      <p:regular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2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Uma startup de dados</a:t>
            </a:r>
          </a:p>
          <a:p>
            <a:r>
              <a:rPr lang="en-US"/>
              <a:t>- Acreditamos na revolução da economia de dados, colocando o consumidor no centro para decidir quando, como e quanto vale o compartilhamento do tempo e dos dados dele.</a:t>
            </a:r>
          </a:p>
          <a:p>
            <a:r>
              <a:rPr lang="en-US"/>
              <a:t>- Para isso, criamos um app, nossa frente de mídia. Esse app atua exclusivamente no Brasil e já tem quase 2MM de usuários únicos e validados na Receita Federal - não tem robô ou usuário repetido. Hoje, já temos outras soluções para ajudar as marcas nos KPIs de engajamento da base própria.</a:t>
            </a:r>
          </a:p>
          <a:p>
            <a:r>
              <a:rPr lang="en-US"/>
              <a:t>- Nosso propósito é conectar marcas e consumidores através de uma experiência mais profunda (muitos dados), justa e divertida. Tudo isso com muita performance e gamificação.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 objetivo aqui é fortalecer os argumentos. Não precisa ser falado, mas é importante estar presente no documento de envio.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Lembra que falamos sobre o nosso propósito ser conectar marcas e consumidores através de uma experiência mais profunda, justa e divertida?</a:t>
            </a:r>
          </a:p>
          <a:p>
            <a:endParaRPr lang="en-US"/>
          </a:p>
          <a:p>
            <a:r>
              <a:rPr lang="en-US"/>
              <a:t>- Personalização: Aqui, você consegue extrair o dado que quiser da sua audiência, trazendo um conhecimento  muito profundo do seu público e tornando as possibilidades de segmentação infinitas. Tudo isso com o consentimento do usuário, claro. Exemplo: No nosso app, pedimos para os usuários preencherem mais de 90 datapoints. Desde informações simples como gênero, escolaridade, idade, onde mora, até informações mais específicas como se tem filhos, quantos filhos, idade dos filhos, se prefere vinho ou cerveja, etc.</a:t>
            </a:r>
          </a:p>
          <a:p>
            <a:endParaRPr lang="en-US"/>
          </a:p>
          <a:p>
            <a:r>
              <a:rPr lang="en-US"/>
              <a:t>- Gamificação: Toda campanha de marketing aqui na Modatta é em formato de missão. Assim como um jogo, as missões tem objetivos (seus objetivos de negócio). Quando o jogador cumpre o objetivo de negócio, ele zera a fase e ganha alguma coisa. Acontece o mesmo aqui: o usuário ganha uma recompensa financeira por ter parado o tempo dele para interagir com a sua marca - até 50% do que você pagar para a gente, volta para o usuário como recompensa em dinheiro na carteira Modatta. Muito mais justo, né?</a:t>
            </a:r>
          </a:p>
          <a:p>
            <a:endParaRPr lang="en-US"/>
          </a:p>
          <a:p>
            <a:r>
              <a:rPr lang="en-US"/>
              <a:t>- Multi canais: Diferente das demais plataformas, que disponibilizam opções de campanhas para o próprio canal, a Modatta existe para fortalecer as suas estratégias de marketing, independente do canal. Você pode aumentar o engajamento ou o número de seguidores no Instagram, Tik Tok, Youtube, pedir para o usuário baixar o app, se cadastrar em uma campanha, entre outros.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854317" cy="13093958"/>
          </a:xfrm>
          <a:custGeom>
            <a:avLst/>
            <a:gdLst/>
            <a:ahLst/>
            <a:cxnLst/>
            <a:rect l="l" t="t" r="r" b="b"/>
            <a:pathLst>
              <a:path w="18854317" h="13093958">
                <a:moveTo>
                  <a:pt x="0" y="0"/>
                </a:moveTo>
                <a:lnTo>
                  <a:pt x="18854317" y="0"/>
                </a:lnTo>
                <a:lnTo>
                  <a:pt x="18854317" y="13093958"/>
                </a:lnTo>
                <a:lnTo>
                  <a:pt x="0" y="13093958"/>
                </a:lnTo>
                <a:lnTo>
                  <a:pt x="0" y="0"/>
                </a:lnTo>
                <a:close/>
              </a:path>
            </a:pathLst>
          </a:custGeom>
          <a:blipFill>
            <a:blip r:embed="rId3"/>
            <a:stretch>
              <a:fillRect t="-36752" r="-1141" b="-8884"/>
            </a:stretch>
          </a:blipFill>
        </p:spPr>
        <p:txBody>
          <a:bodyPr/>
          <a:lstStyle/>
          <a:p>
            <a:endParaRPr lang="pt-BR"/>
          </a:p>
        </p:txBody>
      </p:sp>
      <p:grpSp>
        <p:nvGrpSpPr>
          <p:cNvPr id="3" name="Group 3"/>
          <p:cNvGrpSpPr/>
          <p:nvPr/>
        </p:nvGrpSpPr>
        <p:grpSpPr>
          <a:xfrm>
            <a:off x="8964071" y="-28575"/>
            <a:ext cx="9507175" cy="10287000"/>
            <a:chOff x="0" y="0"/>
            <a:chExt cx="2503947" cy="2709333"/>
          </a:xfrm>
        </p:grpSpPr>
        <p:sp>
          <p:nvSpPr>
            <p:cNvPr id="4" name="Freeform 4"/>
            <p:cNvSpPr/>
            <p:nvPr/>
          </p:nvSpPr>
          <p:spPr>
            <a:xfrm>
              <a:off x="0" y="0"/>
              <a:ext cx="2503947" cy="2709333"/>
            </a:xfrm>
            <a:custGeom>
              <a:avLst/>
              <a:gdLst/>
              <a:ahLst/>
              <a:cxnLst/>
              <a:rect l="l" t="t" r="r" b="b"/>
              <a:pathLst>
                <a:path w="2503947" h="2709333">
                  <a:moveTo>
                    <a:pt x="0" y="0"/>
                  </a:moveTo>
                  <a:lnTo>
                    <a:pt x="2503947" y="0"/>
                  </a:lnTo>
                  <a:lnTo>
                    <a:pt x="2503947" y="2709333"/>
                  </a:lnTo>
                  <a:lnTo>
                    <a:pt x="0" y="2709333"/>
                  </a:lnTo>
                  <a:close/>
                </a:path>
              </a:pathLst>
            </a:custGeom>
            <a:solidFill>
              <a:srgbClr val="19D2B4"/>
            </a:solidFill>
          </p:spPr>
          <p:txBody>
            <a:bodyPr/>
            <a:lstStyle/>
            <a:p>
              <a:endParaRPr lang="pt-BR"/>
            </a:p>
          </p:txBody>
        </p:sp>
        <p:sp>
          <p:nvSpPr>
            <p:cNvPr id="5" name="TextBox 5"/>
            <p:cNvSpPr txBox="1"/>
            <p:nvPr/>
          </p:nvSpPr>
          <p:spPr>
            <a:xfrm>
              <a:off x="0" y="-38100"/>
              <a:ext cx="2503947" cy="2747433"/>
            </a:xfrm>
            <a:prstGeom prst="rect">
              <a:avLst/>
            </a:prstGeom>
          </p:spPr>
          <p:txBody>
            <a:bodyPr lIns="50800" tIns="50800" rIns="50800" bIns="50800" rtlCol="0" anchor="ctr"/>
            <a:lstStyle/>
            <a:p>
              <a:pPr algn="ctr">
                <a:lnSpc>
                  <a:spcPts val="3499"/>
                </a:lnSpc>
              </a:pPr>
              <a:endParaRPr/>
            </a:p>
          </p:txBody>
        </p:sp>
      </p:grpSp>
      <p:sp>
        <p:nvSpPr>
          <p:cNvPr id="6" name="Freeform 6"/>
          <p:cNvSpPr/>
          <p:nvPr/>
        </p:nvSpPr>
        <p:spPr>
          <a:xfrm>
            <a:off x="10062692" y="-28575"/>
            <a:ext cx="15826769" cy="13093958"/>
          </a:xfrm>
          <a:custGeom>
            <a:avLst/>
            <a:gdLst/>
            <a:ahLst/>
            <a:cxnLst/>
            <a:rect l="l" t="t" r="r" b="b"/>
            <a:pathLst>
              <a:path w="15826769" h="13093958">
                <a:moveTo>
                  <a:pt x="0" y="0"/>
                </a:moveTo>
                <a:lnTo>
                  <a:pt x="15826768" y="0"/>
                </a:lnTo>
                <a:lnTo>
                  <a:pt x="15826768" y="13093958"/>
                </a:lnTo>
                <a:lnTo>
                  <a:pt x="0" y="13093958"/>
                </a:lnTo>
                <a:lnTo>
                  <a:pt x="0" y="0"/>
                </a:lnTo>
                <a:close/>
              </a:path>
            </a:pathLst>
          </a:custGeom>
          <a:blipFill>
            <a:blip r:embed="rId3">
              <a:alphaModFix amt="43999"/>
            </a:blip>
            <a:stretch>
              <a:fillRect l="-1155" t="-23663" r="-1155"/>
            </a:stretch>
          </a:blipFill>
        </p:spPr>
        <p:txBody>
          <a:bodyPr/>
          <a:lstStyle/>
          <a:p>
            <a:endParaRPr lang="pt-BR"/>
          </a:p>
        </p:txBody>
      </p:sp>
      <p:sp>
        <p:nvSpPr>
          <p:cNvPr id="7" name="TextBox 7"/>
          <p:cNvSpPr txBox="1"/>
          <p:nvPr/>
        </p:nvSpPr>
        <p:spPr>
          <a:xfrm>
            <a:off x="1526984" y="2521993"/>
            <a:ext cx="3817523" cy="1510034"/>
          </a:xfrm>
          <a:prstGeom prst="rect">
            <a:avLst/>
          </a:prstGeom>
        </p:spPr>
        <p:txBody>
          <a:bodyPr lIns="0" tIns="0" rIns="0" bIns="0" rtlCol="0" anchor="t">
            <a:spAutoFit/>
          </a:bodyPr>
          <a:lstStyle/>
          <a:p>
            <a:pPr algn="l">
              <a:lnSpc>
                <a:spcPts val="12319"/>
              </a:lnSpc>
            </a:pPr>
            <a:r>
              <a:rPr lang="en-US" sz="8799">
                <a:solidFill>
                  <a:srgbClr val="333333"/>
                </a:solidFill>
                <a:latin typeface="League Spartan"/>
                <a:ea typeface="League Spartan"/>
                <a:cs typeface="League Spartan"/>
                <a:sym typeface="League Spartan"/>
              </a:rPr>
              <a:t>Gaia</a:t>
            </a:r>
          </a:p>
        </p:txBody>
      </p:sp>
      <p:sp>
        <p:nvSpPr>
          <p:cNvPr id="8" name="TextBox 8"/>
          <p:cNvSpPr txBox="1"/>
          <p:nvPr/>
        </p:nvSpPr>
        <p:spPr>
          <a:xfrm>
            <a:off x="1574609" y="4310269"/>
            <a:ext cx="7011995" cy="481330"/>
          </a:xfrm>
          <a:prstGeom prst="rect">
            <a:avLst/>
          </a:prstGeom>
        </p:spPr>
        <p:txBody>
          <a:bodyPr lIns="0" tIns="0" rIns="0" bIns="0" rtlCol="0" anchor="t">
            <a:spAutoFit/>
          </a:bodyPr>
          <a:lstStyle/>
          <a:p>
            <a:pPr algn="l">
              <a:lnSpc>
                <a:spcPts val="3920"/>
              </a:lnSpc>
            </a:pPr>
            <a:r>
              <a:rPr lang="en-US" sz="2800" b="1">
                <a:solidFill>
                  <a:srgbClr val="333333"/>
                </a:solidFill>
                <a:latin typeface="Canva Sans Bold"/>
                <a:ea typeface="Canva Sans Bold"/>
                <a:cs typeface="Canva Sans Bold"/>
                <a:sym typeface="Canva Sans Bold"/>
              </a:rPr>
              <a:t>Solução de Agentes Autônomos</a:t>
            </a:r>
          </a:p>
        </p:txBody>
      </p:sp>
      <p:sp>
        <p:nvSpPr>
          <p:cNvPr id="9" name="TextBox 9"/>
          <p:cNvSpPr txBox="1"/>
          <p:nvPr/>
        </p:nvSpPr>
        <p:spPr>
          <a:xfrm>
            <a:off x="10710684" y="2966214"/>
            <a:ext cx="6013949" cy="580390"/>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 </a:t>
            </a:r>
          </a:p>
        </p:txBody>
      </p:sp>
      <p:sp>
        <p:nvSpPr>
          <p:cNvPr id="10" name="TextBox 10"/>
          <p:cNvSpPr txBox="1"/>
          <p:nvPr/>
        </p:nvSpPr>
        <p:spPr>
          <a:xfrm>
            <a:off x="1574609" y="5095875"/>
            <a:ext cx="5684900" cy="1589405"/>
          </a:xfrm>
          <a:prstGeom prst="rect">
            <a:avLst/>
          </a:prstGeom>
        </p:spPr>
        <p:txBody>
          <a:bodyPr lIns="0" tIns="0" rIns="0" bIns="0" rtlCol="0" anchor="t">
            <a:spAutoFit/>
          </a:bodyPr>
          <a:lstStyle/>
          <a:p>
            <a:pPr algn="l">
              <a:lnSpc>
                <a:spcPts val="3220"/>
              </a:lnSpc>
              <a:spcBef>
                <a:spcPct val="0"/>
              </a:spcBef>
            </a:pPr>
            <a:r>
              <a:rPr lang="en-US" sz="2300">
                <a:solidFill>
                  <a:srgbClr val="000000"/>
                </a:solidFill>
                <a:latin typeface="Canva Sans"/>
                <a:ea typeface="Canva Sans"/>
                <a:cs typeface="Canva Sans"/>
                <a:sym typeface="Canva Sans"/>
              </a:rPr>
              <a:t>Proposta de </a:t>
            </a:r>
            <a:r>
              <a:rPr lang="en-US" sz="2300" b="1">
                <a:solidFill>
                  <a:srgbClr val="000000"/>
                </a:solidFill>
                <a:latin typeface="Canva Sans Bold"/>
                <a:ea typeface="Canva Sans Bold"/>
                <a:cs typeface="Canva Sans Bold"/>
                <a:sym typeface="Canva Sans Bold"/>
              </a:rPr>
              <a:t>ferramenta gerencial</a:t>
            </a:r>
            <a:r>
              <a:rPr lang="en-US" sz="2300">
                <a:solidFill>
                  <a:srgbClr val="000000"/>
                </a:solidFill>
                <a:latin typeface="Canva Sans"/>
                <a:ea typeface="Canva Sans"/>
                <a:cs typeface="Canva Sans"/>
                <a:sym typeface="Canva Sans"/>
              </a:rPr>
              <a:t>  com geração de relatórios personalizados e Análises preditivas.</a:t>
            </a:r>
          </a:p>
          <a:p>
            <a:pPr algn="l">
              <a:lnSpc>
                <a:spcPts val="3220"/>
              </a:lnSpc>
              <a:spcBef>
                <a:spcPct val="0"/>
              </a:spcBef>
            </a:pPr>
            <a:endParaRPr lang="en-US" sz="2300">
              <a:solidFill>
                <a:srgbClr val="000000"/>
              </a:solidFill>
              <a:latin typeface="Canva Sans"/>
              <a:ea typeface="Canva Sans"/>
              <a:cs typeface="Canva Sans"/>
              <a:sym typeface="Canva Sans"/>
            </a:endParaRPr>
          </a:p>
        </p:txBody>
      </p:sp>
      <p:sp>
        <p:nvSpPr>
          <p:cNvPr id="11" name="TextBox 11"/>
          <p:cNvSpPr txBox="1"/>
          <p:nvPr/>
        </p:nvSpPr>
        <p:spPr>
          <a:xfrm>
            <a:off x="10443351" y="2267522"/>
            <a:ext cx="6548616" cy="7145418"/>
          </a:xfrm>
          <a:prstGeom prst="rect">
            <a:avLst/>
          </a:prstGeom>
        </p:spPr>
        <p:txBody>
          <a:bodyPr lIns="0" tIns="0" rIns="0" bIns="0" rtlCol="0" anchor="t">
            <a:spAutoFit/>
          </a:bodyPr>
          <a:lstStyle/>
          <a:p>
            <a:pPr algn="l">
              <a:lnSpc>
                <a:spcPts val="3519"/>
              </a:lnSpc>
            </a:pPr>
            <a:endParaRPr dirty="0"/>
          </a:p>
          <a:p>
            <a:pPr algn="l">
              <a:lnSpc>
                <a:spcPts val="3519"/>
              </a:lnSpc>
            </a:pPr>
            <a:endParaRPr dirty="0"/>
          </a:p>
          <a:p>
            <a:pPr algn="just">
              <a:lnSpc>
                <a:spcPts val="3519"/>
              </a:lnSpc>
            </a:pPr>
            <a:r>
              <a:rPr lang="en-US" sz="2300" b="1" dirty="0" err="1">
                <a:solidFill>
                  <a:srgbClr val="000000"/>
                </a:solidFill>
                <a:latin typeface="Canva Sans Bold"/>
                <a:ea typeface="Canva Sans Bold"/>
                <a:cs typeface="Canva Sans Bold"/>
                <a:sym typeface="Canva Sans Bold"/>
              </a:rPr>
              <a:t>Sumário</a:t>
            </a:r>
            <a:r>
              <a:rPr lang="en-US" sz="2300" b="1" dirty="0">
                <a:solidFill>
                  <a:srgbClr val="000000"/>
                </a:solidFill>
                <a:latin typeface="Canva Sans Bold"/>
                <a:ea typeface="Canva Sans Bold"/>
                <a:cs typeface="Canva Sans Bold"/>
                <a:sym typeface="Canva Sans Bold"/>
              </a:rPr>
              <a:t> </a:t>
            </a:r>
            <a:r>
              <a:rPr lang="en-US" sz="2300" b="1" dirty="0" err="1">
                <a:solidFill>
                  <a:srgbClr val="000000"/>
                </a:solidFill>
                <a:latin typeface="Canva Sans Bold"/>
                <a:ea typeface="Canva Sans Bold"/>
                <a:cs typeface="Canva Sans Bold"/>
                <a:sym typeface="Canva Sans Bold"/>
              </a:rPr>
              <a:t>Executivo</a:t>
            </a:r>
            <a:endParaRPr lang="en-US" sz="2300" b="1" dirty="0">
              <a:solidFill>
                <a:srgbClr val="000000"/>
              </a:solidFill>
              <a:latin typeface="Canva Sans Bold"/>
              <a:ea typeface="Canva Sans Bold"/>
              <a:cs typeface="Canva Sans Bold"/>
              <a:sym typeface="Canva Sans Bold"/>
            </a:endParaRPr>
          </a:p>
          <a:p>
            <a:pPr algn="just">
              <a:lnSpc>
                <a:spcPts val="3519"/>
              </a:lnSpc>
            </a:pPr>
            <a:r>
              <a:rPr lang="en-US" sz="2300" dirty="0">
                <a:solidFill>
                  <a:srgbClr val="000000"/>
                </a:solidFill>
                <a:latin typeface="Canva Sans"/>
                <a:ea typeface="Canva Sans"/>
                <a:cs typeface="Canva Sans"/>
                <a:sym typeface="Canva Sans"/>
              </a:rPr>
              <a:t>A </a:t>
            </a:r>
            <a:r>
              <a:rPr lang="en-US" sz="2300" b="1" dirty="0">
                <a:solidFill>
                  <a:srgbClr val="000000"/>
                </a:solidFill>
                <a:latin typeface="Canva Sans"/>
                <a:ea typeface="Canva Sans"/>
                <a:cs typeface="Canva Sans"/>
                <a:sym typeface="Canva Sans"/>
              </a:rPr>
              <a:t>GAIA – </a:t>
            </a:r>
            <a:r>
              <a:rPr lang="en-US" sz="2300" b="1" dirty="0" err="1">
                <a:solidFill>
                  <a:srgbClr val="000000"/>
                </a:solidFill>
                <a:latin typeface="Canva Sans"/>
                <a:ea typeface="Canva Sans"/>
                <a:cs typeface="Canva Sans"/>
                <a:sym typeface="Canva Sans"/>
              </a:rPr>
              <a:t>Agentes</a:t>
            </a:r>
            <a:r>
              <a:rPr lang="en-US" sz="2300" b="1" dirty="0">
                <a:solidFill>
                  <a:srgbClr val="000000"/>
                </a:solidFill>
                <a:latin typeface="Canva Sans"/>
                <a:ea typeface="Canva Sans"/>
                <a:cs typeface="Canva Sans"/>
                <a:sym typeface="Canva Sans"/>
              </a:rPr>
              <a:t> EDA</a:t>
            </a:r>
            <a:r>
              <a:rPr lang="en-US" sz="2300" dirty="0">
                <a:solidFill>
                  <a:srgbClr val="000000"/>
                </a:solidFill>
                <a:latin typeface="Canva Sans"/>
                <a:ea typeface="Canva Sans"/>
                <a:cs typeface="Canva Sans"/>
                <a:sym typeface="Canva Sans"/>
              </a:rPr>
              <a:t> é </a:t>
            </a:r>
            <a:r>
              <a:rPr lang="en-US" sz="2300" dirty="0" err="1">
                <a:solidFill>
                  <a:srgbClr val="000000"/>
                </a:solidFill>
                <a:latin typeface="Canva Sans"/>
                <a:ea typeface="Canva Sans"/>
                <a:cs typeface="Canva Sans"/>
                <a:sym typeface="Canva Sans"/>
              </a:rPr>
              <a:t>uma</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solução</a:t>
            </a:r>
            <a:r>
              <a:rPr lang="en-US" sz="2300" dirty="0">
                <a:solidFill>
                  <a:srgbClr val="000000"/>
                </a:solidFill>
                <a:latin typeface="Canva Sans"/>
                <a:ea typeface="Canva Sans"/>
                <a:cs typeface="Canva Sans"/>
                <a:sym typeface="Canva Sans"/>
              </a:rPr>
              <a:t> de </a:t>
            </a:r>
            <a:r>
              <a:rPr lang="en-US" sz="2300" dirty="0" err="1">
                <a:solidFill>
                  <a:srgbClr val="000000"/>
                </a:solidFill>
                <a:latin typeface="Canva Sans"/>
                <a:ea typeface="Canva Sans"/>
                <a:cs typeface="Canva Sans"/>
                <a:sym typeface="Canva Sans"/>
              </a:rPr>
              <a:t>agentes</a:t>
            </a:r>
            <a:r>
              <a:rPr lang="en-US" sz="2300" dirty="0">
                <a:solidFill>
                  <a:srgbClr val="000000"/>
                </a:solidFill>
                <a:latin typeface="Canva Sans"/>
                <a:ea typeface="Canva Sans"/>
                <a:cs typeface="Canva Sans"/>
                <a:sym typeface="Canva Sans"/>
              </a:rPr>
              <a:t> de </a:t>
            </a:r>
            <a:r>
              <a:rPr lang="en-US" sz="2300" dirty="0" err="1">
                <a:solidFill>
                  <a:srgbClr val="000000"/>
                </a:solidFill>
                <a:latin typeface="Canva Sans"/>
                <a:ea typeface="Canva Sans"/>
                <a:cs typeface="Canva Sans"/>
                <a:sym typeface="Canva Sans"/>
              </a:rPr>
              <a:t>análise</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exploratória</a:t>
            </a:r>
            <a:r>
              <a:rPr lang="en-US" sz="2300" dirty="0">
                <a:solidFill>
                  <a:srgbClr val="000000"/>
                </a:solidFill>
                <a:latin typeface="Canva Sans"/>
                <a:ea typeface="Canva Sans"/>
                <a:cs typeface="Canva Sans"/>
                <a:sym typeface="Canva Sans"/>
              </a:rPr>
              <a:t> e </a:t>
            </a:r>
            <a:r>
              <a:rPr lang="en-US" sz="2300" dirty="0" err="1">
                <a:solidFill>
                  <a:srgbClr val="000000"/>
                </a:solidFill>
                <a:latin typeface="Canva Sans"/>
                <a:ea typeface="Canva Sans"/>
                <a:cs typeface="Canva Sans"/>
                <a:sym typeface="Canva Sans"/>
              </a:rPr>
              <a:t>preditiva</a:t>
            </a:r>
            <a:r>
              <a:rPr lang="en-US" sz="2300" dirty="0">
                <a:solidFill>
                  <a:srgbClr val="000000"/>
                </a:solidFill>
                <a:latin typeface="Canva Sans"/>
                <a:ea typeface="Canva Sans"/>
                <a:cs typeface="Canva Sans"/>
                <a:sym typeface="Canva Sans"/>
              </a:rPr>
              <a:t> para dados </a:t>
            </a:r>
            <a:r>
              <a:rPr lang="en-US" sz="2300" dirty="0" err="1">
                <a:solidFill>
                  <a:srgbClr val="000000"/>
                </a:solidFill>
                <a:latin typeface="Canva Sans"/>
                <a:ea typeface="Canva Sans"/>
                <a:cs typeface="Canva Sans"/>
                <a:sym typeface="Canva Sans"/>
              </a:rPr>
              <a:t>fiscais</a:t>
            </a:r>
            <a:r>
              <a:rPr lang="en-US" sz="2300" dirty="0">
                <a:solidFill>
                  <a:srgbClr val="000000"/>
                </a:solidFill>
                <a:latin typeface="Canva Sans"/>
                <a:ea typeface="Canva Sans"/>
                <a:cs typeface="Canva Sans"/>
                <a:sym typeface="Canva Sans"/>
              </a:rPr>
              <a:t> (NF-e), </a:t>
            </a:r>
            <a:r>
              <a:rPr lang="en-US" sz="2300" dirty="0" err="1">
                <a:solidFill>
                  <a:srgbClr val="000000"/>
                </a:solidFill>
                <a:latin typeface="Canva Sans"/>
                <a:ea typeface="Canva Sans"/>
                <a:cs typeface="Canva Sans"/>
                <a:sym typeface="Canva Sans"/>
              </a:rPr>
              <a:t>implementado</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sobre</a:t>
            </a:r>
            <a:r>
              <a:rPr lang="en-US" sz="2300" dirty="0">
                <a:solidFill>
                  <a:srgbClr val="000000"/>
                </a:solidFill>
                <a:latin typeface="Canva Sans"/>
                <a:ea typeface="Canva Sans"/>
                <a:cs typeface="Canva Sans"/>
                <a:sym typeface="Canva Sans"/>
              </a:rPr>
              <a:t> n8n v1.113.3 (Render), PostgreSQL e OpenAI.</a:t>
            </a:r>
          </a:p>
          <a:p>
            <a:pPr algn="just">
              <a:lnSpc>
                <a:spcPts val="3519"/>
              </a:lnSpc>
            </a:pPr>
            <a:endParaRPr lang="en-US" sz="2300" dirty="0">
              <a:solidFill>
                <a:srgbClr val="000000"/>
              </a:solidFill>
              <a:latin typeface="Canva Sans"/>
              <a:ea typeface="Canva Sans"/>
              <a:cs typeface="Canva Sans"/>
              <a:sym typeface="Canva Sans"/>
            </a:endParaRPr>
          </a:p>
          <a:p>
            <a:pPr algn="just">
              <a:lnSpc>
                <a:spcPts val="3519"/>
              </a:lnSpc>
            </a:pPr>
            <a:r>
              <a:rPr lang="en-US" sz="2300" dirty="0">
                <a:solidFill>
                  <a:srgbClr val="000000"/>
                </a:solidFill>
                <a:latin typeface="Canva Sans"/>
                <a:ea typeface="Canva Sans"/>
                <a:cs typeface="Canva Sans"/>
                <a:sym typeface="Canva Sans"/>
              </a:rPr>
              <a:t>Ele </a:t>
            </a:r>
            <a:r>
              <a:rPr lang="en-US" sz="2300" dirty="0" err="1">
                <a:solidFill>
                  <a:srgbClr val="000000"/>
                </a:solidFill>
                <a:latin typeface="Canva Sans"/>
                <a:ea typeface="Canva Sans"/>
                <a:cs typeface="Canva Sans"/>
                <a:sym typeface="Canva Sans"/>
              </a:rPr>
              <a:t>recebe</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perguntas</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em</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linguagem</a:t>
            </a:r>
            <a:r>
              <a:rPr lang="en-US" sz="2300" dirty="0">
                <a:solidFill>
                  <a:srgbClr val="000000"/>
                </a:solidFill>
                <a:latin typeface="Canva Sans"/>
                <a:ea typeface="Canva Sans"/>
                <a:cs typeface="Canva Sans"/>
                <a:sym typeface="Canva Sans"/>
              </a:rPr>
              <a:t> natural, </a:t>
            </a:r>
            <a:r>
              <a:rPr lang="en-US" sz="2300" dirty="0" err="1">
                <a:solidFill>
                  <a:srgbClr val="000000"/>
                </a:solidFill>
                <a:latin typeface="Canva Sans"/>
                <a:ea typeface="Canva Sans"/>
                <a:cs typeface="Canva Sans"/>
                <a:sym typeface="Canva Sans"/>
              </a:rPr>
              <a:t>traduz</a:t>
            </a:r>
            <a:r>
              <a:rPr lang="en-US" sz="2300" dirty="0">
                <a:solidFill>
                  <a:srgbClr val="000000"/>
                </a:solidFill>
                <a:latin typeface="Canva Sans"/>
                <a:ea typeface="Canva Sans"/>
                <a:cs typeface="Canva Sans"/>
                <a:sym typeface="Canva Sans"/>
              </a:rPr>
              <a:t> para um plano </a:t>
            </a:r>
            <a:r>
              <a:rPr lang="en-US" sz="2300" dirty="0" err="1">
                <a:solidFill>
                  <a:srgbClr val="000000"/>
                </a:solidFill>
                <a:latin typeface="Canva Sans"/>
                <a:ea typeface="Canva Sans"/>
                <a:cs typeface="Canva Sans"/>
                <a:sym typeface="Canva Sans"/>
              </a:rPr>
              <a:t>estruturado</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executa</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consultas</a:t>
            </a:r>
            <a:r>
              <a:rPr lang="en-US" sz="2300" dirty="0">
                <a:solidFill>
                  <a:srgbClr val="000000"/>
                </a:solidFill>
                <a:latin typeface="Canva Sans"/>
                <a:ea typeface="Canva Sans"/>
                <a:cs typeface="Canva Sans"/>
                <a:sym typeface="Canva Sans"/>
              </a:rPr>
              <a:t> SQL no BD </a:t>
            </a:r>
            <a:r>
              <a:rPr lang="en-US" sz="2300" dirty="0" err="1">
                <a:solidFill>
                  <a:srgbClr val="000000"/>
                </a:solidFill>
                <a:latin typeface="Canva Sans"/>
                <a:ea typeface="Canva Sans"/>
                <a:cs typeface="Canva Sans"/>
                <a:sym typeface="Canva Sans"/>
              </a:rPr>
              <a:t>relacional</a:t>
            </a:r>
            <a:r>
              <a:rPr lang="en-US" sz="2300" dirty="0">
                <a:solidFill>
                  <a:srgbClr val="000000"/>
                </a:solidFill>
                <a:latin typeface="Canva Sans"/>
                <a:ea typeface="Canva Sans"/>
                <a:cs typeface="Canva Sans"/>
                <a:sym typeface="Canva Sans"/>
              </a:rPr>
              <a:t> e devolve </a:t>
            </a:r>
            <a:r>
              <a:rPr lang="en-US" sz="2300" dirty="0" err="1">
                <a:solidFill>
                  <a:srgbClr val="000000"/>
                </a:solidFill>
                <a:latin typeface="Canva Sans"/>
                <a:ea typeface="Canva Sans"/>
                <a:cs typeface="Canva Sans"/>
                <a:sym typeface="Canva Sans"/>
              </a:rPr>
              <a:t>uma</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página</a:t>
            </a:r>
            <a:r>
              <a:rPr lang="en-US" sz="2300" dirty="0">
                <a:solidFill>
                  <a:srgbClr val="000000"/>
                </a:solidFill>
                <a:latin typeface="Canva Sans"/>
                <a:ea typeface="Canva Sans"/>
                <a:cs typeface="Canva Sans"/>
                <a:sym typeface="Canva Sans"/>
              </a:rPr>
              <a:t> HTML </a:t>
            </a:r>
            <a:r>
              <a:rPr lang="en-US" sz="2300" dirty="0" err="1">
                <a:solidFill>
                  <a:srgbClr val="000000"/>
                </a:solidFill>
                <a:latin typeface="Canva Sans"/>
                <a:ea typeface="Canva Sans"/>
                <a:cs typeface="Canva Sans"/>
                <a:sym typeface="Canva Sans"/>
              </a:rPr>
              <a:t>responsiva</a:t>
            </a:r>
            <a:r>
              <a:rPr lang="en-US" sz="2300" dirty="0">
                <a:solidFill>
                  <a:srgbClr val="000000"/>
                </a:solidFill>
                <a:latin typeface="Canva Sans"/>
                <a:ea typeface="Canva Sans"/>
                <a:cs typeface="Canva Sans"/>
                <a:sym typeface="Canva Sans"/>
              </a:rPr>
              <a:t> com KPIs, </a:t>
            </a:r>
            <a:r>
              <a:rPr lang="en-US" sz="2300" dirty="0" err="1">
                <a:solidFill>
                  <a:srgbClr val="000000"/>
                </a:solidFill>
                <a:latin typeface="Canva Sans"/>
                <a:ea typeface="Canva Sans"/>
                <a:cs typeface="Canva Sans"/>
                <a:sym typeface="Canva Sans"/>
              </a:rPr>
              <a:t>tabela</a:t>
            </a:r>
            <a:r>
              <a:rPr lang="en-US" sz="2300" dirty="0">
                <a:solidFill>
                  <a:srgbClr val="000000"/>
                </a:solidFill>
                <a:latin typeface="Canva Sans"/>
                <a:ea typeface="Canva Sans"/>
                <a:cs typeface="Canva Sans"/>
                <a:sym typeface="Canva Sans"/>
              </a:rPr>
              <a:t> e </a:t>
            </a:r>
            <a:r>
              <a:rPr lang="en-US" sz="2300" dirty="0" err="1">
                <a:solidFill>
                  <a:srgbClr val="000000"/>
                </a:solidFill>
                <a:latin typeface="Canva Sans"/>
                <a:ea typeface="Canva Sans"/>
                <a:cs typeface="Canva Sans"/>
                <a:sym typeface="Canva Sans"/>
              </a:rPr>
              <a:t>gráficos</a:t>
            </a:r>
            <a:r>
              <a:rPr lang="en-US" sz="2300" dirty="0">
                <a:solidFill>
                  <a:srgbClr val="000000"/>
                </a:solidFill>
                <a:latin typeface="Canva Sans"/>
                <a:ea typeface="Canva Sans"/>
                <a:cs typeface="Canva Sans"/>
                <a:sym typeface="Canva Sans"/>
              </a:rPr>
              <a:t> (Chart.js).</a:t>
            </a:r>
          </a:p>
          <a:p>
            <a:pPr algn="just">
              <a:lnSpc>
                <a:spcPts val="3519"/>
              </a:lnSpc>
            </a:pPr>
            <a:endParaRPr lang="en-US" sz="2300" dirty="0">
              <a:solidFill>
                <a:srgbClr val="000000"/>
              </a:solidFill>
              <a:latin typeface="Canva Sans"/>
              <a:ea typeface="Canva Sans"/>
              <a:cs typeface="Canva Sans"/>
              <a:sym typeface="Canva Sans"/>
            </a:endParaRPr>
          </a:p>
          <a:p>
            <a:pPr algn="just">
              <a:lnSpc>
                <a:spcPts val="3519"/>
              </a:lnSpc>
            </a:pPr>
            <a:r>
              <a:rPr lang="en-US" sz="2300" dirty="0" err="1">
                <a:solidFill>
                  <a:srgbClr val="000000"/>
                </a:solidFill>
                <a:latin typeface="Canva Sans"/>
                <a:ea typeface="Canva Sans"/>
                <a:cs typeface="Canva Sans"/>
                <a:sym typeface="Canva Sans"/>
              </a:rPr>
              <a:t>Há</a:t>
            </a:r>
            <a:r>
              <a:rPr lang="en-US" sz="2300" dirty="0">
                <a:solidFill>
                  <a:srgbClr val="000000"/>
                </a:solidFill>
                <a:latin typeface="Canva Sans"/>
                <a:ea typeface="Canva Sans"/>
                <a:cs typeface="Canva Sans"/>
                <a:sym typeface="Canva Sans"/>
              </a:rPr>
              <a:t> 2 </a:t>
            </a:r>
            <a:r>
              <a:rPr lang="en-US" sz="2300" dirty="0" err="1">
                <a:solidFill>
                  <a:srgbClr val="000000"/>
                </a:solidFill>
                <a:latin typeface="Canva Sans"/>
                <a:ea typeface="Canva Sans"/>
                <a:cs typeface="Canva Sans"/>
                <a:sym typeface="Canva Sans"/>
              </a:rPr>
              <a:t>fluxos</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complementares</a:t>
            </a:r>
            <a:r>
              <a:rPr lang="en-US" sz="2300" dirty="0">
                <a:solidFill>
                  <a:srgbClr val="000000"/>
                </a:solidFill>
                <a:latin typeface="Canva Sans"/>
                <a:ea typeface="Canva Sans"/>
                <a:cs typeface="Canva Sans"/>
                <a:sym typeface="Canva Sans"/>
              </a:rPr>
              <a:t>: </a:t>
            </a:r>
            <a:r>
              <a:rPr lang="en-US" sz="2300" dirty="0" err="1">
                <a:solidFill>
                  <a:srgbClr val="000000"/>
                </a:solidFill>
                <a:latin typeface="Canva Sans"/>
                <a:ea typeface="Canva Sans"/>
                <a:cs typeface="Canva Sans"/>
                <a:sym typeface="Canva Sans"/>
              </a:rPr>
              <a:t>Padrão</a:t>
            </a:r>
            <a:r>
              <a:rPr lang="en-US" sz="2300" dirty="0">
                <a:solidFill>
                  <a:srgbClr val="000000"/>
                </a:solidFill>
                <a:latin typeface="Canva Sans"/>
                <a:ea typeface="Canva Sans"/>
                <a:cs typeface="Canva Sans"/>
                <a:sym typeface="Canva Sans"/>
              </a:rPr>
              <a:t> (EDA) e </a:t>
            </a:r>
            <a:r>
              <a:rPr lang="en-US" sz="2300" dirty="0" err="1">
                <a:solidFill>
                  <a:srgbClr val="000000"/>
                </a:solidFill>
                <a:latin typeface="Canva Sans"/>
                <a:ea typeface="Canva Sans"/>
                <a:cs typeface="Canva Sans"/>
                <a:sym typeface="Canva Sans"/>
              </a:rPr>
              <a:t>Preditivo</a:t>
            </a:r>
            <a:r>
              <a:rPr lang="en-US" sz="2300" dirty="0">
                <a:solidFill>
                  <a:srgbClr val="000000"/>
                </a:solidFill>
                <a:latin typeface="Canva Sans"/>
                <a:ea typeface="Canva Sans"/>
                <a:cs typeface="Canva Sans"/>
                <a:sym typeface="Canva Sans"/>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8575"/>
            <a:ext cx="18854317" cy="13093958"/>
          </a:xfrm>
          <a:custGeom>
            <a:avLst/>
            <a:gdLst/>
            <a:ahLst/>
            <a:cxnLst/>
            <a:rect l="l" t="t" r="r" b="b"/>
            <a:pathLst>
              <a:path w="18854317" h="13093958">
                <a:moveTo>
                  <a:pt x="0" y="0"/>
                </a:moveTo>
                <a:lnTo>
                  <a:pt x="18854317" y="0"/>
                </a:lnTo>
                <a:lnTo>
                  <a:pt x="18854317" y="13093958"/>
                </a:lnTo>
                <a:lnTo>
                  <a:pt x="0" y="13093958"/>
                </a:lnTo>
                <a:lnTo>
                  <a:pt x="0" y="0"/>
                </a:lnTo>
                <a:close/>
              </a:path>
            </a:pathLst>
          </a:custGeom>
          <a:blipFill>
            <a:blip r:embed="rId3"/>
            <a:stretch>
              <a:fillRect t="-36752" r="-1141" b="-8884"/>
            </a:stretch>
          </a:blipFill>
        </p:spPr>
        <p:txBody>
          <a:bodyPr/>
          <a:lstStyle/>
          <a:p>
            <a:endParaRPr lang="pt-BR"/>
          </a:p>
        </p:txBody>
      </p:sp>
      <p:grpSp>
        <p:nvGrpSpPr>
          <p:cNvPr id="3" name="Group 3"/>
          <p:cNvGrpSpPr/>
          <p:nvPr/>
        </p:nvGrpSpPr>
        <p:grpSpPr>
          <a:xfrm>
            <a:off x="9144000" y="0"/>
            <a:ext cx="9706527" cy="10287000"/>
            <a:chOff x="0" y="0"/>
            <a:chExt cx="2556452" cy="2709333"/>
          </a:xfrm>
        </p:grpSpPr>
        <p:sp>
          <p:nvSpPr>
            <p:cNvPr id="4" name="Freeform 4"/>
            <p:cNvSpPr/>
            <p:nvPr/>
          </p:nvSpPr>
          <p:spPr>
            <a:xfrm>
              <a:off x="0" y="0"/>
              <a:ext cx="2556452" cy="2709333"/>
            </a:xfrm>
            <a:custGeom>
              <a:avLst/>
              <a:gdLst/>
              <a:ahLst/>
              <a:cxnLst/>
              <a:rect l="l" t="t" r="r" b="b"/>
              <a:pathLst>
                <a:path w="2556452" h="2709333">
                  <a:moveTo>
                    <a:pt x="23928" y="0"/>
                  </a:moveTo>
                  <a:lnTo>
                    <a:pt x="2532524" y="0"/>
                  </a:lnTo>
                  <a:cubicBezTo>
                    <a:pt x="2538870" y="0"/>
                    <a:pt x="2544956" y="2521"/>
                    <a:pt x="2549443" y="7008"/>
                  </a:cubicBezTo>
                  <a:cubicBezTo>
                    <a:pt x="2553931" y="11496"/>
                    <a:pt x="2556452" y="17582"/>
                    <a:pt x="2556452" y="23928"/>
                  </a:cubicBezTo>
                  <a:lnTo>
                    <a:pt x="2556452" y="2685405"/>
                  </a:lnTo>
                  <a:cubicBezTo>
                    <a:pt x="2556452" y="2691751"/>
                    <a:pt x="2553931" y="2697838"/>
                    <a:pt x="2549443" y="2702325"/>
                  </a:cubicBezTo>
                  <a:cubicBezTo>
                    <a:pt x="2544956" y="2706812"/>
                    <a:pt x="2538870" y="2709333"/>
                    <a:pt x="2532524" y="2709333"/>
                  </a:cubicBezTo>
                  <a:lnTo>
                    <a:pt x="23928" y="2709333"/>
                  </a:lnTo>
                  <a:cubicBezTo>
                    <a:pt x="10713" y="2709333"/>
                    <a:pt x="0" y="2698620"/>
                    <a:pt x="0" y="2685405"/>
                  </a:cubicBezTo>
                  <a:lnTo>
                    <a:pt x="0" y="23928"/>
                  </a:lnTo>
                  <a:cubicBezTo>
                    <a:pt x="0" y="17582"/>
                    <a:pt x="2521" y="11496"/>
                    <a:pt x="7008" y="7008"/>
                  </a:cubicBezTo>
                  <a:cubicBezTo>
                    <a:pt x="11496" y="2521"/>
                    <a:pt x="17582" y="0"/>
                    <a:pt x="23928" y="0"/>
                  </a:cubicBezTo>
                  <a:close/>
                </a:path>
              </a:pathLst>
            </a:custGeom>
            <a:solidFill>
              <a:srgbClr val="19D2B4"/>
            </a:solidFill>
          </p:spPr>
          <p:txBody>
            <a:bodyPr/>
            <a:lstStyle/>
            <a:p>
              <a:endParaRPr lang="pt-BR"/>
            </a:p>
          </p:txBody>
        </p:sp>
        <p:sp>
          <p:nvSpPr>
            <p:cNvPr id="5" name="TextBox 5"/>
            <p:cNvSpPr txBox="1"/>
            <p:nvPr/>
          </p:nvSpPr>
          <p:spPr>
            <a:xfrm>
              <a:off x="0" y="-38100"/>
              <a:ext cx="2556452" cy="2747433"/>
            </a:xfrm>
            <a:prstGeom prst="rect">
              <a:avLst/>
            </a:prstGeom>
          </p:spPr>
          <p:txBody>
            <a:bodyPr lIns="50800" tIns="50800" rIns="50800" bIns="50800" rtlCol="0" anchor="ctr"/>
            <a:lstStyle/>
            <a:p>
              <a:pPr algn="ctr">
                <a:lnSpc>
                  <a:spcPts val="3499"/>
                </a:lnSpc>
              </a:pPr>
              <a:endParaRPr/>
            </a:p>
          </p:txBody>
        </p:sp>
      </p:grpSp>
      <p:sp>
        <p:nvSpPr>
          <p:cNvPr id="6" name="Freeform 6"/>
          <p:cNvSpPr/>
          <p:nvPr/>
        </p:nvSpPr>
        <p:spPr>
          <a:xfrm>
            <a:off x="12700039" y="862472"/>
            <a:ext cx="5998548" cy="4498911"/>
          </a:xfrm>
          <a:custGeom>
            <a:avLst/>
            <a:gdLst/>
            <a:ahLst/>
            <a:cxnLst/>
            <a:rect l="l" t="t" r="r" b="b"/>
            <a:pathLst>
              <a:path w="5998548" h="4498911">
                <a:moveTo>
                  <a:pt x="0" y="0"/>
                </a:moveTo>
                <a:lnTo>
                  <a:pt x="5998548" y="0"/>
                </a:lnTo>
                <a:lnTo>
                  <a:pt x="5998548" y="4498912"/>
                </a:lnTo>
                <a:lnTo>
                  <a:pt x="0" y="4498912"/>
                </a:lnTo>
                <a:lnTo>
                  <a:pt x="0" y="0"/>
                </a:lnTo>
                <a:close/>
              </a:path>
            </a:pathLst>
          </a:custGeom>
          <a:blipFill>
            <a:blip r:embed="rId4"/>
            <a:stretch>
              <a:fillRect/>
            </a:stretch>
          </a:blipFill>
        </p:spPr>
        <p:txBody>
          <a:bodyPr/>
          <a:lstStyle/>
          <a:p>
            <a:endParaRPr lang="pt-BR"/>
          </a:p>
        </p:txBody>
      </p:sp>
      <p:sp>
        <p:nvSpPr>
          <p:cNvPr id="7" name="TextBox 7"/>
          <p:cNvSpPr txBox="1"/>
          <p:nvPr/>
        </p:nvSpPr>
        <p:spPr>
          <a:xfrm>
            <a:off x="1028700" y="2748744"/>
            <a:ext cx="7046575" cy="6868932"/>
          </a:xfrm>
          <a:prstGeom prst="rect">
            <a:avLst/>
          </a:prstGeom>
        </p:spPr>
        <p:txBody>
          <a:bodyPr lIns="0" tIns="0" rIns="0" bIns="0" rtlCol="0" anchor="t">
            <a:spAutoFit/>
          </a:bodyPr>
          <a:lstStyle/>
          <a:p>
            <a:pPr algn="just">
              <a:lnSpc>
                <a:spcPts val="3079"/>
              </a:lnSpc>
            </a:pPr>
            <a:r>
              <a:rPr lang="en-US" sz="2199" b="1" dirty="0" err="1">
                <a:solidFill>
                  <a:srgbClr val="000000"/>
                </a:solidFill>
                <a:latin typeface="Canva Sans Bold"/>
                <a:ea typeface="Canva Sans Bold"/>
                <a:cs typeface="Canva Sans Bold"/>
                <a:sym typeface="Canva Sans Bold"/>
              </a:rPr>
              <a:t>Cenário</a:t>
            </a:r>
            <a:r>
              <a:rPr lang="en-US" sz="2199" b="1" dirty="0">
                <a:solidFill>
                  <a:srgbClr val="000000"/>
                </a:solidFill>
                <a:latin typeface="Canva Sans Bold"/>
                <a:ea typeface="Canva Sans Bold"/>
                <a:cs typeface="Canva Sans Bold"/>
                <a:sym typeface="Canva Sans Bold"/>
              </a:rPr>
              <a:t>: </a:t>
            </a:r>
          </a:p>
          <a:p>
            <a:pPr algn="just">
              <a:lnSpc>
                <a:spcPts val="2239"/>
              </a:lnSpc>
            </a:pPr>
            <a:r>
              <a:rPr lang="en-US" sz="1599" dirty="0">
                <a:solidFill>
                  <a:srgbClr val="000000"/>
                </a:solidFill>
                <a:latin typeface="Canva Sans"/>
                <a:ea typeface="Canva Sans"/>
                <a:cs typeface="Canva Sans"/>
                <a:sym typeface="Canva Sans"/>
              </a:rPr>
              <a:t>Falta de </a:t>
            </a:r>
            <a:r>
              <a:rPr lang="en-US" sz="1599" dirty="0" err="1">
                <a:solidFill>
                  <a:srgbClr val="000000"/>
                </a:solidFill>
                <a:latin typeface="Canva Sans"/>
                <a:ea typeface="Canva Sans"/>
                <a:cs typeface="Canva Sans"/>
                <a:sym typeface="Canva Sans"/>
              </a:rPr>
              <a:t>informação</a:t>
            </a:r>
            <a:r>
              <a:rPr lang="en-US" sz="1599" dirty="0">
                <a:solidFill>
                  <a:srgbClr val="000000"/>
                </a:solidFill>
                <a:latin typeface="Canva Sans"/>
                <a:ea typeface="Canva Sans"/>
                <a:cs typeface="Canva Sans"/>
                <a:sym typeface="Canva Sans"/>
              </a:rPr>
              <a:t> e </a:t>
            </a:r>
            <a:r>
              <a:rPr lang="en-US" sz="1599" dirty="0" err="1">
                <a:solidFill>
                  <a:srgbClr val="000000"/>
                </a:solidFill>
                <a:latin typeface="Canva Sans"/>
                <a:ea typeface="Canva Sans"/>
                <a:cs typeface="Canva Sans"/>
                <a:sym typeface="Canva Sans"/>
              </a:rPr>
              <a:t>análises</a:t>
            </a:r>
            <a:r>
              <a:rPr lang="en-US" sz="1599" dirty="0">
                <a:solidFill>
                  <a:srgbClr val="000000"/>
                </a:solidFill>
                <a:latin typeface="Canva Sans"/>
                <a:ea typeface="Canva Sans"/>
                <a:cs typeface="Canva Sans"/>
                <a:sym typeface="Canva Sans"/>
              </a:rPr>
              <a:t> para </a:t>
            </a:r>
            <a:r>
              <a:rPr lang="en-US" sz="1599" dirty="0" err="1">
                <a:solidFill>
                  <a:srgbClr val="000000"/>
                </a:solidFill>
                <a:latin typeface="Canva Sans"/>
                <a:ea typeface="Canva Sans"/>
                <a:cs typeface="Canva Sans"/>
                <a:sym typeface="Canva Sans"/>
              </a:rPr>
              <a:t>tomada</a:t>
            </a:r>
            <a:r>
              <a:rPr lang="en-US" sz="1599" dirty="0">
                <a:solidFill>
                  <a:srgbClr val="000000"/>
                </a:solidFill>
                <a:latin typeface="Canva Sans"/>
                <a:ea typeface="Canva Sans"/>
                <a:cs typeface="Canva Sans"/>
                <a:sym typeface="Canva Sans"/>
              </a:rPr>
              <a:t> de </a:t>
            </a:r>
            <a:r>
              <a:rPr lang="en-US" sz="1599" dirty="0" err="1">
                <a:solidFill>
                  <a:srgbClr val="000000"/>
                </a:solidFill>
                <a:latin typeface="Canva Sans"/>
                <a:ea typeface="Canva Sans"/>
                <a:cs typeface="Canva Sans"/>
                <a:sym typeface="Canva Sans"/>
              </a:rPr>
              <a:t>decisão</a:t>
            </a:r>
            <a:r>
              <a:rPr lang="en-US" sz="1599" dirty="0">
                <a:solidFill>
                  <a:srgbClr val="000000"/>
                </a:solidFill>
                <a:latin typeface="Canva Sans"/>
                <a:ea typeface="Canva Sans"/>
                <a:cs typeface="Canva Sans"/>
                <a:sym typeface="Canva Sans"/>
              </a:rPr>
              <a:t>. </a:t>
            </a:r>
          </a:p>
          <a:p>
            <a:pPr algn="just">
              <a:lnSpc>
                <a:spcPts val="2239"/>
              </a:lnSpc>
            </a:pPr>
            <a:endParaRPr lang="en-US" sz="1599" dirty="0">
              <a:solidFill>
                <a:srgbClr val="000000"/>
              </a:solidFill>
              <a:latin typeface="Canva Sans"/>
              <a:ea typeface="Canva Sans"/>
              <a:cs typeface="Canva Sans"/>
              <a:sym typeface="Canva Sans"/>
            </a:endParaRPr>
          </a:p>
          <a:p>
            <a:pPr algn="just">
              <a:lnSpc>
                <a:spcPts val="2239"/>
              </a:lnSpc>
            </a:pPr>
            <a:r>
              <a:rPr lang="en-US" sz="1599" b="1" dirty="0">
                <a:solidFill>
                  <a:srgbClr val="000000"/>
                </a:solidFill>
                <a:latin typeface="Canva Sans Bold"/>
                <a:ea typeface="Canva Sans Bold"/>
                <a:cs typeface="Canva Sans Bold"/>
                <a:sym typeface="Canva Sans Bold"/>
              </a:rPr>
              <a:t>As Dores </a:t>
            </a:r>
            <a:r>
              <a:rPr lang="en-US" sz="1599" b="1" dirty="0" err="1">
                <a:solidFill>
                  <a:srgbClr val="000000"/>
                </a:solidFill>
                <a:latin typeface="Canva Sans Bold"/>
                <a:ea typeface="Canva Sans Bold"/>
                <a:cs typeface="Canva Sans Bold"/>
                <a:sym typeface="Canva Sans Bold"/>
              </a:rPr>
              <a:t>Atuais</a:t>
            </a:r>
            <a:r>
              <a:rPr lang="en-US" sz="1599" b="1" dirty="0">
                <a:solidFill>
                  <a:srgbClr val="000000"/>
                </a:solidFill>
                <a:latin typeface="Canva Sans Bold"/>
                <a:ea typeface="Canva Sans Bold"/>
                <a:cs typeface="Canva Sans Bold"/>
                <a:sym typeface="Canva Sans Bold"/>
              </a:rPr>
              <a:t>:</a:t>
            </a:r>
          </a:p>
          <a:p>
            <a:pPr algn="just">
              <a:lnSpc>
                <a:spcPts val="2239"/>
              </a:lnSpc>
            </a:pPr>
            <a:endParaRPr lang="en-US" sz="1599" b="1" dirty="0">
              <a:solidFill>
                <a:srgbClr val="000000"/>
              </a:solidFill>
              <a:latin typeface="Canva Sans Bold"/>
              <a:ea typeface="Canva Sans Bold"/>
              <a:cs typeface="Canva Sans Bold"/>
              <a:sym typeface="Canva Sans Bold"/>
            </a:endParaRPr>
          </a:p>
          <a:p>
            <a:pPr marL="345439" lvl="1" indent="-172720" algn="just">
              <a:lnSpc>
                <a:spcPts val="2239"/>
              </a:lnSpc>
              <a:buFont typeface="Arial"/>
              <a:buChar char="•"/>
            </a:pPr>
            <a:r>
              <a:rPr lang="en-US" sz="1599" b="1" dirty="0">
                <a:solidFill>
                  <a:srgbClr val="000000"/>
                </a:solidFill>
                <a:latin typeface="Canva Sans Bold"/>
                <a:ea typeface="Canva Sans Bold"/>
                <a:cs typeface="Canva Sans Bold"/>
                <a:sym typeface="Canva Sans Bold"/>
              </a:rPr>
              <a:t>Falta de </a:t>
            </a:r>
            <a:r>
              <a:rPr lang="en-US" sz="1599" b="1" dirty="0" err="1">
                <a:solidFill>
                  <a:srgbClr val="000000"/>
                </a:solidFill>
                <a:latin typeface="Canva Sans Bold"/>
                <a:ea typeface="Canva Sans Bold"/>
                <a:cs typeface="Canva Sans Bold"/>
                <a:sym typeface="Canva Sans Bold"/>
              </a:rPr>
              <a:t>Visão</a:t>
            </a:r>
            <a:r>
              <a:rPr lang="en-US" sz="1599" b="1" dirty="0">
                <a:solidFill>
                  <a:srgbClr val="000000"/>
                </a:solidFill>
                <a:latin typeface="Canva Sans Bold"/>
                <a:ea typeface="Canva Sans Bold"/>
                <a:cs typeface="Canva Sans Bold"/>
                <a:sym typeface="Canva Sans Bold"/>
              </a:rPr>
              <a:t> </a:t>
            </a:r>
            <a:r>
              <a:rPr lang="en-US" sz="1599" b="1" dirty="0" err="1">
                <a:solidFill>
                  <a:srgbClr val="000000"/>
                </a:solidFill>
                <a:latin typeface="Canva Sans Bold"/>
                <a:ea typeface="Canva Sans Bold"/>
                <a:cs typeface="Canva Sans Bold"/>
                <a:sym typeface="Canva Sans Bold"/>
              </a:rPr>
              <a:t>Estratégica</a:t>
            </a:r>
            <a:r>
              <a:rPr lang="en-US" sz="1599" b="1" dirty="0">
                <a:solidFill>
                  <a:srgbClr val="000000"/>
                </a:solidFill>
                <a:latin typeface="Canva Sans Bold"/>
                <a:ea typeface="Canva Sans Bold"/>
                <a:cs typeface="Canva Sans Bold"/>
                <a:sym typeface="Canva Sans Bold"/>
              </a:rPr>
              <a:t>:</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Dificuldade</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em</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identificar</a:t>
            </a:r>
            <a:r>
              <a:rPr lang="en-US" sz="1599" dirty="0">
                <a:solidFill>
                  <a:srgbClr val="000000"/>
                </a:solidFill>
                <a:latin typeface="Canva Sans"/>
                <a:ea typeface="Canva Sans"/>
                <a:cs typeface="Canva Sans"/>
                <a:sym typeface="Canva Sans"/>
              </a:rPr>
              <a:t> quais </a:t>
            </a:r>
            <a:r>
              <a:rPr lang="en-US" sz="1599" dirty="0" err="1">
                <a:solidFill>
                  <a:srgbClr val="000000"/>
                </a:solidFill>
                <a:latin typeface="Canva Sans"/>
                <a:ea typeface="Canva Sans"/>
                <a:cs typeface="Canva Sans"/>
                <a:sym typeface="Canva Sans"/>
              </a:rPr>
              <a:t>produtos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são</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mais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vendidos</a:t>
            </a:r>
            <a:r>
              <a:rPr lang="en-US" sz="1599" dirty="0">
                <a:solidFill>
                  <a:srgbClr val="000000"/>
                </a:solidFill>
                <a:latin typeface="Canva Sans"/>
                <a:ea typeface="Canva Sans"/>
                <a:cs typeface="Canva Sans"/>
                <a:sym typeface="Canva Sans"/>
              </a:rPr>
              <a:t>, quais </a:t>
            </a:r>
            <a:r>
              <a:rPr lang="en-US" sz="1599" dirty="0" err="1">
                <a:solidFill>
                  <a:srgbClr val="000000"/>
                </a:solidFill>
                <a:latin typeface="Canva Sans"/>
                <a:ea typeface="Canva Sans"/>
                <a:cs typeface="Canva Sans"/>
                <a:sym typeface="Canva Sans"/>
              </a:rPr>
              <a:t>clientes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geram</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mais</a:t>
            </a:r>
            <a:r>
              <a:rPr lang="en-US" sz="1599" dirty="0">
                <a:solidFill>
                  <a:srgbClr val="000000"/>
                </a:solidFill>
                <a:latin typeface="Canva Sans"/>
                <a:ea typeface="Canva Sans"/>
                <a:cs typeface="Canva Sans"/>
                <a:sym typeface="Canva Sans"/>
              </a:rPr>
              <a:t> valor, quais </a:t>
            </a:r>
            <a:r>
              <a:rPr lang="en-US" sz="1599" dirty="0" err="1">
                <a:solidFill>
                  <a:srgbClr val="000000"/>
                </a:solidFill>
                <a:latin typeface="Canva Sans"/>
                <a:ea typeface="Canva Sans"/>
                <a:cs typeface="Canva Sans"/>
                <a:sym typeface="Canva Sans"/>
              </a:rPr>
              <a:t>regiões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performam</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melhor</a:t>
            </a:r>
            <a:r>
              <a:rPr lang="en-US" sz="1599" dirty="0">
                <a:solidFill>
                  <a:srgbClr val="000000"/>
                </a:solidFill>
                <a:latin typeface="Canva Sans"/>
                <a:ea typeface="Canva Sans"/>
                <a:cs typeface="Canva Sans"/>
                <a:sym typeface="Canva Sans"/>
              </a:rPr>
              <a:t>, entre outros.</a:t>
            </a:r>
          </a:p>
          <a:p>
            <a:pPr algn="just">
              <a:lnSpc>
                <a:spcPts val="2239"/>
              </a:lnSpc>
            </a:pPr>
            <a:endParaRPr lang="en-US" sz="1599" dirty="0">
              <a:solidFill>
                <a:srgbClr val="000000"/>
              </a:solidFill>
              <a:latin typeface="Canva Sans"/>
              <a:ea typeface="Canva Sans"/>
              <a:cs typeface="Canva Sans"/>
              <a:sym typeface="Canva Sans"/>
            </a:endParaRPr>
          </a:p>
          <a:p>
            <a:pPr marL="345439" lvl="1" indent="-172720" algn="just">
              <a:lnSpc>
                <a:spcPts val="2239"/>
              </a:lnSpc>
              <a:buFont typeface="Arial"/>
              <a:buChar char="•"/>
            </a:pPr>
            <a:r>
              <a:rPr lang="en-US" sz="1599" b="1" dirty="0" err="1">
                <a:solidFill>
                  <a:srgbClr val="000000"/>
                </a:solidFill>
                <a:latin typeface="Canva Sans Bold"/>
                <a:ea typeface="Canva Sans Bold"/>
                <a:cs typeface="Canva Sans Bold"/>
                <a:sym typeface="Canva Sans Bold"/>
              </a:rPr>
              <a:t>Decisões</a:t>
            </a:r>
            <a:r>
              <a:rPr lang="en-US" sz="1599" b="1" dirty="0">
                <a:solidFill>
                  <a:srgbClr val="000000"/>
                </a:solidFill>
                <a:latin typeface="Canva Sans Bold"/>
                <a:ea typeface="Canva Sans Bold"/>
                <a:cs typeface="Canva Sans Bold"/>
                <a:sym typeface="Canva Sans Bold"/>
              </a:rPr>
              <a:t> </a:t>
            </a:r>
            <a:r>
              <a:rPr lang="en-US" sz="1599" b="1" dirty="0" err="1">
                <a:solidFill>
                  <a:srgbClr val="000000"/>
                </a:solidFill>
                <a:latin typeface="Canva Sans Bold"/>
                <a:ea typeface="Canva Sans Bold"/>
                <a:cs typeface="Canva Sans Bold"/>
                <a:sym typeface="Canva Sans Bold"/>
              </a:rPr>
              <a:t>Lentas</a:t>
            </a:r>
            <a:r>
              <a:rPr lang="en-US" sz="1599" b="1" dirty="0">
                <a:solidFill>
                  <a:srgbClr val="000000"/>
                </a:solidFill>
                <a:latin typeface="Canva Sans Bold"/>
                <a:ea typeface="Canva Sans Bold"/>
                <a:cs typeface="Canva Sans Bold"/>
                <a:sym typeface="Canva Sans Bold"/>
              </a:rPr>
              <a:t> e </a:t>
            </a:r>
            <a:r>
              <a:rPr lang="en-US" sz="1599" b="1" dirty="0" err="1">
                <a:solidFill>
                  <a:srgbClr val="000000"/>
                </a:solidFill>
                <a:latin typeface="Canva Sans Bold"/>
                <a:ea typeface="Canva Sans Bold"/>
                <a:cs typeface="Canva Sans Bold"/>
                <a:sym typeface="Canva Sans Bold"/>
              </a:rPr>
              <a:t>Subjetivas</a:t>
            </a:r>
            <a:r>
              <a:rPr lang="en-US" sz="1599" b="1" dirty="0">
                <a:solidFill>
                  <a:srgbClr val="000000"/>
                </a:solidFill>
                <a:latin typeface="Canva Sans Bold"/>
                <a:ea typeface="Canva Sans Bold"/>
                <a:cs typeface="Canva Sans Bold"/>
                <a:sym typeface="Canva Sans Bold"/>
              </a:rPr>
              <a:t>: </a:t>
            </a:r>
            <a:r>
              <a:rPr lang="en-US" sz="1599" dirty="0">
                <a:solidFill>
                  <a:srgbClr val="000000"/>
                </a:solidFill>
                <a:latin typeface="Canva Sans"/>
                <a:ea typeface="Canva Sans"/>
                <a:cs typeface="Canva Sans"/>
                <a:sym typeface="Canva Sans"/>
              </a:rPr>
              <a:t>A </a:t>
            </a:r>
            <a:r>
              <a:rPr lang="en-US" sz="1599" dirty="0" err="1">
                <a:solidFill>
                  <a:srgbClr val="000000"/>
                </a:solidFill>
                <a:latin typeface="Canva Sans"/>
                <a:ea typeface="Canva Sans"/>
                <a:cs typeface="Canva Sans"/>
                <a:sym typeface="Canva Sans"/>
              </a:rPr>
              <a:t>ausência</a:t>
            </a:r>
            <a:r>
              <a:rPr lang="en-US" sz="1599" dirty="0">
                <a:solidFill>
                  <a:srgbClr val="000000"/>
                </a:solidFill>
                <a:latin typeface="Canva Sans"/>
                <a:ea typeface="Canva Sans"/>
                <a:cs typeface="Canva Sans"/>
                <a:sym typeface="Canva Sans"/>
              </a:rPr>
              <a:t> de </a:t>
            </a:r>
            <a:r>
              <a:rPr lang="en-US" sz="1599" dirty="0" err="1">
                <a:solidFill>
                  <a:srgbClr val="000000"/>
                </a:solidFill>
                <a:latin typeface="Canva Sans"/>
                <a:ea typeface="Canva Sans"/>
                <a:cs typeface="Canva Sans"/>
                <a:sym typeface="Canva Sans"/>
              </a:rPr>
              <a:t>análises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precisas</a:t>
            </a:r>
            <a:r>
              <a:rPr lang="en-US" sz="1599" dirty="0">
                <a:solidFill>
                  <a:srgbClr val="000000"/>
                </a:solidFill>
                <a:latin typeface="Canva Sans"/>
                <a:ea typeface="Canva Sans"/>
                <a:cs typeface="Canva Sans"/>
                <a:sym typeface="Canva Sans"/>
              </a:rPr>
              <a:t> leva à </a:t>
            </a:r>
            <a:r>
              <a:rPr lang="en-US" sz="1599" dirty="0" err="1">
                <a:solidFill>
                  <a:srgbClr val="000000"/>
                </a:solidFill>
                <a:latin typeface="Canva Sans"/>
                <a:ea typeface="Canva Sans"/>
                <a:cs typeface="Canva Sans"/>
                <a:sym typeface="Canva Sans"/>
              </a:rPr>
              <a:t>decisões</a:t>
            </a:r>
            <a:r>
              <a:rPr lang="en-US" sz="1599" dirty="0">
                <a:solidFill>
                  <a:srgbClr val="000000"/>
                </a:solidFill>
                <a:latin typeface="Canva Sans"/>
                <a:ea typeface="Canva Sans"/>
                <a:cs typeface="Canva Sans"/>
                <a:sym typeface="Canva Sans"/>
              </a:rPr>
              <a:t> de </a:t>
            </a:r>
            <a:r>
              <a:rPr lang="en-US" sz="1599" dirty="0" err="1">
                <a:solidFill>
                  <a:srgbClr val="000000"/>
                </a:solidFill>
                <a:latin typeface="Canva Sans"/>
                <a:ea typeface="Canva Sans"/>
                <a:cs typeface="Canva Sans"/>
                <a:sym typeface="Canva Sans"/>
              </a:rPr>
              <a:t>precificação</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promoções</a:t>
            </a:r>
            <a:r>
              <a:rPr lang="en-US" sz="1599" dirty="0">
                <a:solidFill>
                  <a:srgbClr val="000000"/>
                </a:solidFill>
                <a:latin typeface="Canva Sans"/>
                <a:ea typeface="Canva Sans"/>
                <a:cs typeface="Canva Sans"/>
                <a:sym typeface="Canva Sans"/>
              </a:rPr>
              <a:t> e mix de </a:t>
            </a:r>
            <a:r>
              <a:rPr lang="en-US" sz="1599" dirty="0" err="1">
                <a:solidFill>
                  <a:srgbClr val="000000"/>
                </a:solidFill>
                <a:latin typeface="Canva Sans"/>
                <a:ea typeface="Canva Sans"/>
                <a:cs typeface="Canva Sans"/>
                <a:sym typeface="Canva Sans"/>
              </a:rPr>
              <a:t>produtos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baseadas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em</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intuição</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resultando</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em</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oportunidades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perdidas</a:t>
            </a:r>
            <a:r>
              <a:rPr lang="en-US" sz="1599" dirty="0">
                <a:solidFill>
                  <a:srgbClr val="000000"/>
                </a:solidFill>
                <a:latin typeface="Canva Sans"/>
                <a:ea typeface="Canva Sans"/>
                <a:cs typeface="Canva Sans"/>
                <a:sym typeface="Canva Sans"/>
              </a:rPr>
              <a:t> e </a:t>
            </a:r>
            <a:r>
              <a:rPr lang="en-US" sz="1599" dirty="0" err="1">
                <a:solidFill>
                  <a:srgbClr val="000000"/>
                </a:solidFill>
                <a:latin typeface="Canva Sans"/>
                <a:ea typeface="Canva Sans"/>
                <a:cs typeface="Canva Sans"/>
                <a:sym typeface="Canva Sans"/>
              </a:rPr>
              <a:t>prejuízos</a:t>
            </a:r>
            <a:r>
              <a:rPr lang="en-US" sz="1599" dirty="0">
                <a:solidFill>
                  <a:srgbClr val="000000"/>
                </a:solidFill>
                <a:latin typeface="Canva Sans"/>
                <a:ea typeface="Canva Sans"/>
                <a:cs typeface="Canva Sans"/>
                <a:sym typeface="Canva Sans"/>
              </a:rPr>
              <a:t>.</a:t>
            </a:r>
          </a:p>
          <a:p>
            <a:pPr algn="just">
              <a:lnSpc>
                <a:spcPts val="2239"/>
              </a:lnSpc>
            </a:pPr>
            <a:endParaRPr lang="en-US" sz="1599" dirty="0">
              <a:solidFill>
                <a:srgbClr val="000000"/>
              </a:solidFill>
              <a:latin typeface="Canva Sans"/>
              <a:ea typeface="Canva Sans"/>
              <a:cs typeface="Canva Sans"/>
              <a:sym typeface="Canva Sans"/>
            </a:endParaRPr>
          </a:p>
          <a:p>
            <a:pPr marL="345439" lvl="1" indent="-172720" algn="just">
              <a:lnSpc>
                <a:spcPts val="2239"/>
              </a:lnSpc>
              <a:buFont typeface="Arial"/>
              <a:buChar char="•"/>
            </a:pPr>
            <a:r>
              <a:rPr lang="en-US" sz="1599" b="1" dirty="0" err="1">
                <a:solidFill>
                  <a:srgbClr val="000000"/>
                </a:solidFill>
                <a:latin typeface="Canva Sans Bold"/>
                <a:ea typeface="Canva Sans Bold"/>
                <a:cs typeface="Canva Sans Bold"/>
                <a:sym typeface="Canva Sans Bold"/>
              </a:rPr>
              <a:t>Incapacidade</a:t>
            </a:r>
            <a:r>
              <a:rPr lang="en-US" sz="1599" b="1" dirty="0">
                <a:solidFill>
                  <a:srgbClr val="000000"/>
                </a:solidFill>
                <a:latin typeface="Canva Sans Bold"/>
                <a:ea typeface="Canva Sans Bold"/>
                <a:cs typeface="Canva Sans Bold"/>
                <a:sym typeface="Canva Sans Bold"/>
              </a:rPr>
              <a:t> de </a:t>
            </a:r>
            <a:r>
              <a:rPr lang="en-US" sz="1599" b="1" dirty="0" err="1">
                <a:solidFill>
                  <a:srgbClr val="000000"/>
                </a:solidFill>
                <a:latin typeface="Canva Sans Bold"/>
                <a:ea typeface="Canva Sans Bold"/>
                <a:cs typeface="Canva Sans Bold"/>
                <a:sym typeface="Canva Sans Bold"/>
              </a:rPr>
              <a:t>Previsão</a:t>
            </a:r>
            <a:r>
              <a:rPr lang="en-US" sz="1599" b="1" dirty="0">
                <a:solidFill>
                  <a:srgbClr val="000000"/>
                </a:solidFill>
                <a:latin typeface="Canva Sans Bold"/>
                <a:ea typeface="Canva Sans Bold"/>
                <a:cs typeface="Canva Sans Bold"/>
                <a:sym typeface="Canva Sans Bold"/>
              </a:rPr>
              <a:t>:</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Não</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há</a:t>
            </a:r>
            <a:r>
              <a:rPr lang="en-US" sz="1599" dirty="0">
                <a:solidFill>
                  <a:srgbClr val="000000"/>
                </a:solidFill>
                <a:latin typeface="Canva Sans"/>
                <a:ea typeface="Canva Sans"/>
                <a:cs typeface="Canva Sans"/>
                <a:sym typeface="Canva Sans"/>
              </a:rPr>
              <a:t> ferramentas para </a:t>
            </a:r>
            <a:r>
              <a:rPr lang="en-US" sz="1599" dirty="0" err="1">
                <a:solidFill>
                  <a:srgbClr val="000000"/>
                </a:solidFill>
                <a:latin typeface="Canva Sans"/>
                <a:ea typeface="Canva Sans"/>
                <a:cs typeface="Canva Sans"/>
                <a:sym typeface="Canva Sans"/>
              </a:rPr>
              <a:t>prever</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tendências</a:t>
            </a:r>
            <a:r>
              <a:rPr lang="en-US" sz="1599" dirty="0">
                <a:solidFill>
                  <a:srgbClr val="000000"/>
                </a:solidFill>
                <a:latin typeface="Canva Sans"/>
                <a:ea typeface="Canva Sans"/>
                <a:cs typeface="Canva Sans"/>
                <a:sym typeface="Canva Sans"/>
              </a:rPr>
              <a:t> de </a:t>
            </a:r>
            <a:r>
              <a:rPr lang="en-US" sz="1599" dirty="0" err="1">
                <a:solidFill>
                  <a:srgbClr val="000000"/>
                </a:solidFill>
                <a:latin typeface="Canva Sans"/>
                <a:ea typeface="Canva Sans"/>
                <a:cs typeface="Canva Sans"/>
                <a:sym typeface="Canva Sans"/>
              </a:rPr>
              <a:t>vendas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futuras</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dificultando</a:t>
            </a:r>
            <a:r>
              <a:rPr lang="en-US" sz="1599" dirty="0">
                <a:solidFill>
                  <a:srgbClr val="000000"/>
                </a:solidFill>
                <a:latin typeface="Canva Sans"/>
                <a:ea typeface="Canva Sans"/>
                <a:cs typeface="Canva Sans"/>
                <a:sym typeface="Canva Sans"/>
              </a:rPr>
              <a:t> o </a:t>
            </a:r>
            <a:r>
              <a:rPr lang="en-US" sz="1599" dirty="0" err="1">
                <a:solidFill>
                  <a:srgbClr val="000000"/>
                </a:solidFill>
                <a:latin typeface="Canva Sans"/>
                <a:ea typeface="Canva Sans"/>
                <a:cs typeface="Canva Sans"/>
                <a:sym typeface="Canva Sans"/>
              </a:rPr>
              <a:t>planejamento</a:t>
            </a:r>
            <a:r>
              <a:rPr lang="en-US" sz="1599" dirty="0">
                <a:solidFill>
                  <a:srgbClr val="000000"/>
                </a:solidFill>
                <a:latin typeface="Canva Sans"/>
                <a:ea typeface="Canva Sans"/>
                <a:cs typeface="Canva Sans"/>
                <a:sym typeface="Canva Sans"/>
              </a:rPr>
              <a:t> de </a:t>
            </a:r>
            <a:r>
              <a:rPr lang="en-US" sz="1599" dirty="0" err="1">
                <a:solidFill>
                  <a:srgbClr val="000000"/>
                </a:solidFill>
                <a:latin typeface="Canva Sans"/>
                <a:ea typeface="Canva Sans"/>
                <a:cs typeface="Canva Sans"/>
                <a:sym typeface="Canva Sans"/>
              </a:rPr>
              <a:t>compras</a:t>
            </a:r>
            <a:r>
              <a:rPr lang="en-US" sz="1599" dirty="0">
                <a:solidFill>
                  <a:srgbClr val="000000"/>
                </a:solidFill>
                <a:latin typeface="Canva Sans"/>
                <a:ea typeface="Canva Sans"/>
                <a:cs typeface="Canva Sans"/>
                <a:sym typeface="Canva Sans"/>
              </a:rPr>
              <a:t>, estoque e </a:t>
            </a:r>
            <a:r>
              <a:rPr lang="en-US" sz="1599" dirty="0" err="1">
                <a:solidFill>
                  <a:srgbClr val="000000"/>
                </a:solidFill>
                <a:latin typeface="Canva Sans"/>
                <a:ea typeface="Canva Sans"/>
                <a:cs typeface="Canva Sans"/>
                <a:sym typeface="Canva Sans"/>
              </a:rPr>
              <a:t>campanhas</a:t>
            </a:r>
            <a:r>
              <a:rPr lang="en-US" sz="1599" dirty="0">
                <a:solidFill>
                  <a:srgbClr val="000000"/>
                </a:solidFill>
                <a:latin typeface="Canva Sans"/>
                <a:ea typeface="Canva Sans"/>
                <a:cs typeface="Canva Sans"/>
                <a:sym typeface="Canva Sans"/>
              </a:rPr>
              <a:t> de marketing.</a:t>
            </a:r>
          </a:p>
          <a:p>
            <a:pPr algn="just">
              <a:lnSpc>
                <a:spcPts val="2239"/>
              </a:lnSpc>
            </a:pPr>
            <a:endParaRPr lang="en-US" sz="1599" dirty="0">
              <a:solidFill>
                <a:srgbClr val="000000"/>
              </a:solidFill>
              <a:latin typeface="Canva Sans"/>
              <a:ea typeface="Canva Sans"/>
              <a:cs typeface="Canva Sans"/>
              <a:sym typeface="Canva Sans"/>
            </a:endParaRPr>
          </a:p>
          <a:p>
            <a:pPr marL="345439" lvl="1" indent="-172720" algn="just">
              <a:lnSpc>
                <a:spcPts val="2239"/>
              </a:lnSpc>
              <a:buFont typeface="Arial"/>
              <a:buChar char="•"/>
            </a:pPr>
            <a:r>
              <a:rPr lang="en-US" sz="1599" b="1" dirty="0" err="1">
                <a:solidFill>
                  <a:srgbClr val="000000"/>
                </a:solidFill>
                <a:latin typeface="Canva Sans Bold"/>
                <a:ea typeface="Canva Sans Bold"/>
                <a:cs typeface="Canva Sans Bold"/>
                <a:sym typeface="Canva Sans Bold"/>
              </a:rPr>
              <a:t>Processos</a:t>
            </a:r>
            <a:r>
              <a:rPr lang="en-US" sz="1599" b="1" dirty="0">
                <a:solidFill>
                  <a:srgbClr val="000000"/>
                </a:solidFill>
                <a:latin typeface="Canva Sans Bold"/>
                <a:ea typeface="Canva Sans Bold"/>
                <a:cs typeface="Canva Sans Bold"/>
                <a:sym typeface="Canva Sans Bold"/>
              </a:rPr>
              <a:t> </a:t>
            </a:r>
            <a:r>
              <a:rPr lang="en-US" sz="1599" b="1" dirty="0" err="1">
                <a:solidFill>
                  <a:srgbClr val="000000"/>
                </a:solidFill>
                <a:latin typeface="Canva Sans Bold"/>
                <a:ea typeface="Canva Sans Bold"/>
                <a:cs typeface="Canva Sans Bold"/>
                <a:sym typeface="Canva Sans Bold"/>
              </a:rPr>
              <a:t>Manuais</a:t>
            </a:r>
            <a:r>
              <a:rPr lang="en-US" sz="1599" b="1" dirty="0">
                <a:solidFill>
                  <a:srgbClr val="000000"/>
                </a:solidFill>
                <a:latin typeface="Canva Sans Bold"/>
                <a:ea typeface="Canva Sans Bold"/>
                <a:cs typeface="Canva Sans Bold"/>
                <a:sym typeface="Canva Sans Bold"/>
              </a:rPr>
              <a:t> e </a:t>
            </a:r>
            <a:r>
              <a:rPr lang="en-US" sz="1599" b="1" dirty="0" err="1">
                <a:solidFill>
                  <a:srgbClr val="000000"/>
                </a:solidFill>
                <a:latin typeface="Canva Sans Bold"/>
                <a:ea typeface="Canva Sans Bold"/>
                <a:cs typeface="Canva Sans Bold"/>
                <a:sym typeface="Canva Sans Bold"/>
              </a:rPr>
              <a:t>Morosos</a:t>
            </a:r>
            <a:r>
              <a:rPr lang="en-US" sz="1599" b="1" dirty="0">
                <a:solidFill>
                  <a:srgbClr val="000000"/>
                </a:solidFill>
                <a:latin typeface="Canva Sans Bold"/>
                <a:ea typeface="Canva Sans Bold"/>
                <a:cs typeface="Canva Sans Bold"/>
                <a:sym typeface="Canva Sans Bold"/>
              </a:rPr>
              <a:t>:</a:t>
            </a:r>
            <a:r>
              <a:rPr lang="en-US" sz="1599" dirty="0">
                <a:solidFill>
                  <a:srgbClr val="000000"/>
                </a:solidFill>
                <a:latin typeface="Canva Sans"/>
                <a:ea typeface="Canva Sans"/>
                <a:cs typeface="Canva Sans"/>
                <a:sym typeface="Canva Sans"/>
              </a:rPr>
              <a:t> A </a:t>
            </a:r>
            <a:r>
              <a:rPr lang="en-US" sz="1599" dirty="0" err="1">
                <a:solidFill>
                  <a:srgbClr val="000000"/>
                </a:solidFill>
                <a:latin typeface="Canva Sans"/>
                <a:ea typeface="Canva Sans"/>
                <a:cs typeface="Canva Sans"/>
                <a:sym typeface="Canva Sans"/>
              </a:rPr>
              <a:t>análise</a:t>
            </a:r>
            <a:r>
              <a:rPr lang="en-US" sz="1599" dirty="0">
                <a:solidFill>
                  <a:srgbClr val="000000"/>
                </a:solidFill>
                <a:latin typeface="Canva Sans"/>
                <a:ea typeface="Canva Sans"/>
                <a:cs typeface="Canva Sans"/>
                <a:sym typeface="Canva Sans"/>
              </a:rPr>
              <a:t> de dados é </a:t>
            </a:r>
            <a:r>
              <a:rPr lang="en-US" sz="1599" dirty="0" err="1">
                <a:solidFill>
                  <a:srgbClr val="000000"/>
                </a:solidFill>
                <a:latin typeface="Canva Sans"/>
                <a:ea typeface="Canva Sans"/>
                <a:cs typeface="Canva Sans"/>
                <a:sym typeface="Canva Sans"/>
              </a:rPr>
              <a:t>feita</a:t>
            </a:r>
            <a:r>
              <a:rPr lang="en-US" sz="1599" dirty="0">
                <a:solidFill>
                  <a:srgbClr val="000000"/>
                </a:solidFill>
                <a:latin typeface="Canva Sans"/>
                <a:ea typeface="Canva Sans"/>
                <a:cs typeface="Canva Sans"/>
                <a:sym typeface="Canva Sans"/>
              </a:rPr>
              <a:t> de forma manual, </a:t>
            </a:r>
            <a:r>
              <a:rPr lang="en-US" sz="1599" dirty="0" err="1">
                <a:solidFill>
                  <a:srgbClr val="000000"/>
                </a:solidFill>
                <a:latin typeface="Canva Sans"/>
                <a:ea typeface="Canva Sans"/>
                <a:cs typeface="Canva Sans"/>
                <a:sym typeface="Canva Sans"/>
              </a:rPr>
              <a:t>imprecisa</a:t>
            </a:r>
            <a:r>
              <a:rPr lang="en-US" sz="1599" dirty="0">
                <a:solidFill>
                  <a:srgbClr val="000000"/>
                </a:solidFill>
                <a:latin typeface="Canva Sans"/>
                <a:ea typeface="Canva Sans"/>
                <a:cs typeface="Canva Sans"/>
                <a:sym typeface="Canva Sans"/>
              </a:rPr>
              <a:t> e </a:t>
            </a:r>
            <a:r>
              <a:rPr lang="en-US" sz="1599" dirty="0" err="1">
                <a:solidFill>
                  <a:srgbClr val="000000"/>
                </a:solidFill>
                <a:latin typeface="Canva Sans"/>
                <a:ea typeface="Canva Sans"/>
                <a:cs typeface="Canva Sans"/>
                <a:sym typeface="Canva Sans"/>
              </a:rPr>
              <a:t>demorada</a:t>
            </a:r>
            <a:r>
              <a:rPr lang="en-US" sz="1599" dirty="0">
                <a:solidFill>
                  <a:srgbClr val="000000"/>
                </a:solidFill>
                <a:latin typeface="Canva Sans"/>
                <a:ea typeface="Canva Sans"/>
                <a:cs typeface="Canva Sans"/>
                <a:sym typeface="Canva Sans"/>
              </a:rPr>
              <a:t>, </a:t>
            </a:r>
            <a:r>
              <a:rPr lang="en-US" sz="1599" dirty="0" err="1">
                <a:solidFill>
                  <a:srgbClr val="000000"/>
                </a:solidFill>
                <a:latin typeface="Canva Sans"/>
                <a:ea typeface="Canva Sans"/>
                <a:cs typeface="Canva Sans"/>
                <a:sym typeface="Canva Sans"/>
              </a:rPr>
              <a:t>consumindo</a:t>
            </a:r>
            <a:r>
              <a:rPr lang="en-US" sz="1599" dirty="0">
                <a:solidFill>
                  <a:srgbClr val="000000"/>
                </a:solidFill>
                <a:latin typeface="Canva Sans"/>
                <a:ea typeface="Canva Sans"/>
                <a:cs typeface="Canva Sans"/>
                <a:sym typeface="Canva Sans"/>
              </a:rPr>
              <a:t> tempo </a:t>
            </a:r>
            <a:r>
              <a:rPr lang="en-US" sz="1599" dirty="0" err="1">
                <a:solidFill>
                  <a:srgbClr val="000000"/>
                </a:solidFill>
                <a:latin typeface="Canva Sans"/>
                <a:ea typeface="Canva Sans"/>
                <a:cs typeface="Canva Sans"/>
                <a:sym typeface="Canva Sans"/>
              </a:rPr>
              <a:t>valioso</a:t>
            </a:r>
            <a:r>
              <a:rPr lang="en-US" sz="1599" dirty="0">
                <a:solidFill>
                  <a:srgbClr val="000000"/>
                </a:solidFill>
                <a:latin typeface="Canva Sans"/>
                <a:ea typeface="Canva Sans"/>
                <a:cs typeface="Canva Sans"/>
                <a:sym typeface="Canva Sans"/>
              </a:rPr>
              <a:t> da equipe.</a:t>
            </a:r>
          </a:p>
          <a:p>
            <a:pPr algn="just">
              <a:lnSpc>
                <a:spcPts val="2239"/>
              </a:lnSpc>
            </a:pPr>
            <a:endParaRPr lang="en-US" sz="1599" dirty="0">
              <a:solidFill>
                <a:srgbClr val="000000"/>
              </a:solidFill>
              <a:latin typeface="Canva Sans"/>
              <a:ea typeface="Canva Sans"/>
              <a:cs typeface="Canva Sans"/>
              <a:sym typeface="Canva Sans"/>
            </a:endParaRPr>
          </a:p>
          <a:p>
            <a:pPr algn="just">
              <a:lnSpc>
                <a:spcPts val="2239"/>
              </a:lnSpc>
              <a:spcBef>
                <a:spcPct val="0"/>
              </a:spcBef>
            </a:pPr>
            <a:endParaRPr lang="en-US" sz="1599" dirty="0">
              <a:solidFill>
                <a:srgbClr val="000000"/>
              </a:solidFill>
              <a:latin typeface="Canva Sans"/>
              <a:ea typeface="Canva Sans"/>
              <a:cs typeface="Canva Sans"/>
              <a:sym typeface="Canva Sans"/>
            </a:endParaRPr>
          </a:p>
          <a:p>
            <a:pPr algn="just">
              <a:lnSpc>
                <a:spcPts val="2239"/>
              </a:lnSpc>
              <a:spcBef>
                <a:spcPct val="0"/>
              </a:spcBef>
            </a:pPr>
            <a:endParaRPr lang="en-US" sz="1599" dirty="0">
              <a:solidFill>
                <a:srgbClr val="000000"/>
              </a:solidFill>
              <a:latin typeface="Canva Sans"/>
              <a:ea typeface="Canva Sans"/>
              <a:cs typeface="Canva Sans"/>
              <a:sym typeface="Canva Sans"/>
            </a:endParaRPr>
          </a:p>
          <a:p>
            <a:pPr algn="just">
              <a:lnSpc>
                <a:spcPts val="2239"/>
              </a:lnSpc>
              <a:spcBef>
                <a:spcPct val="0"/>
              </a:spcBef>
            </a:pPr>
            <a:endParaRPr lang="en-US" sz="1599" dirty="0">
              <a:solidFill>
                <a:srgbClr val="000000"/>
              </a:solidFill>
              <a:latin typeface="Canva Sans"/>
              <a:ea typeface="Canva Sans"/>
              <a:cs typeface="Canva Sans"/>
              <a:sym typeface="Canva Sans"/>
            </a:endParaRPr>
          </a:p>
        </p:txBody>
      </p:sp>
      <p:sp>
        <p:nvSpPr>
          <p:cNvPr id="8" name="TextBox 8"/>
          <p:cNvSpPr txBox="1"/>
          <p:nvPr/>
        </p:nvSpPr>
        <p:spPr>
          <a:xfrm>
            <a:off x="1028700" y="776747"/>
            <a:ext cx="8221136" cy="1623695"/>
          </a:xfrm>
          <a:prstGeom prst="rect">
            <a:avLst/>
          </a:prstGeom>
        </p:spPr>
        <p:txBody>
          <a:bodyPr lIns="0" tIns="0" rIns="0" bIns="0" rtlCol="0" anchor="t">
            <a:spAutoFit/>
          </a:bodyPr>
          <a:lstStyle/>
          <a:p>
            <a:pPr algn="l">
              <a:lnSpc>
                <a:spcPts val="6580"/>
              </a:lnSpc>
            </a:pPr>
            <a:r>
              <a:rPr lang="en-US" sz="4700">
                <a:solidFill>
                  <a:srgbClr val="000000"/>
                </a:solidFill>
                <a:latin typeface="League Spartan"/>
                <a:ea typeface="League Spartan"/>
                <a:cs typeface="League Spartan"/>
                <a:sym typeface="League Spartan"/>
              </a:rPr>
              <a:t>O QUE QUEREMOS RESOLVER</a:t>
            </a:r>
          </a:p>
        </p:txBody>
      </p:sp>
      <p:sp>
        <p:nvSpPr>
          <p:cNvPr id="9" name="TextBox 9"/>
          <p:cNvSpPr txBox="1"/>
          <p:nvPr/>
        </p:nvSpPr>
        <p:spPr>
          <a:xfrm>
            <a:off x="10477451" y="6910211"/>
            <a:ext cx="4337914" cy="1961114"/>
          </a:xfrm>
          <a:prstGeom prst="rect">
            <a:avLst/>
          </a:prstGeom>
        </p:spPr>
        <p:txBody>
          <a:bodyPr lIns="0" tIns="0" rIns="0" bIns="0" rtlCol="0" anchor="t">
            <a:spAutoFit/>
          </a:bodyPr>
          <a:lstStyle/>
          <a:p>
            <a:pPr algn="just">
              <a:lnSpc>
                <a:spcPts val="3079"/>
              </a:lnSpc>
            </a:pPr>
            <a:r>
              <a:rPr lang="en-US" sz="2199" b="1" dirty="0">
                <a:solidFill>
                  <a:srgbClr val="FFFFFF"/>
                </a:solidFill>
                <a:latin typeface="Canva Sans Bold"/>
                <a:ea typeface="Canva Sans Bold"/>
                <a:cs typeface="Canva Sans Bold"/>
                <a:sym typeface="Canva Sans Bold"/>
              </a:rPr>
              <a:t>Prover </a:t>
            </a:r>
            <a:r>
              <a:rPr lang="en-US" sz="2199" b="1" dirty="0" err="1">
                <a:solidFill>
                  <a:srgbClr val="FFFFFF"/>
                </a:solidFill>
                <a:latin typeface="Canva Sans Bold"/>
                <a:ea typeface="Canva Sans Bold"/>
                <a:cs typeface="Canva Sans Bold"/>
                <a:sym typeface="Canva Sans Bold"/>
              </a:rPr>
              <a:t>informação</a:t>
            </a:r>
            <a:r>
              <a:rPr lang="en-US" sz="2199" b="1" dirty="0">
                <a:solidFill>
                  <a:srgbClr val="FFFFFF"/>
                </a:solidFill>
                <a:latin typeface="Canva Sans Bold"/>
                <a:ea typeface="Canva Sans Bold"/>
                <a:cs typeface="Canva Sans Bold"/>
                <a:sym typeface="Canva Sans Bold"/>
              </a:rPr>
              <a:t> </a:t>
            </a:r>
            <a:r>
              <a:rPr lang="en-US" sz="2199" b="1" dirty="0" err="1">
                <a:solidFill>
                  <a:srgbClr val="FFFFFF"/>
                </a:solidFill>
                <a:latin typeface="Canva Sans Bold"/>
                <a:ea typeface="Canva Sans Bold"/>
                <a:cs typeface="Canva Sans Bold"/>
                <a:sym typeface="Canva Sans Bold"/>
              </a:rPr>
              <a:t>sobre</a:t>
            </a:r>
            <a:r>
              <a:rPr lang="en-US" sz="2199" b="1" dirty="0">
                <a:solidFill>
                  <a:srgbClr val="FFFFFF"/>
                </a:solidFill>
                <a:latin typeface="Canva Sans Bold"/>
                <a:ea typeface="Canva Sans Bold"/>
                <a:cs typeface="Canva Sans Bold"/>
                <a:sym typeface="Canva Sans Bold"/>
              </a:rPr>
              <a:t> </a:t>
            </a:r>
            <a:r>
              <a:rPr lang="en-US" sz="2199" b="1" dirty="0" err="1">
                <a:solidFill>
                  <a:srgbClr val="FFFFFF"/>
                </a:solidFill>
                <a:latin typeface="Canva Sans Bold"/>
                <a:ea typeface="Canva Sans Bold"/>
                <a:cs typeface="Canva Sans Bold"/>
                <a:sym typeface="Canva Sans Bold"/>
              </a:rPr>
              <a:t>vendas</a:t>
            </a:r>
            <a:r>
              <a:rPr lang="en-US" sz="2199" b="1" dirty="0">
                <a:solidFill>
                  <a:srgbClr val="FFFFFF"/>
                </a:solidFill>
                <a:latin typeface="Canva Sans Bold"/>
                <a:ea typeface="Canva Sans Bold"/>
                <a:cs typeface="Canva Sans Bold"/>
                <a:sym typeface="Canva Sans Bold"/>
              </a:rPr>
              <a:t> para </a:t>
            </a:r>
            <a:r>
              <a:rPr lang="en-US" sz="2199" b="1" dirty="0" err="1">
                <a:solidFill>
                  <a:srgbClr val="FFFFFF"/>
                </a:solidFill>
                <a:latin typeface="Canva Sans Bold"/>
                <a:ea typeface="Canva Sans Bold"/>
                <a:cs typeface="Canva Sans Bold"/>
                <a:sym typeface="Canva Sans Bold"/>
              </a:rPr>
              <a:t>que</a:t>
            </a:r>
            <a:r>
              <a:rPr lang="en-US" sz="2199" b="1" dirty="0">
                <a:solidFill>
                  <a:srgbClr val="FFFFFF"/>
                </a:solidFill>
                <a:latin typeface="Canva Sans Bold"/>
                <a:ea typeface="Canva Sans Bold"/>
                <a:cs typeface="Canva Sans Bold"/>
                <a:sym typeface="Canva Sans Bold"/>
              </a:rPr>
              <a:t> a </a:t>
            </a:r>
            <a:r>
              <a:rPr lang="en-US" sz="2199" b="1" dirty="0" err="1">
                <a:solidFill>
                  <a:srgbClr val="FFFFFF"/>
                </a:solidFill>
                <a:latin typeface="Canva Sans Bold"/>
                <a:ea typeface="Canva Sans Bold"/>
                <a:cs typeface="Canva Sans Bold"/>
                <a:sym typeface="Canva Sans Bold"/>
              </a:rPr>
              <a:t>tomada</a:t>
            </a:r>
            <a:r>
              <a:rPr lang="en-US" sz="2199" b="1" dirty="0">
                <a:solidFill>
                  <a:srgbClr val="FFFFFF"/>
                </a:solidFill>
                <a:latin typeface="Canva Sans Bold"/>
                <a:ea typeface="Canva Sans Bold"/>
                <a:cs typeface="Canva Sans Bold"/>
                <a:sym typeface="Canva Sans Bold"/>
              </a:rPr>
              <a:t> de </a:t>
            </a:r>
            <a:r>
              <a:rPr lang="en-US" sz="2199" b="1" dirty="0" err="1">
                <a:solidFill>
                  <a:srgbClr val="FFFFFF"/>
                </a:solidFill>
                <a:latin typeface="Canva Sans Bold"/>
                <a:ea typeface="Canva Sans Bold"/>
                <a:cs typeface="Canva Sans Bold"/>
                <a:sym typeface="Canva Sans Bold"/>
              </a:rPr>
              <a:t>decisão</a:t>
            </a:r>
            <a:r>
              <a:rPr lang="en-US" sz="2199" b="1" dirty="0">
                <a:solidFill>
                  <a:srgbClr val="FFFFFF"/>
                </a:solidFill>
                <a:latin typeface="Canva Sans Bold"/>
                <a:ea typeface="Canva Sans Bold"/>
                <a:cs typeface="Canva Sans Bold"/>
                <a:sym typeface="Canva Sans Bold"/>
              </a:rPr>
              <a:t> </a:t>
            </a:r>
            <a:r>
              <a:rPr lang="en-US" sz="2199" b="1" dirty="0" err="1">
                <a:solidFill>
                  <a:srgbClr val="FFFFFF"/>
                </a:solidFill>
                <a:latin typeface="Canva Sans Bold"/>
                <a:ea typeface="Canva Sans Bold"/>
                <a:cs typeface="Canva Sans Bold"/>
                <a:sym typeface="Canva Sans Bold"/>
              </a:rPr>
              <a:t>seja</a:t>
            </a:r>
            <a:r>
              <a:rPr lang="en-US" sz="2199" b="1" dirty="0">
                <a:solidFill>
                  <a:srgbClr val="FFFFFF"/>
                </a:solidFill>
                <a:latin typeface="Canva Sans Bold"/>
                <a:ea typeface="Canva Sans Bold"/>
                <a:cs typeface="Canva Sans Bold"/>
                <a:sym typeface="Canva Sans Bold"/>
              </a:rPr>
              <a:t> </a:t>
            </a:r>
            <a:r>
              <a:rPr lang="en-US" sz="2199" b="1" dirty="0" err="1">
                <a:solidFill>
                  <a:srgbClr val="FFFFFF"/>
                </a:solidFill>
                <a:latin typeface="Canva Sans Bold"/>
                <a:ea typeface="Canva Sans Bold"/>
                <a:cs typeface="Canva Sans Bold"/>
                <a:sym typeface="Canva Sans Bold"/>
              </a:rPr>
              <a:t>baseada</a:t>
            </a:r>
            <a:r>
              <a:rPr lang="en-US" sz="2199" b="1" dirty="0">
                <a:solidFill>
                  <a:srgbClr val="FFFFFF"/>
                </a:solidFill>
                <a:latin typeface="Canva Sans Bold"/>
                <a:ea typeface="Canva Sans Bold"/>
                <a:cs typeface="Canva Sans Bold"/>
                <a:sym typeface="Canva Sans Bold"/>
              </a:rPr>
              <a:t> </a:t>
            </a:r>
            <a:r>
              <a:rPr lang="en-US" sz="2199" b="1" dirty="0" err="1">
                <a:solidFill>
                  <a:srgbClr val="FFFFFF"/>
                </a:solidFill>
                <a:latin typeface="Canva Sans Bold"/>
                <a:ea typeface="Canva Sans Bold"/>
                <a:cs typeface="Canva Sans Bold"/>
                <a:sym typeface="Canva Sans Bold"/>
              </a:rPr>
              <a:t>em</a:t>
            </a:r>
            <a:r>
              <a:rPr lang="en-US" sz="2199" b="1" dirty="0">
                <a:solidFill>
                  <a:srgbClr val="FFFFFF"/>
                </a:solidFill>
                <a:latin typeface="Canva Sans Bold"/>
                <a:ea typeface="Canva Sans Bold"/>
                <a:cs typeface="Canva Sans Bold"/>
                <a:sym typeface="Canva Sans Bold"/>
              </a:rPr>
              <a:t> dados, </a:t>
            </a:r>
            <a:r>
              <a:rPr lang="en-US" sz="2199" b="1" dirty="0" err="1">
                <a:solidFill>
                  <a:srgbClr val="FFFFFF"/>
                </a:solidFill>
                <a:latin typeface="Canva Sans Bold"/>
                <a:ea typeface="Canva Sans Bold"/>
                <a:cs typeface="Canva Sans Bold"/>
                <a:sym typeface="Canva Sans Bold"/>
              </a:rPr>
              <a:t>otimizando</a:t>
            </a:r>
            <a:r>
              <a:rPr lang="en-US" sz="2199" b="1" dirty="0">
                <a:solidFill>
                  <a:srgbClr val="FFFFFF"/>
                </a:solidFill>
                <a:latin typeface="Canva Sans Bold"/>
                <a:ea typeface="Canva Sans Bold"/>
                <a:cs typeface="Canva Sans Bold"/>
                <a:sym typeface="Canva Sans Bold"/>
              </a:rPr>
              <a:t> o </a:t>
            </a:r>
            <a:r>
              <a:rPr lang="en-US" sz="2199" b="1" dirty="0" err="1">
                <a:solidFill>
                  <a:srgbClr val="FFFFFF"/>
                </a:solidFill>
                <a:latin typeface="Canva Sans Bold"/>
                <a:ea typeface="Canva Sans Bold"/>
                <a:cs typeface="Canva Sans Bold"/>
                <a:sym typeface="Canva Sans Bold"/>
              </a:rPr>
              <a:t>desempenho</a:t>
            </a:r>
            <a:r>
              <a:rPr lang="en-US" sz="2199" b="1" dirty="0">
                <a:solidFill>
                  <a:srgbClr val="FFFFFF"/>
                </a:solidFill>
                <a:latin typeface="Canva Sans Bold"/>
                <a:ea typeface="Canva Sans Bold"/>
                <a:cs typeface="Canva Sans Bold"/>
                <a:sym typeface="Canva Sans Bold"/>
              </a:rPr>
              <a:t> de </a:t>
            </a:r>
            <a:r>
              <a:rPr lang="en-US" sz="2199" b="1" dirty="0" err="1">
                <a:solidFill>
                  <a:srgbClr val="FFFFFF"/>
                </a:solidFill>
                <a:latin typeface="Canva Sans Bold"/>
                <a:ea typeface="Canva Sans Bold"/>
                <a:cs typeface="Canva Sans Bold"/>
                <a:sym typeface="Canva Sans Bold"/>
              </a:rPr>
              <a:t>vendas</a:t>
            </a:r>
            <a:r>
              <a:rPr lang="en-US" sz="2199" b="1" dirty="0">
                <a:solidFill>
                  <a:srgbClr val="FFFFFF"/>
                </a:solidFill>
                <a:latin typeface="Canva Sans Bold"/>
                <a:ea typeface="Canva Sans Bold"/>
                <a:cs typeface="Canva Sans Bold"/>
                <a:sym typeface="Canva Sans Bold"/>
              </a:rPr>
              <a:t>.</a:t>
            </a:r>
          </a:p>
        </p:txBody>
      </p:sp>
      <p:sp>
        <p:nvSpPr>
          <p:cNvPr id="10" name="TextBox 10"/>
          <p:cNvSpPr txBox="1"/>
          <p:nvPr/>
        </p:nvSpPr>
        <p:spPr>
          <a:xfrm>
            <a:off x="10477451" y="6215527"/>
            <a:ext cx="8221136" cy="537844"/>
          </a:xfrm>
          <a:prstGeom prst="rect">
            <a:avLst/>
          </a:prstGeom>
        </p:spPr>
        <p:txBody>
          <a:bodyPr lIns="0" tIns="0" rIns="0" bIns="0" rtlCol="0" anchor="t">
            <a:spAutoFit/>
          </a:bodyPr>
          <a:lstStyle/>
          <a:p>
            <a:pPr algn="l">
              <a:lnSpc>
                <a:spcPts val="4480"/>
              </a:lnSpc>
            </a:pPr>
            <a:r>
              <a:rPr lang="en-US" sz="3200">
                <a:solidFill>
                  <a:srgbClr val="3C3333"/>
                </a:solidFill>
                <a:latin typeface="League Spartan"/>
                <a:ea typeface="League Spartan"/>
                <a:cs typeface="League Spartan"/>
                <a:sym typeface="League Spartan"/>
              </a:rPr>
              <a:t>NOSSO OBJETIVO</a:t>
            </a:r>
          </a:p>
        </p:txBody>
      </p:sp>
    </p:spTree>
  </p:cSld>
  <p:clrMapOvr>
    <a:masterClrMapping/>
  </p:clrMapOvr>
  <p:transition>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00396" y="0"/>
            <a:ext cx="8686540" cy="10335929"/>
            <a:chOff x="0" y="0"/>
            <a:chExt cx="2872328" cy="3417723"/>
          </a:xfrm>
        </p:grpSpPr>
        <p:sp>
          <p:nvSpPr>
            <p:cNvPr id="3" name="Freeform 3"/>
            <p:cNvSpPr/>
            <p:nvPr/>
          </p:nvSpPr>
          <p:spPr>
            <a:xfrm>
              <a:off x="0" y="0"/>
              <a:ext cx="2872328" cy="3417723"/>
            </a:xfrm>
            <a:custGeom>
              <a:avLst/>
              <a:gdLst/>
              <a:ahLst/>
              <a:cxnLst/>
              <a:rect l="l" t="t" r="r" b="b"/>
              <a:pathLst>
                <a:path w="2872328" h="3417723">
                  <a:moveTo>
                    <a:pt x="0" y="0"/>
                  </a:moveTo>
                  <a:lnTo>
                    <a:pt x="2872328" y="0"/>
                  </a:lnTo>
                  <a:lnTo>
                    <a:pt x="2872328" y="3417723"/>
                  </a:lnTo>
                  <a:lnTo>
                    <a:pt x="0" y="3417723"/>
                  </a:lnTo>
                  <a:close/>
                </a:path>
              </a:pathLst>
            </a:custGeom>
            <a:solidFill>
              <a:srgbClr val="4BE0CD"/>
            </a:solidFill>
          </p:spPr>
          <p:txBody>
            <a:bodyPr/>
            <a:lstStyle/>
            <a:p>
              <a:endParaRPr lang="pt-BR"/>
            </a:p>
          </p:txBody>
        </p:sp>
        <p:sp>
          <p:nvSpPr>
            <p:cNvPr id="4" name="TextBox 4"/>
            <p:cNvSpPr txBox="1"/>
            <p:nvPr/>
          </p:nvSpPr>
          <p:spPr>
            <a:xfrm>
              <a:off x="0" y="-28575"/>
              <a:ext cx="2872328" cy="3446298"/>
            </a:xfrm>
            <a:prstGeom prst="rect">
              <a:avLst/>
            </a:prstGeom>
          </p:spPr>
          <p:txBody>
            <a:bodyPr lIns="50800" tIns="50800" rIns="50800" bIns="50800" rtlCol="0" anchor="ctr"/>
            <a:lstStyle/>
            <a:p>
              <a:pPr algn="ctr">
                <a:lnSpc>
                  <a:spcPts val="1930"/>
                </a:lnSpc>
              </a:pPr>
              <a:endParaRPr/>
            </a:p>
          </p:txBody>
        </p:sp>
      </p:grpSp>
      <p:grpSp>
        <p:nvGrpSpPr>
          <p:cNvPr id="5" name="Group 5"/>
          <p:cNvGrpSpPr/>
          <p:nvPr/>
        </p:nvGrpSpPr>
        <p:grpSpPr>
          <a:xfrm>
            <a:off x="10686936" y="0"/>
            <a:ext cx="7601064" cy="10335929"/>
            <a:chOff x="0" y="0"/>
            <a:chExt cx="2513401" cy="3417723"/>
          </a:xfrm>
        </p:grpSpPr>
        <p:sp>
          <p:nvSpPr>
            <p:cNvPr id="6" name="Freeform 6"/>
            <p:cNvSpPr/>
            <p:nvPr/>
          </p:nvSpPr>
          <p:spPr>
            <a:xfrm>
              <a:off x="0" y="0"/>
              <a:ext cx="2513400" cy="3417723"/>
            </a:xfrm>
            <a:custGeom>
              <a:avLst/>
              <a:gdLst/>
              <a:ahLst/>
              <a:cxnLst/>
              <a:rect l="l" t="t" r="r" b="b"/>
              <a:pathLst>
                <a:path w="2513400" h="3417723">
                  <a:moveTo>
                    <a:pt x="0" y="0"/>
                  </a:moveTo>
                  <a:lnTo>
                    <a:pt x="2513400" y="0"/>
                  </a:lnTo>
                  <a:lnTo>
                    <a:pt x="2513400" y="3417723"/>
                  </a:lnTo>
                  <a:lnTo>
                    <a:pt x="0" y="3417723"/>
                  </a:lnTo>
                  <a:close/>
                </a:path>
              </a:pathLst>
            </a:custGeom>
            <a:solidFill>
              <a:srgbClr val="D5F7F1"/>
            </a:solidFill>
          </p:spPr>
          <p:txBody>
            <a:bodyPr/>
            <a:lstStyle/>
            <a:p>
              <a:endParaRPr lang="pt-BR"/>
            </a:p>
          </p:txBody>
        </p:sp>
        <p:sp>
          <p:nvSpPr>
            <p:cNvPr id="7" name="TextBox 7"/>
            <p:cNvSpPr txBox="1"/>
            <p:nvPr/>
          </p:nvSpPr>
          <p:spPr>
            <a:xfrm>
              <a:off x="0" y="-28575"/>
              <a:ext cx="2513401" cy="3446298"/>
            </a:xfrm>
            <a:prstGeom prst="rect">
              <a:avLst/>
            </a:prstGeom>
          </p:spPr>
          <p:txBody>
            <a:bodyPr lIns="50800" tIns="50800" rIns="50800" bIns="50800" rtlCol="0" anchor="ctr"/>
            <a:lstStyle/>
            <a:p>
              <a:pPr algn="just">
                <a:lnSpc>
                  <a:spcPts val="1930"/>
                </a:lnSpc>
              </a:pPr>
              <a:endParaRPr/>
            </a:p>
          </p:txBody>
        </p:sp>
      </p:grpSp>
      <p:grpSp>
        <p:nvGrpSpPr>
          <p:cNvPr id="8" name="Group 8"/>
          <p:cNvGrpSpPr/>
          <p:nvPr/>
        </p:nvGrpSpPr>
        <p:grpSpPr>
          <a:xfrm>
            <a:off x="314959" y="358899"/>
            <a:ext cx="2466358" cy="9512052"/>
            <a:chOff x="0" y="0"/>
            <a:chExt cx="649576" cy="2505232"/>
          </a:xfrm>
        </p:grpSpPr>
        <p:sp>
          <p:nvSpPr>
            <p:cNvPr id="9" name="Freeform 9"/>
            <p:cNvSpPr/>
            <p:nvPr/>
          </p:nvSpPr>
          <p:spPr>
            <a:xfrm>
              <a:off x="0" y="0"/>
              <a:ext cx="649576" cy="2505232"/>
            </a:xfrm>
            <a:custGeom>
              <a:avLst/>
              <a:gdLst/>
              <a:ahLst/>
              <a:cxnLst/>
              <a:rect l="l" t="t" r="r" b="b"/>
              <a:pathLst>
                <a:path w="649576" h="2505232">
                  <a:moveTo>
                    <a:pt x="78475" y="0"/>
                  </a:moveTo>
                  <a:lnTo>
                    <a:pt x="571101" y="0"/>
                  </a:lnTo>
                  <a:cubicBezTo>
                    <a:pt x="591914" y="0"/>
                    <a:pt x="611874" y="8268"/>
                    <a:pt x="626591" y="22985"/>
                  </a:cubicBezTo>
                  <a:cubicBezTo>
                    <a:pt x="641308" y="37702"/>
                    <a:pt x="649576" y="57662"/>
                    <a:pt x="649576" y="78475"/>
                  </a:cubicBezTo>
                  <a:lnTo>
                    <a:pt x="649576" y="2426757"/>
                  </a:lnTo>
                  <a:cubicBezTo>
                    <a:pt x="649576" y="2470097"/>
                    <a:pt x="614441" y="2505232"/>
                    <a:pt x="571101" y="2505232"/>
                  </a:cubicBezTo>
                  <a:lnTo>
                    <a:pt x="78475" y="2505232"/>
                  </a:lnTo>
                  <a:cubicBezTo>
                    <a:pt x="57662" y="2505232"/>
                    <a:pt x="37702" y="2496964"/>
                    <a:pt x="22985" y="2482247"/>
                  </a:cubicBezTo>
                  <a:cubicBezTo>
                    <a:pt x="8268" y="2467530"/>
                    <a:pt x="0" y="2447569"/>
                    <a:pt x="0" y="2426757"/>
                  </a:cubicBezTo>
                  <a:lnTo>
                    <a:pt x="0" y="78475"/>
                  </a:lnTo>
                  <a:cubicBezTo>
                    <a:pt x="0" y="57662"/>
                    <a:pt x="8268" y="37702"/>
                    <a:pt x="22985" y="22985"/>
                  </a:cubicBezTo>
                  <a:cubicBezTo>
                    <a:pt x="37702" y="8268"/>
                    <a:pt x="57662" y="0"/>
                    <a:pt x="78475" y="0"/>
                  </a:cubicBezTo>
                  <a:close/>
                </a:path>
              </a:pathLst>
            </a:custGeom>
            <a:solidFill>
              <a:srgbClr val="FDB74B"/>
            </a:solidFill>
          </p:spPr>
          <p:txBody>
            <a:bodyPr/>
            <a:lstStyle/>
            <a:p>
              <a:endParaRPr lang="pt-BR"/>
            </a:p>
          </p:txBody>
        </p:sp>
        <p:sp>
          <p:nvSpPr>
            <p:cNvPr id="10" name="TextBox 10"/>
            <p:cNvSpPr txBox="1"/>
            <p:nvPr/>
          </p:nvSpPr>
          <p:spPr>
            <a:xfrm>
              <a:off x="0" y="-38100"/>
              <a:ext cx="649576" cy="2543332"/>
            </a:xfrm>
            <a:prstGeom prst="rect">
              <a:avLst/>
            </a:prstGeom>
          </p:spPr>
          <p:txBody>
            <a:bodyPr lIns="50800" tIns="50800" rIns="50800" bIns="50800" rtlCol="0" anchor="ctr"/>
            <a:lstStyle/>
            <a:p>
              <a:pPr algn="ctr">
                <a:lnSpc>
                  <a:spcPts val="3499"/>
                </a:lnSpc>
              </a:pPr>
              <a:endParaRPr/>
            </a:p>
          </p:txBody>
        </p:sp>
      </p:grpSp>
      <p:sp>
        <p:nvSpPr>
          <p:cNvPr id="11" name="TextBox 11"/>
          <p:cNvSpPr txBox="1"/>
          <p:nvPr/>
        </p:nvSpPr>
        <p:spPr>
          <a:xfrm rot="-5400000">
            <a:off x="-1807185" y="4358506"/>
            <a:ext cx="6830254" cy="1281610"/>
          </a:xfrm>
          <a:prstGeom prst="rect">
            <a:avLst/>
          </a:prstGeom>
        </p:spPr>
        <p:txBody>
          <a:bodyPr lIns="0" tIns="0" rIns="0" bIns="0" rtlCol="0" anchor="t">
            <a:spAutoFit/>
          </a:bodyPr>
          <a:lstStyle/>
          <a:p>
            <a:pPr algn="ctr">
              <a:lnSpc>
                <a:spcPts val="7016"/>
              </a:lnSpc>
            </a:pPr>
            <a:r>
              <a:rPr lang="en-US" sz="5356">
                <a:solidFill>
                  <a:srgbClr val="000000"/>
                </a:solidFill>
                <a:latin typeface="League Spartan"/>
                <a:ea typeface="League Spartan"/>
                <a:cs typeface="League Spartan"/>
                <a:sym typeface="League Spartan"/>
              </a:rPr>
              <a:t>Público Alvo</a:t>
            </a:r>
          </a:p>
          <a:p>
            <a:pPr algn="ctr">
              <a:lnSpc>
                <a:spcPts val="2688"/>
              </a:lnSpc>
            </a:pPr>
            <a:endParaRPr lang="en-US" sz="5356">
              <a:solidFill>
                <a:srgbClr val="000000"/>
              </a:solidFill>
              <a:latin typeface="League Spartan"/>
              <a:ea typeface="League Spartan"/>
              <a:cs typeface="League Spartan"/>
              <a:sym typeface="League Spartan"/>
            </a:endParaRPr>
          </a:p>
        </p:txBody>
      </p:sp>
      <p:sp>
        <p:nvSpPr>
          <p:cNvPr id="12" name="TextBox 12"/>
          <p:cNvSpPr txBox="1"/>
          <p:nvPr/>
        </p:nvSpPr>
        <p:spPr>
          <a:xfrm>
            <a:off x="4029092" y="1913846"/>
            <a:ext cx="5610809" cy="7341497"/>
          </a:xfrm>
          <a:prstGeom prst="rect">
            <a:avLst/>
          </a:prstGeom>
        </p:spPr>
        <p:txBody>
          <a:bodyPr lIns="0" tIns="0" rIns="0" bIns="0" rtlCol="0" anchor="t">
            <a:spAutoFit/>
          </a:bodyPr>
          <a:lstStyle/>
          <a:p>
            <a:pPr algn="just">
              <a:lnSpc>
                <a:spcPts val="2800"/>
              </a:lnSpc>
            </a:pPr>
            <a:endParaRPr dirty="0"/>
          </a:p>
          <a:p>
            <a:pPr algn="l">
              <a:lnSpc>
                <a:spcPts val="2800"/>
              </a:lnSpc>
            </a:pPr>
            <a:r>
              <a:rPr lang="en-US" sz="2000" b="1" dirty="0" err="1">
                <a:solidFill>
                  <a:srgbClr val="000000"/>
                </a:solidFill>
                <a:latin typeface="Canva Sans Bold"/>
                <a:ea typeface="Canva Sans Bold"/>
                <a:cs typeface="Canva Sans Bold"/>
                <a:sym typeface="Canva Sans Bold"/>
              </a:rPr>
              <a:t>Executivos</a:t>
            </a:r>
            <a:r>
              <a:rPr lang="en-US" sz="2000" b="1" dirty="0">
                <a:solidFill>
                  <a:srgbClr val="000000"/>
                </a:solidFill>
                <a:latin typeface="Canva Sans Bold"/>
                <a:ea typeface="Canva Sans Bold"/>
                <a:cs typeface="Canva Sans Bold"/>
                <a:sym typeface="Canva Sans Bold"/>
              </a:rPr>
              <a:t> de </a:t>
            </a:r>
            <a:r>
              <a:rPr lang="en-US" sz="2000" b="1" dirty="0" err="1">
                <a:solidFill>
                  <a:srgbClr val="000000"/>
                </a:solidFill>
                <a:latin typeface="Canva Sans Bold"/>
                <a:ea typeface="Canva Sans Bold"/>
                <a:cs typeface="Canva Sans Bold"/>
                <a:sym typeface="Canva Sans Bold"/>
              </a:rPr>
              <a:t>Planejamento</a:t>
            </a:r>
            <a:r>
              <a:rPr lang="en-US" sz="2000" b="1" dirty="0">
                <a:solidFill>
                  <a:srgbClr val="000000"/>
                </a:solidFill>
                <a:latin typeface="Canva Sans Bold"/>
                <a:ea typeface="Canva Sans Bold"/>
                <a:cs typeface="Canva Sans Bold"/>
                <a:sym typeface="Canva Sans Bold"/>
              </a:rPr>
              <a:t>, </a:t>
            </a:r>
            <a:r>
              <a:rPr lang="en-US" sz="2000" b="1" dirty="0" err="1">
                <a:solidFill>
                  <a:srgbClr val="000000"/>
                </a:solidFill>
                <a:latin typeface="Canva Sans Bold"/>
                <a:ea typeface="Canva Sans Bold"/>
                <a:cs typeface="Canva Sans Bold"/>
                <a:sym typeface="Canva Sans Bold"/>
              </a:rPr>
              <a:t>Vendas</a:t>
            </a:r>
            <a:r>
              <a:rPr lang="en-US" sz="2000" b="1" dirty="0">
                <a:solidFill>
                  <a:srgbClr val="000000"/>
                </a:solidFill>
                <a:latin typeface="Canva Sans Bold"/>
                <a:ea typeface="Canva Sans Bold"/>
                <a:cs typeface="Canva Sans Bold"/>
                <a:sym typeface="Canva Sans Bold"/>
              </a:rPr>
              <a:t> , Marketing e </a:t>
            </a:r>
            <a:r>
              <a:rPr lang="en-US" sz="2000" b="1" dirty="0" err="1">
                <a:solidFill>
                  <a:srgbClr val="000000"/>
                </a:solidFill>
                <a:latin typeface="Canva Sans Bold"/>
                <a:ea typeface="Canva Sans Bold"/>
                <a:cs typeface="Canva Sans Bold"/>
                <a:sym typeface="Canva Sans Bold"/>
              </a:rPr>
              <a:t>Operações</a:t>
            </a:r>
            <a:endParaRPr lang="en-US" sz="2000" b="1" dirty="0">
              <a:solidFill>
                <a:srgbClr val="000000"/>
              </a:solidFill>
              <a:latin typeface="Canva Sans Bold"/>
              <a:ea typeface="Canva Sans Bold"/>
              <a:cs typeface="Canva Sans Bold"/>
              <a:sym typeface="Canva Sans Bold"/>
            </a:endParaRPr>
          </a:p>
          <a:p>
            <a:pPr algn="l">
              <a:lnSpc>
                <a:spcPts val="2800"/>
              </a:lnSpc>
            </a:pPr>
            <a:endParaRPr lang="en-US" sz="2000" b="1" dirty="0">
              <a:solidFill>
                <a:srgbClr val="000000"/>
              </a:solidFill>
              <a:latin typeface="Canva Sans Bold"/>
              <a:ea typeface="Canva Sans Bold"/>
              <a:cs typeface="Canva Sans Bold"/>
              <a:sym typeface="Canva Sans Bold"/>
            </a:endParaRPr>
          </a:p>
          <a:p>
            <a:pPr algn="just">
              <a:lnSpc>
                <a:spcPts val="2800"/>
              </a:lnSpc>
            </a:pPr>
            <a:r>
              <a:rPr lang="en-US" sz="2000" b="1" dirty="0" err="1">
                <a:solidFill>
                  <a:srgbClr val="000000"/>
                </a:solidFill>
                <a:latin typeface="Canva Sans"/>
                <a:ea typeface="Canva Sans"/>
                <a:cs typeface="Canva Sans"/>
                <a:sym typeface="Canva Sans"/>
              </a:rPr>
              <a:t>Necessidade</a:t>
            </a:r>
            <a:r>
              <a:rPr lang="en-US" sz="2000" dirty="0">
                <a:solidFill>
                  <a:srgbClr val="000000"/>
                </a:solidFill>
                <a:latin typeface="Canva Sans"/>
                <a:ea typeface="Canva Sans"/>
                <a:cs typeface="Canva Sans"/>
                <a:sym typeface="Canva Sans"/>
              </a:rPr>
              <a:t>: </a:t>
            </a:r>
          </a:p>
          <a:p>
            <a:pPr algn="just">
              <a:lnSpc>
                <a:spcPts val="2800"/>
              </a:lnSpc>
            </a:pPr>
            <a:r>
              <a:rPr lang="en-US" sz="2000" dirty="0" err="1">
                <a:solidFill>
                  <a:srgbClr val="000000"/>
                </a:solidFill>
                <a:latin typeface="Canva Sans"/>
                <a:ea typeface="Canva Sans"/>
                <a:cs typeface="Canva Sans"/>
                <a:sym typeface="Canva Sans"/>
              </a:rPr>
              <a:t>Visão</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holística</a:t>
            </a:r>
            <a:r>
              <a:rPr lang="en-US" sz="2000" dirty="0">
                <a:solidFill>
                  <a:srgbClr val="000000"/>
                </a:solidFill>
                <a:latin typeface="Canva Sans"/>
                <a:ea typeface="Canva Sans"/>
                <a:cs typeface="Canva Sans"/>
                <a:sym typeface="Canva Sans"/>
              </a:rPr>
              <a:t> e </a:t>
            </a:r>
            <a:r>
              <a:rPr lang="en-US" sz="2000" dirty="0" err="1">
                <a:solidFill>
                  <a:srgbClr val="000000"/>
                </a:solidFill>
                <a:latin typeface="Canva Sans"/>
                <a:ea typeface="Canva Sans"/>
                <a:cs typeface="Canva Sans"/>
                <a:sym typeface="Canva Sans"/>
              </a:rPr>
              <a:t>preditiva</a:t>
            </a:r>
            <a:r>
              <a:rPr lang="en-US" sz="2000" dirty="0">
                <a:solidFill>
                  <a:srgbClr val="000000"/>
                </a:solidFill>
                <a:latin typeface="Canva Sans"/>
                <a:ea typeface="Canva Sans"/>
                <a:cs typeface="Canva Sans"/>
                <a:sym typeface="Canva Sans"/>
              </a:rPr>
              <a:t> para </a:t>
            </a:r>
            <a:r>
              <a:rPr lang="en-US" sz="2000" dirty="0" err="1">
                <a:solidFill>
                  <a:srgbClr val="000000"/>
                </a:solidFill>
                <a:latin typeface="Canva Sans"/>
                <a:ea typeface="Canva Sans"/>
                <a:cs typeface="Canva Sans"/>
                <a:sym typeface="Canva Sans"/>
              </a:rPr>
              <a:t>guiar</a:t>
            </a:r>
            <a:r>
              <a:rPr lang="en-US" sz="2000" dirty="0">
                <a:solidFill>
                  <a:srgbClr val="000000"/>
                </a:solidFill>
                <a:latin typeface="Canva Sans"/>
                <a:ea typeface="Canva Sans"/>
                <a:cs typeface="Canva Sans"/>
                <a:sym typeface="Canva Sans"/>
              </a:rPr>
              <a:t> o </a:t>
            </a:r>
            <a:r>
              <a:rPr lang="en-US" sz="2000" dirty="0" err="1">
                <a:solidFill>
                  <a:srgbClr val="000000"/>
                </a:solidFill>
                <a:latin typeface="Canva Sans"/>
                <a:ea typeface="Canva Sans"/>
                <a:cs typeface="Canva Sans"/>
                <a:sym typeface="Canva Sans"/>
              </a:rPr>
              <a:t>crescimento</a:t>
            </a:r>
            <a:r>
              <a:rPr lang="en-US" sz="2000" dirty="0">
                <a:solidFill>
                  <a:srgbClr val="000000"/>
                </a:solidFill>
                <a:latin typeface="Canva Sans"/>
                <a:ea typeface="Canva Sans"/>
                <a:cs typeface="Canva Sans"/>
                <a:sym typeface="Canva Sans"/>
              </a:rPr>
              <a:t> da rede, </a:t>
            </a:r>
            <a:r>
              <a:rPr lang="en-US" sz="2000" dirty="0" err="1">
                <a:solidFill>
                  <a:srgbClr val="000000"/>
                </a:solidFill>
                <a:latin typeface="Canva Sans"/>
                <a:ea typeface="Canva Sans"/>
                <a:cs typeface="Canva Sans"/>
                <a:sym typeface="Canva Sans"/>
              </a:rPr>
              <a:t>otimizar</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recursos</a:t>
            </a:r>
            <a:r>
              <a:rPr lang="en-US" sz="2000" dirty="0">
                <a:solidFill>
                  <a:srgbClr val="000000"/>
                </a:solidFill>
                <a:latin typeface="Canva Sans"/>
                <a:ea typeface="Canva Sans"/>
                <a:cs typeface="Canva Sans"/>
                <a:sym typeface="Canva Sans"/>
              </a:rPr>
              <a:t> e </a:t>
            </a:r>
            <a:r>
              <a:rPr lang="en-US" sz="2000" dirty="0" err="1">
                <a:solidFill>
                  <a:srgbClr val="000000"/>
                </a:solidFill>
                <a:latin typeface="Canva Sans"/>
                <a:ea typeface="Canva Sans"/>
                <a:cs typeface="Canva Sans"/>
                <a:sym typeface="Canva Sans"/>
              </a:rPr>
              <a:t>maximizar</a:t>
            </a:r>
            <a:r>
              <a:rPr lang="en-US" sz="2000" dirty="0">
                <a:solidFill>
                  <a:srgbClr val="000000"/>
                </a:solidFill>
                <a:latin typeface="Canva Sans"/>
                <a:ea typeface="Canva Sans"/>
                <a:cs typeface="Canva Sans"/>
                <a:sym typeface="Canva Sans"/>
              </a:rPr>
              <a:t> a </a:t>
            </a:r>
            <a:r>
              <a:rPr lang="en-US" sz="2000" dirty="0" err="1">
                <a:solidFill>
                  <a:srgbClr val="000000"/>
                </a:solidFill>
                <a:latin typeface="Canva Sans"/>
                <a:ea typeface="Canva Sans"/>
                <a:cs typeface="Canva Sans"/>
                <a:sym typeface="Canva Sans"/>
              </a:rPr>
              <a:t>rentabilidade</a:t>
            </a:r>
            <a:r>
              <a:rPr lang="en-US" sz="2000" dirty="0">
                <a:solidFill>
                  <a:srgbClr val="000000"/>
                </a:solidFill>
                <a:latin typeface="Canva Sans"/>
                <a:ea typeface="Canva Sans"/>
                <a:cs typeface="Canva Sans"/>
                <a:sym typeface="Canva Sans"/>
              </a:rPr>
              <a:t>.</a:t>
            </a:r>
          </a:p>
          <a:p>
            <a:pPr algn="just">
              <a:lnSpc>
                <a:spcPts val="2800"/>
              </a:lnSpc>
            </a:pPr>
            <a:endParaRPr lang="en-US" sz="2000" dirty="0">
              <a:solidFill>
                <a:srgbClr val="000000"/>
              </a:solidFill>
              <a:latin typeface="Canva Sans"/>
              <a:ea typeface="Canva Sans"/>
              <a:cs typeface="Canva Sans"/>
              <a:sym typeface="Canva Sans"/>
            </a:endParaRPr>
          </a:p>
          <a:p>
            <a:pPr algn="just">
              <a:lnSpc>
                <a:spcPts val="2800"/>
              </a:lnSpc>
            </a:pPr>
            <a:r>
              <a:rPr lang="en-US" sz="2000" b="1" dirty="0" err="1">
                <a:solidFill>
                  <a:srgbClr val="000000"/>
                </a:solidFill>
                <a:latin typeface="Canva Sans"/>
                <a:ea typeface="Canva Sans"/>
                <a:cs typeface="Canva Sans"/>
                <a:sym typeface="Canva Sans"/>
              </a:rPr>
              <a:t>Benefício</a:t>
            </a:r>
            <a:r>
              <a:rPr lang="en-US" sz="2000" dirty="0">
                <a:solidFill>
                  <a:srgbClr val="000000"/>
                </a:solidFill>
                <a:latin typeface="Canva Sans"/>
                <a:ea typeface="Canva Sans"/>
                <a:cs typeface="Canva Sans"/>
                <a:sym typeface="Canva Sans"/>
              </a:rPr>
              <a:t>: </a:t>
            </a:r>
          </a:p>
          <a:p>
            <a:pPr algn="just">
              <a:lnSpc>
                <a:spcPts val="2800"/>
              </a:lnSpc>
            </a:pPr>
            <a:r>
              <a:rPr lang="en-US" sz="2000" dirty="0">
                <a:solidFill>
                  <a:srgbClr val="000000"/>
                </a:solidFill>
                <a:latin typeface="Canva Sans"/>
                <a:ea typeface="Canva Sans"/>
                <a:cs typeface="Canva Sans"/>
                <a:sym typeface="Canva Sans"/>
              </a:rPr>
              <a:t>Ferramenta para </a:t>
            </a:r>
            <a:r>
              <a:rPr lang="en-US" sz="2000" dirty="0" err="1">
                <a:solidFill>
                  <a:srgbClr val="000000"/>
                </a:solidFill>
                <a:latin typeface="Canva Sans"/>
                <a:ea typeface="Canva Sans"/>
                <a:cs typeface="Canva Sans"/>
                <a:sym typeface="Canva Sans"/>
              </a:rPr>
              <a:t>decisões</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estratégicas</a:t>
            </a:r>
            <a:r>
              <a:rPr lang="en-US" sz="2000" dirty="0">
                <a:solidFill>
                  <a:srgbClr val="000000"/>
                </a:solidFill>
                <a:latin typeface="Canva Sans"/>
                <a:ea typeface="Canva Sans"/>
                <a:cs typeface="Canva Sans"/>
                <a:sym typeface="Canva Sans"/>
              </a:rPr>
              <a:t> de alto </a:t>
            </a:r>
            <a:r>
              <a:rPr lang="en-US" sz="2000" dirty="0" err="1">
                <a:solidFill>
                  <a:srgbClr val="000000"/>
                </a:solidFill>
                <a:latin typeface="Canva Sans"/>
                <a:ea typeface="Canva Sans"/>
                <a:cs typeface="Canva Sans"/>
                <a:sym typeface="Canva Sans"/>
              </a:rPr>
              <a:t>nível</a:t>
            </a:r>
            <a:r>
              <a:rPr lang="en-US" sz="2000" dirty="0">
                <a:solidFill>
                  <a:srgbClr val="000000"/>
                </a:solidFill>
                <a:latin typeface="Canva Sans"/>
                <a:ea typeface="Canva Sans"/>
                <a:cs typeface="Canva Sans"/>
                <a:sym typeface="Canva Sans"/>
              </a:rPr>
              <a:t>, com insights </a:t>
            </a:r>
            <a:r>
              <a:rPr lang="en-US" sz="2000" dirty="0" err="1">
                <a:solidFill>
                  <a:srgbClr val="000000"/>
                </a:solidFill>
                <a:latin typeface="Canva Sans"/>
                <a:ea typeface="Canva Sans"/>
                <a:cs typeface="Canva Sans"/>
                <a:sym typeface="Canva Sans"/>
              </a:rPr>
              <a:t>sobre</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alocação</a:t>
            </a:r>
            <a:r>
              <a:rPr lang="en-US" sz="2000" dirty="0">
                <a:solidFill>
                  <a:srgbClr val="000000"/>
                </a:solidFill>
                <a:latin typeface="Canva Sans"/>
                <a:ea typeface="Canva Sans"/>
                <a:cs typeface="Canva Sans"/>
                <a:sym typeface="Canva Sans"/>
              </a:rPr>
              <a:t> de estoque, </a:t>
            </a:r>
            <a:r>
              <a:rPr lang="en-US" sz="2000" dirty="0" err="1">
                <a:solidFill>
                  <a:srgbClr val="000000"/>
                </a:solidFill>
                <a:latin typeface="Canva Sans"/>
                <a:ea typeface="Canva Sans"/>
                <a:cs typeface="Canva Sans"/>
                <a:sym typeface="Canva Sans"/>
              </a:rPr>
              <a:t>expansão</a:t>
            </a:r>
            <a:r>
              <a:rPr lang="en-US" sz="2000" dirty="0">
                <a:solidFill>
                  <a:srgbClr val="000000"/>
                </a:solidFill>
                <a:latin typeface="Canva Sans"/>
                <a:ea typeface="Canva Sans"/>
                <a:cs typeface="Canva Sans"/>
                <a:sym typeface="Canva Sans"/>
              </a:rPr>
              <a:t> e </a:t>
            </a:r>
            <a:r>
              <a:rPr lang="en-US" sz="2000" dirty="0" err="1">
                <a:solidFill>
                  <a:srgbClr val="000000"/>
                </a:solidFill>
                <a:latin typeface="Canva Sans"/>
                <a:ea typeface="Canva Sans"/>
                <a:cs typeface="Canva Sans"/>
                <a:sym typeface="Canva Sans"/>
              </a:rPr>
              <a:t>otimização</a:t>
            </a:r>
            <a:r>
              <a:rPr lang="en-US" sz="2000" dirty="0">
                <a:solidFill>
                  <a:srgbClr val="000000"/>
                </a:solidFill>
                <a:latin typeface="Canva Sans"/>
                <a:ea typeface="Canva Sans"/>
                <a:cs typeface="Canva Sans"/>
                <a:sym typeface="Canva Sans"/>
              </a:rPr>
              <a:t> de </a:t>
            </a:r>
            <a:r>
              <a:rPr lang="en-US" sz="2000" dirty="0" err="1">
                <a:solidFill>
                  <a:srgbClr val="000000"/>
                </a:solidFill>
                <a:latin typeface="Canva Sans"/>
                <a:ea typeface="Canva Sans"/>
                <a:cs typeface="Canva Sans"/>
                <a:sym typeface="Canva Sans"/>
              </a:rPr>
              <a:t>processos</a:t>
            </a:r>
            <a:r>
              <a:rPr lang="en-US" sz="2000" dirty="0">
                <a:solidFill>
                  <a:srgbClr val="000000"/>
                </a:solidFill>
                <a:latin typeface="Canva Sans"/>
                <a:ea typeface="Canva Sans"/>
                <a:cs typeface="Canva Sans"/>
                <a:sym typeface="Canva Sans"/>
              </a:rPr>
              <a:t>.</a:t>
            </a:r>
          </a:p>
          <a:p>
            <a:pPr algn="just">
              <a:lnSpc>
                <a:spcPts val="2800"/>
              </a:lnSpc>
            </a:pPr>
            <a:endParaRPr lang="en-US" sz="2000" dirty="0">
              <a:solidFill>
                <a:srgbClr val="000000"/>
              </a:solidFill>
              <a:latin typeface="Canva Sans"/>
              <a:ea typeface="Canva Sans"/>
              <a:cs typeface="Canva Sans"/>
              <a:sym typeface="Canva Sans"/>
            </a:endParaRPr>
          </a:p>
          <a:p>
            <a:pPr algn="just">
              <a:lnSpc>
                <a:spcPts val="2800"/>
              </a:lnSpc>
            </a:pPr>
            <a:endParaRPr lang="en-US" sz="2000" dirty="0">
              <a:solidFill>
                <a:srgbClr val="000000"/>
              </a:solidFill>
              <a:latin typeface="Canva Sans"/>
              <a:ea typeface="Canva Sans"/>
              <a:cs typeface="Canva Sans"/>
              <a:sym typeface="Canva Sans"/>
            </a:endParaRPr>
          </a:p>
          <a:p>
            <a:pPr algn="just">
              <a:lnSpc>
                <a:spcPts val="3920"/>
              </a:lnSpc>
            </a:pPr>
            <a:r>
              <a:rPr lang="en-US" sz="2800" b="1" dirty="0" err="1">
                <a:solidFill>
                  <a:srgbClr val="000000"/>
                </a:solidFill>
                <a:latin typeface="Canva Sans Bold"/>
                <a:ea typeface="Canva Sans Bold"/>
                <a:cs typeface="Canva Sans Bold"/>
                <a:sym typeface="Canva Sans Bold"/>
              </a:rPr>
              <a:t>Empoderando</a:t>
            </a:r>
            <a:r>
              <a:rPr lang="en-US" sz="2800" b="1" dirty="0">
                <a:solidFill>
                  <a:srgbClr val="000000"/>
                </a:solidFill>
                <a:latin typeface="Canva Sans Bold"/>
                <a:ea typeface="Canva Sans Bold"/>
                <a:cs typeface="Canva Sans Bold"/>
                <a:sym typeface="Canva Sans Bold"/>
              </a:rPr>
              <a:t> </a:t>
            </a:r>
          </a:p>
          <a:p>
            <a:pPr algn="just">
              <a:lnSpc>
                <a:spcPts val="3920"/>
              </a:lnSpc>
            </a:pPr>
            <a:r>
              <a:rPr lang="en-US" sz="2800" b="1" dirty="0" err="1">
                <a:solidFill>
                  <a:srgbClr val="000000"/>
                </a:solidFill>
                <a:latin typeface="Canva Sans Bold"/>
                <a:ea typeface="Canva Sans Bold"/>
                <a:cs typeface="Canva Sans Bold"/>
                <a:sym typeface="Canva Sans Bold"/>
              </a:rPr>
              <a:t>os</a:t>
            </a:r>
            <a:r>
              <a:rPr lang="en-US" sz="2800" b="1" dirty="0">
                <a:solidFill>
                  <a:srgbClr val="000000"/>
                </a:solidFill>
                <a:latin typeface="Canva Sans Bold"/>
                <a:ea typeface="Canva Sans Bold"/>
                <a:cs typeface="Canva Sans Bold"/>
                <a:sym typeface="Canva Sans Bold"/>
              </a:rPr>
              <a:t> </a:t>
            </a:r>
            <a:r>
              <a:rPr lang="en-US" sz="2800" b="1" dirty="0" err="1">
                <a:solidFill>
                  <a:srgbClr val="000000"/>
                </a:solidFill>
                <a:latin typeface="Canva Sans Bold"/>
                <a:ea typeface="Canva Sans Bold"/>
                <a:cs typeface="Canva Sans Bold"/>
                <a:sym typeface="Canva Sans Bold"/>
              </a:rPr>
              <a:t>tomadores</a:t>
            </a:r>
            <a:r>
              <a:rPr lang="en-US" sz="2800" b="1" dirty="0">
                <a:solidFill>
                  <a:srgbClr val="000000"/>
                </a:solidFill>
                <a:latin typeface="Canva Sans Bold"/>
                <a:ea typeface="Canva Sans Bold"/>
                <a:cs typeface="Canva Sans Bold"/>
                <a:sym typeface="Canva Sans Bold"/>
              </a:rPr>
              <a:t> de </a:t>
            </a:r>
            <a:r>
              <a:rPr lang="en-US" sz="2800" b="1" dirty="0" err="1">
                <a:solidFill>
                  <a:srgbClr val="000000"/>
                </a:solidFill>
                <a:latin typeface="Canva Sans Bold"/>
                <a:ea typeface="Canva Sans Bold"/>
                <a:cs typeface="Canva Sans Bold"/>
                <a:sym typeface="Canva Sans Bold"/>
              </a:rPr>
              <a:t>decisão</a:t>
            </a:r>
            <a:r>
              <a:rPr lang="en-US" sz="2800" b="1" dirty="0">
                <a:solidFill>
                  <a:srgbClr val="000000"/>
                </a:solidFill>
                <a:latin typeface="Canva Sans Bold"/>
                <a:ea typeface="Canva Sans Bold"/>
                <a:cs typeface="Canva Sans Bold"/>
                <a:sym typeface="Canva Sans Bold"/>
              </a:rPr>
              <a:t>!</a:t>
            </a:r>
          </a:p>
          <a:p>
            <a:pPr algn="just">
              <a:lnSpc>
                <a:spcPts val="2800"/>
              </a:lnSpc>
            </a:pPr>
            <a:endParaRPr lang="en-US" sz="2800" b="1" dirty="0">
              <a:solidFill>
                <a:srgbClr val="000000"/>
              </a:solidFill>
              <a:latin typeface="Canva Sans Bold"/>
              <a:ea typeface="Canva Sans Bold"/>
              <a:cs typeface="Canva Sans Bold"/>
              <a:sym typeface="Canva Sans Bold"/>
            </a:endParaRPr>
          </a:p>
          <a:p>
            <a:pPr algn="just">
              <a:lnSpc>
                <a:spcPts val="1540"/>
              </a:lnSpc>
            </a:pPr>
            <a:endParaRPr lang="en-US" sz="2800" b="1" dirty="0">
              <a:solidFill>
                <a:srgbClr val="000000"/>
              </a:solidFill>
              <a:latin typeface="Canva Sans Bold"/>
              <a:ea typeface="Canva Sans Bold"/>
              <a:cs typeface="Canva Sans Bold"/>
              <a:sym typeface="Canva Sans Bold"/>
            </a:endParaRPr>
          </a:p>
        </p:txBody>
      </p:sp>
      <p:sp>
        <p:nvSpPr>
          <p:cNvPr id="13" name="TextBox 13"/>
          <p:cNvSpPr txBox="1"/>
          <p:nvPr/>
        </p:nvSpPr>
        <p:spPr>
          <a:xfrm>
            <a:off x="11210811" y="1969771"/>
            <a:ext cx="6265251" cy="6261734"/>
          </a:xfrm>
          <a:prstGeom prst="rect">
            <a:avLst/>
          </a:prstGeom>
        </p:spPr>
        <p:txBody>
          <a:bodyPr lIns="0" tIns="0" rIns="0" bIns="0" rtlCol="0" anchor="t">
            <a:spAutoFit/>
          </a:bodyPr>
          <a:lstStyle/>
          <a:p>
            <a:pPr algn="l">
              <a:lnSpc>
                <a:spcPts val="2240"/>
              </a:lnSpc>
            </a:pPr>
            <a:endParaRPr/>
          </a:p>
          <a:p>
            <a:pPr marL="345449" lvl="1" indent="-172725" algn="l">
              <a:lnSpc>
                <a:spcPts val="2240"/>
              </a:lnSpc>
              <a:buFont typeface="Arial"/>
              <a:buChar char="•"/>
            </a:pPr>
            <a:r>
              <a:rPr lang="en-US" sz="1600" b="1">
                <a:solidFill>
                  <a:srgbClr val="000000"/>
                </a:solidFill>
                <a:latin typeface="Canva Sans Bold"/>
                <a:ea typeface="Canva Sans Bold"/>
                <a:cs typeface="Canva Sans Bold"/>
                <a:sym typeface="Canva Sans Bold"/>
              </a:rPr>
              <a:t>Gerentes de Vendas:</a:t>
            </a:r>
          </a:p>
          <a:p>
            <a:pPr marL="690898" lvl="2" indent="-230299" algn="l">
              <a:lnSpc>
                <a:spcPts val="2240"/>
              </a:lnSpc>
              <a:buFont typeface="Arial"/>
              <a:buChar char="⚬"/>
            </a:pPr>
            <a:r>
              <a:rPr lang="en-US" sz="1600">
                <a:solidFill>
                  <a:srgbClr val="000000"/>
                </a:solidFill>
                <a:latin typeface="Canva Sans"/>
                <a:ea typeface="Canva Sans"/>
                <a:cs typeface="Canva Sans"/>
                <a:sym typeface="Canva Sans"/>
              </a:rPr>
              <a:t>Necessidade: Insights para otimizar estratégias de vendas, identificar clientes de alto valor e direcionar campanhas.</a:t>
            </a:r>
          </a:p>
          <a:p>
            <a:pPr marL="690898" lvl="2" indent="-230299" algn="l">
              <a:lnSpc>
                <a:spcPts val="2240"/>
              </a:lnSpc>
              <a:buFont typeface="Arial"/>
              <a:buChar char="⚬"/>
            </a:pPr>
            <a:r>
              <a:rPr lang="en-US" sz="1600">
                <a:solidFill>
                  <a:srgbClr val="000000"/>
                </a:solidFill>
                <a:latin typeface="Canva Sans"/>
                <a:ea typeface="Canva Sans"/>
                <a:cs typeface="Canva Sans"/>
                <a:sym typeface="Canva Sans"/>
              </a:rPr>
              <a:t>Benefício: Dashboards de desempenho, segmentação de clientes e análise de tendências para impulsionar o faturamento.</a:t>
            </a:r>
          </a:p>
          <a:p>
            <a:pPr algn="l">
              <a:lnSpc>
                <a:spcPts val="2240"/>
              </a:lnSpc>
            </a:pPr>
            <a:endParaRPr lang="en-US" sz="1600">
              <a:solidFill>
                <a:srgbClr val="000000"/>
              </a:solidFill>
              <a:latin typeface="Canva Sans"/>
              <a:ea typeface="Canva Sans"/>
              <a:cs typeface="Canva Sans"/>
              <a:sym typeface="Canva Sans"/>
            </a:endParaRPr>
          </a:p>
          <a:p>
            <a:pPr marL="345449" lvl="1" indent="-172725" algn="l">
              <a:lnSpc>
                <a:spcPts val="2240"/>
              </a:lnSpc>
              <a:buFont typeface="Arial"/>
              <a:buChar char="•"/>
            </a:pPr>
            <a:r>
              <a:rPr lang="en-US" sz="1600" b="1">
                <a:solidFill>
                  <a:srgbClr val="000000"/>
                </a:solidFill>
                <a:latin typeface="Canva Sans Bold"/>
                <a:ea typeface="Canva Sans Bold"/>
                <a:cs typeface="Canva Sans Bold"/>
                <a:sym typeface="Canva Sans Bold"/>
              </a:rPr>
              <a:t>Gerentes de Produto:</a:t>
            </a:r>
          </a:p>
          <a:p>
            <a:pPr marL="690898" lvl="2" indent="-230299" algn="l">
              <a:lnSpc>
                <a:spcPts val="2240"/>
              </a:lnSpc>
              <a:buFont typeface="Arial"/>
              <a:buChar char="⚬"/>
            </a:pPr>
            <a:r>
              <a:rPr lang="en-US" sz="1600">
                <a:solidFill>
                  <a:srgbClr val="000000"/>
                </a:solidFill>
                <a:latin typeface="Canva Sans"/>
                <a:ea typeface="Canva Sans"/>
                <a:cs typeface="Canva Sans"/>
                <a:sym typeface="Canva Sans"/>
              </a:rPr>
              <a:t>Necessidade: Compreender a rentabilidade de cada item para otimizar o mix e definir preços competitivos.</a:t>
            </a:r>
          </a:p>
          <a:p>
            <a:pPr marL="690898" lvl="2" indent="-230299" algn="l">
              <a:lnSpc>
                <a:spcPts val="2240"/>
              </a:lnSpc>
              <a:buFont typeface="Arial"/>
              <a:buChar char="⚬"/>
            </a:pPr>
            <a:r>
              <a:rPr lang="en-US" sz="1600">
                <a:solidFill>
                  <a:srgbClr val="000000"/>
                </a:solidFill>
                <a:latin typeface="Canva Sans"/>
                <a:ea typeface="Canva Sans"/>
                <a:cs typeface="Canva Sans"/>
                <a:sym typeface="Canva Sans"/>
              </a:rPr>
              <a:t>Benefício: Relatórios de margem de lucro, identificação de produtos "estrela" e "abacaxi", e simulação de precificação.</a:t>
            </a:r>
          </a:p>
          <a:p>
            <a:pPr algn="l">
              <a:lnSpc>
                <a:spcPts val="2240"/>
              </a:lnSpc>
            </a:pPr>
            <a:endParaRPr lang="en-US" sz="1600">
              <a:solidFill>
                <a:srgbClr val="000000"/>
              </a:solidFill>
              <a:latin typeface="Canva Sans"/>
              <a:ea typeface="Canva Sans"/>
              <a:cs typeface="Canva Sans"/>
              <a:sym typeface="Canva Sans"/>
            </a:endParaRPr>
          </a:p>
          <a:p>
            <a:pPr marL="345449" lvl="1" indent="-172725" algn="l">
              <a:lnSpc>
                <a:spcPts val="2240"/>
              </a:lnSpc>
              <a:buFont typeface="Arial"/>
              <a:buChar char="•"/>
            </a:pPr>
            <a:r>
              <a:rPr lang="en-US" sz="1600" b="1">
                <a:solidFill>
                  <a:srgbClr val="000000"/>
                </a:solidFill>
                <a:latin typeface="Canva Sans Bold"/>
                <a:ea typeface="Canva Sans Bold"/>
                <a:cs typeface="Canva Sans Bold"/>
                <a:sym typeface="Canva Sans Bold"/>
              </a:rPr>
              <a:t>Gerentes de Estoque:</a:t>
            </a:r>
          </a:p>
          <a:p>
            <a:pPr marL="690898" lvl="2" indent="-230299" algn="l">
              <a:lnSpc>
                <a:spcPts val="2240"/>
              </a:lnSpc>
              <a:buFont typeface="Arial"/>
              <a:buChar char="⚬"/>
            </a:pPr>
            <a:r>
              <a:rPr lang="en-US" sz="1600">
                <a:solidFill>
                  <a:srgbClr val="000000"/>
                </a:solidFill>
                <a:latin typeface="Canva Sans"/>
                <a:ea typeface="Canva Sans"/>
                <a:cs typeface="Canva Sans"/>
                <a:sym typeface="Canva Sans"/>
              </a:rPr>
              <a:t>Necessidade: Previsões de demanda para otimizar níveis de estoque e evitar perdas por excesso ou falta.</a:t>
            </a:r>
          </a:p>
          <a:p>
            <a:pPr marL="690898" lvl="2" indent="-230299" algn="l">
              <a:lnSpc>
                <a:spcPts val="2240"/>
              </a:lnSpc>
              <a:buFont typeface="Arial"/>
              <a:buChar char="⚬"/>
            </a:pPr>
            <a:r>
              <a:rPr lang="en-US" sz="1600">
                <a:solidFill>
                  <a:srgbClr val="000000"/>
                </a:solidFill>
                <a:latin typeface="Canva Sans"/>
                <a:ea typeface="Canva Sans"/>
                <a:cs typeface="Canva Sans"/>
                <a:sym typeface="Canva Sans"/>
              </a:rPr>
              <a:t>Benefício: Análise preditiva de vendas e recomendações para um gerenciamento de inventário mais eficiente.</a:t>
            </a:r>
          </a:p>
          <a:p>
            <a:pPr algn="l">
              <a:lnSpc>
                <a:spcPts val="2240"/>
              </a:lnSpc>
            </a:pPr>
            <a:endParaRPr lang="en-US" sz="1600">
              <a:solidFill>
                <a:srgbClr val="000000"/>
              </a:solidFill>
              <a:latin typeface="Canva Sans"/>
              <a:ea typeface="Canva Sans"/>
              <a:cs typeface="Canva Sans"/>
              <a:sym typeface="Canva Sans"/>
            </a:endParaRPr>
          </a:p>
          <a:p>
            <a:pPr algn="l">
              <a:lnSpc>
                <a:spcPts val="1540"/>
              </a:lnSpc>
            </a:pPr>
            <a:endParaRPr lang="en-US" sz="1600">
              <a:solidFill>
                <a:srgbClr val="000000"/>
              </a:solidFill>
              <a:latin typeface="Canva Sans"/>
              <a:ea typeface="Canva Sans"/>
              <a:cs typeface="Canva Sans"/>
              <a:sym typeface="Canva Sans"/>
            </a:endParaRPr>
          </a:p>
        </p:txBody>
      </p:sp>
      <p:sp>
        <p:nvSpPr>
          <p:cNvPr id="14" name="TextBox 14"/>
          <p:cNvSpPr txBox="1"/>
          <p:nvPr/>
        </p:nvSpPr>
        <p:spPr>
          <a:xfrm>
            <a:off x="4029092" y="1178241"/>
            <a:ext cx="3248011" cy="405943"/>
          </a:xfrm>
          <a:prstGeom prst="rect">
            <a:avLst/>
          </a:prstGeom>
        </p:spPr>
        <p:txBody>
          <a:bodyPr lIns="0" tIns="0" rIns="0" bIns="0" rtlCol="0" anchor="t">
            <a:spAutoFit/>
          </a:bodyPr>
          <a:lstStyle/>
          <a:p>
            <a:pPr marL="0" lvl="0" indent="0" algn="l">
              <a:lnSpc>
                <a:spcPts val="3350"/>
              </a:lnSpc>
              <a:spcBef>
                <a:spcPct val="0"/>
              </a:spcBef>
            </a:pPr>
            <a:r>
              <a:rPr lang="en-US" sz="2392">
                <a:solidFill>
                  <a:srgbClr val="333333"/>
                </a:solidFill>
                <a:latin typeface="League Spartan"/>
                <a:ea typeface="League Spartan"/>
                <a:cs typeface="League Spartan"/>
                <a:sym typeface="League Spartan"/>
              </a:rPr>
              <a:t>Público Primário</a:t>
            </a:r>
          </a:p>
        </p:txBody>
      </p:sp>
      <p:sp>
        <p:nvSpPr>
          <p:cNvPr id="15" name="TextBox 15"/>
          <p:cNvSpPr txBox="1"/>
          <p:nvPr/>
        </p:nvSpPr>
        <p:spPr>
          <a:xfrm>
            <a:off x="11210811" y="1178241"/>
            <a:ext cx="3248011" cy="405943"/>
          </a:xfrm>
          <a:prstGeom prst="rect">
            <a:avLst/>
          </a:prstGeom>
        </p:spPr>
        <p:txBody>
          <a:bodyPr lIns="0" tIns="0" rIns="0" bIns="0" rtlCol="0" anchor="t">
            <a:spAutoFit/>
          </a:bodyPr>
          <a:lstStyle/>
          <a:p>
            <a:pPr marL="0" lvl="0" indent="0" algn="l">
              <a:lnSpc>
                <a:spcPts val="3350"/>
              </a:lnSpc>
              <a:spcBef>
                <a:spcPct val="0"/>
              </a:spcBef>
            </a:pPr>
            <a:r>
              <a:rPr lang="en-US" sz="2392">
                <a:solidFill>
                  <a:srgbClr val="333333"/>
                </a:solidFill>
                <a:latin typeface="League Spartan"/>
                <a:ea typeface="League Spartan"/>
                <a:cs typeface="League Spartan"/>
                <a:sym typeface="League Spartan"/>
              </a:rPr>
              <a:t>Público Secundário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36520" y="-163675"/>
            <a:ext cx="14283868" cy="10709601"/>
            <a:chOff x="0" y="0"/>
            <a:chExt cx="3762007" cy="2820636"/>
          </a:xfrm>
        </p:grpSpPr>
        <p:sp>
          <p:nvSpPr>
            <p:cNvPr id="3" name="Freeform 3"/>
            <p:cNvSpPr/>
            <p:nvPr/>
          </p:nvSpPr>
          <p:spPr>
            <a:xfrm>
              <a:off x="0" y="0"/>
              <a:ext cx="3762006" cy="2820636"/>
            </a:xfrm>
            <a:custGeom>
              <a:avLst/>
              <a:gdLst/>
              <a:ahLst/>
              <a:cxnLst/>
              <a:rect l="l" t="t" r="r" b="b"/>
              <a:pathLst>
                <a:path w="3762006" h="2820636">
                  <a:moveTo>
                    <a:pt x="0" y="0"/>
                  </a:moveTo>
                  <a:lnTo>
                    <a:pt x="3762006" y="0"/>
                  </a:lnTo>
                  <a:lnTo>
                    <a:pt x="3762006" y="2820636"/>
                  </a:lnTo>
                  <a:lnTo>
                    <a:pt x="0" y="2820636"/>
                  </a:lnTo>
                  <a:close/>
                </a:path>
              </a:pathLst>
            </a:custGeom>
            <a:solidFill>
              <a:srgbClr val="FFCD46"/>
            </a:solidFill>
          </p:spPr>
          <p:txBody>
            <a:bodyPr/>
            <a:lstStyle/>
            <a:p>
              <a:endParaRPr lang="pt-BR"/>
            </a:p>
          </p:txBody>
        </p:sp>
        <p:sp>
          <p:nvSpPr>
            <p:cNvPr id="4" name="TextBox 4"/>
            <p:cNvSpPr txBox="1"/>
            <p:nvPr/>
          </p:nvSpPr>
          <p:spPr>
            <a:xfrm>
              <a:off x="0" y="-47625"/>
              <a:ext cx="3762007" cy="2868261"/>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5181125" y="-5745784"/>
            <a:ext cx="9354617" cy="93546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D2B4"/>
            </a:solidFill>
          </p:spPr>
          <p:txBody>
            <a:bodyPr/>
            <a:lstStyle/>
            <a:p>
              <a:endParaRPr lang="pt-BR"/>
            </a:p>
          </p:txBody>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6380"/>
                </a:lnSpc>
              </a:pPr>
              <a:endParaRPr/>
            </a:p>
          </p:txBody>
        </p:sp>
      </p:grpSp>
      <p:sp>
        <p:nvSpPr>
          <p:cNvPr id="8" name="TextBox 8"/>
          <p:cNvSpPr txBox="1"/>
          <p:nvPr/>
        </p:nvSpPr>
        <p:spPr>
          <a:xfrm>
            <a:off x="826823" y="4230508"/>
            <a:ext cx="5881548" cy="912992"/>
          </a:xfrm>
          <a:prstGeom prst="rect">
            <a:avLst/>
          </a:prstGeom>
        </p:spPr>
        <p:txBody>
          <a:bodyPr lIns="0" tIns="0" rIns="0" bIns="0" rtlCol="0" anchor="t">
            <a:spAutoFit/>
          </a:bodyPr>
          <a:lstStyle/>
          <a:p>
            <a:pPr algn="l">
              <a:lnSpc>
                <a:spcPts val="7427"/>
              </a:lnSpc>
            </a:pPr>
            <a:r>
              <a:rPr lang="en-US" sz="5305">
                <a:solidFill>
                  <a:srgbClr val="000000"/>
                </a:solidFill>
                <a:latin typeface="League Spartan"/>
                <a:ea typeface="League Spartan"/>
                <a:cs typeface="League Spartan"/>
                <a:sym typeface="League Spartan"/>
              </a:rPr>
              <a:t>Funcionalidades</a:t>
            </a:r>
          </a:p>
        </p:txBody>
      </p:sp>
      <p:sp>
        <p:nvSpPr>
          <p:cNvPr id="9" name="TextBox 9"/>
          <p:cNvSpPr txBox="1"/>
          <p:nvPr/>
        </p:nvSpPr>
        <p:spPr>
          <a:xfrm>
            <a:off x="826823" y="5454015"/>
            <a:ext cx="5530561" cy="3804285"/>
          </a:xfrm>
          <a:prstGeom prst="rect">
            <a:avLst/>
          </a:prstGeom>
        </p:spPr>
        <p:txBody>
          <a:bodyPr lIns="0" tIns="0" rIns="0" bIns="0" rtlCol="0" anchor="t">
            <a:spAutoFit/>
          </a:bodyPr>
          <a:lstStyle/>
          <a:p>
            <a:pPr algn="just">
              <a:lnSpc>
                <a:spcPts val="2529"/>
              </a:lnSpc>
            </a:pPr>
            <a:endParaRPr/>
          </a:p>
          <a:p>
            <a:pPr algn="just">
              <a:lnSpc>
                <a:spcPts val="2700"/>
              </a:lnSpc>
            </a:pPr>
            <a:r>
              <a:rPr lang="en-US" sz="2000">
                <a:solidFill>
                  <a:srgbClr val="000000"/>
                </a:solidFill>
                <a:latin typeface="Canva Sans"/>
                <a:ea typeface="Canva Sans"/>
                <a:cs typeface="Canva Sans"/>
                <a:sym typeface="Canva Sans"/>
              </a:rPr>
              <a:t>Transformando Dados para tomada de decisão. </a:t>
            </a:r>
          </a:p>
          <a:p>
            <a:pPr algn="just">
              <a:lnSpc>
                <a:spcPts val="2700"/>
              </a:lnSpc>
            </a:pPr>
            <a:endParaRPr lang="en-US" sz="2000">
              <a:solidFill>
                <a:srgbClr val="000000"/>
              </a:solidFill>
              <a:latin typeface="Canva Sans"/>
              <a:ea typeface="Canva Sans"/>
              <a:cs typeface="Canva Sans"/>
              <a:sym typeface="Canva Sans"/>
            </a:endParaRPr>
          </a:p>
          <a:p>
            <a:pPr algn="just">
              <a:lnSpc>
                <a:spcPts val="2700"/>
              </a:lnSpc>
            </a:pPr>
            <a:r>
              <a:rPr lang="en-US" sz="2000">
                <a:solidFill>
                  <a:srgbClr val="000000"/>
                </a:solidFill>
                <a:latin typeface="Canva Sans"/>
                <a:ea typeface="Canva Sans"/>
                <a:cs typeface="Canva Sans"/>
                <a:sym typeface="Canva Sans"/>
              </a:rPr>
              <a:t>Com base nas notas fiscais, geramos dados que poderão ser visualizados em diversos pontos de vistas, gerando valor ao negócio.</a:t>
            </a:r>
          </a:p>
          <a:p>
            <a:pPr algn="just">
              <a:lnSpc>
                <a:spcPts val="2300"/>
              </a:lnSpc>
            </a:pPr>
            <a:endParaRPr lang="en-US" sz="2000">
              <a:solidFill>
                <a:srgbClr val="000000"/>
              </a:solidFill>
              <a:latin typeface="Canva Sans"/>
              <a:ea typeface="Canva Sans"/>
              <a:cs typeface="Canva Sans"/>
              <a:sym typeface="Canva Sans"/>
            </a:endParaRPr>
          </a:p>
          <a:p>
            <a:pPr algn="just">
              <a:lnSpc>
                <a:spcPts val="2300"/>
              </a:lnSpc>
            </a:pPr>
            <a:endParaRPr lang="en-US" sz="2000">
              <a:solidFill>
                <a:srgbClr val="000000"/>
              </a:solidFill>
              <a:latin typeface="Canva Sans"/>
              <a:ea typeface="Canva Sans"/>
              <a:cs typeface="Canva Sans"/>
              <a:sym typeface="Canva Sans"/>
            </a:endParaRPr>
          </a:p>
          <a:p>
            <a:pPr algn="just">
              <a:lnSpc>
                <a:spcPts val="2300"/>
              </a:lnSpc>
            </a:pPr>
            <a:endParaRPr lang="en-US" sz="2000">
              <a:solidFill>
                <a:srgbClr val="000000"/>
              </a:solidFill>
              <a:latin typeface="Canva Sans"/>
              <a:ea typeface="Canva Sans"/>
              <a:cs typeface="Canva Sans"/>
              <a:sym typeface="Canva Sans"/>
            </a:endParaRPr>
          </a:p>
          <a:p>
            <a:pPr algn="just">
              <a:lnSpc>
                <a:spcPts val="2300"/>
              </a:lnSpc>
            </a:pPr>
            <a:endParaRPr lang="en-US" sz="2000">
              <a:solidFill>
                <a:srgbClr val="000000"/>
              </a:solidFill>
              <a:latin typeface="Canva Sans"/>
              <a:ea typeface="Canva Sans"/>
              <a:cs typeface="Canva Sans"/>
              <a:sym typeface="Canva Sans"/>
            </a:endParaRPr>
          </a:p>
          <a:p>
            <a:pPr algn="just">
              <a:lnSpc>
                <a:spcPts val="2300"/>
              </a:lnSpc>
            </a:pPr>
            <a:endParaRPr lang="en-US" sz="2000">
              <a:solidFill>
                <a:srgbClr val="000000"/>
              </a:solidFill>
              <a:latin typeface="Canva Sans"/>
              <a:ea typeface="Canva Sans"/>
              <a:cs typeface="Canva Sans"/>
              <a:sym typeface="Canva Sans"/>
            </a:endParaRPr>
          </a:p>
        </p:txBody>
      </p:sp>
      <p:sp>
        <p:nvSpPr>
          <p:cNvPr id="10" name="TextBox 10"/>
          <p:cNvSpPr txBox="1"/>
          <p:nvPr/>
        </p:nvSpPr>
        <p:spPr>
          <a:xfrm>
            <a:off x="7954974" y="2102168"/>
            <a:ext cx="10005003" cy="6763390"/>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Canva Sans Bold"/>
                <a:ea typeface="Canva Sans Bold"/>
                <a:cs typeface="Canva Sans Bold"/>
                <a:sym typeface="Canva Sans Bold"/>
              </a:rPr>
              <a:t>A </a:t>
            </a:r>
            <a:r>
              <a:rPr lang="en-US" sz="2100" b="1" dirty="0" err="1">
                <a:solidFill>
                  <a:srgbClr val="000000"/>
                </a:solidFill>
                <a:latin typeface="Canva Sans Bold"/>
                <a:ea typeface="Canva Sans Bold"/>
                <a:cs typeface="Canva Sans Bold"/>
                <a:sym typeface="Canva Sans Bold"/>
              </a:rPr>
              <a:t>solução</a:t>
            </a:r>
            <a:r>
              <a:rPr lang="en-US" sz="2100" b="1" dirty="0">
                <a:solidFill>
                  <a:srgbClr val="000000"/>
                </a:solidFill>
                <a:latin typeface="Canva Sans Bold"/>
                <a:ea typeface="Canva Sans Bold"/>
                <a:cs typeface="Canva Sans Bold"/>
                <a:sym typeface="Canva Sans Bold"/>
              </a:rPr>
              <a:t> Gaia é user friendly e </a:t>
            </a:r>
            <a:r>
              <a:rPr lang="en-US" sz="2100" b="1" dirty="0" err="1">
                <a:solidFill>
                  <a:srgbClr val="000000"/>
                </a:solidFill>
                <a:latin typeface="Canva Sans Bold"/>
                <a:ea typeface="Canva Sans Bold"/>
                <a:cs typeface="Canva Sans Bold"/>
                <a:sym typeface="Canva Sans Bold"/>
              </a:rPr>
              <a:t>possui</a:t>
            </a:r>
            <a:r>
              <a:rPr lang="en-US" sz="2100" b="1" dirty="0">
                <a:solidFill>
                  <a:srgbClr val="000000"/>
                </a:solidFill>
                <a:latin typeface="Canva Sans Bold"/>
                <a:ea typeface="Canva Sans Bold"/>
                <a:cs typeface="Canva Sans Bold"/>
                <a:sym typeface="Canva Sans Bold"/>
              </a:rPr>
              <a:t> as </a:t>
            </a:r>
            <a:r>
              <a:rPr lang="en-US" sz="2100" b="1" dirty="0" err="1">
                <a:solidFill>
                  <a:srgbClr val="000000"/>
                </a:solidFill>
                <a:latin typeface="Canva Sans Bold"/>
                <a:ea typeface="Canva Sans Bold"/>
                <a:cs typeface="Canva Sans Bold"/>
                <a:sym typeface="Canva Sans Bold"/>
              </a:rPr>
              <a:t>seguintes</a:t>
            </a:r>
            <a:r>
              <a:rPr lang="en-US" sz="2100" b="1" dirty="0">
                <a:solidFill>
                  <a:srgbClr val="000000"/>
                </a:solidFill>
                <a:latin typeface="Canva Sans Bold"/>
                <a:ea typeface="Canva Sans Bold"/>
                <a:cs typeface="Canva Sans Bold"/>
                <a:sym typeface="Canva Sans Bold"/>
              </a:rPr>
              <a:t> </a:t>
            </a:r>
            <a:r>
              <a:rPr lang="en-US" sz="2100" b="1" dirty="0" err="1">
                <a:solidFill>
                  <a:srgbClr val="000000"/>
                </a:solidFill>
                <a:latin typeface="Canva Sans Bold"/>
                <a:ea typeface="Canva Sans Bold"/>
                <a:cs typeface="Canva Sans Bold"/>
                <a:sym typeface="Canva Sans Bold"/>
              </a:rPr>
              <a:t>funções</a:t>
            </a:r>
            <a:r>
              <a:rPr lang="en-US" sz="2100" b="1" dirty="0">
                <a:solidFill>
                  <a:srgbClr val="000000"/>
                </a:solidFill>
                <a:latin typeface="Canva Sans Bold"/>
                <a:ea typeface="Canva Sans Bold"/>
                <a:cs typeface="Canva Sans Bold"/>
                <a:sym typeface="Canva Sans Bold"/>
              </a:rPr>
              <a:t> </a:t>
            </a:r>
            <a:r>
              <a:rPr lang="en-US" sz="2100" b="1" dirty="0" err="1">
                <a:solidFill>
                  <a:srgbClr val="000000"/>
                </a:solidFill>
                <a:latin typeface="Canva Sans Bold"/>
                <a:ea typeface="Canva Sans Bold"/>
                <a:cs typeface="Canva Sans Bold"/>
                <a:sym typeface="Canva Sans Bold"/>
              </a:rPr>
              <a:t>estratégicas</a:t>
            </a:r>
            <a:r>
              <a:rPr lang="en-US" sz="2100" b="1" dirty="0">
                <a:solidFill>
                  <a:srgbClr val="000000"/>
                </a:solidFill>
                <a:latin typeface="Canva Sans Bold"/>
                <a:ea typeface="Canva Sans Bold"/>
                <a:cs typeface="Canva Sans Bold"/>
                <a:sym typeface="Canva Sans Bold"/>
              </a:rPr>
              <a:t>:</a:t>
            </a:r>
          </a:p>
          <a:p>
            <a:pPr algn="l">
              <a:lnSpc>
                <a:spcPts val="2520"/>
              </a:lnSpc>
              <a:spcBef>
                <a:spcPct val="0"/>
              </a:spcBef>
            </a:pPr>
            <a:endParaRPr lang="en-US" sz="2100" b="1" dirty="0">
              <a:solidFill>
                <a:srgbClr val="000000"/>
              </a:solidFill>
              <a:latin typeface="Canva Sans Bold"/>
              <a:ea typeface="Canva Sans Bold"/>
              <a:cs typeface="Canva Sans Bold"/>
              <a:sym typeface="Canva Sans Bold"/>
            </a:endParaRPr>
          </a:p>
          <a:p>
            <a:pPr algn="l">
              <a:lnSpc>
                <a:spcPts val="2520"/>
              </a:lnSpc>
              <a:spcBef>
                <a:spcPct val="0"/>
              </a:spcBef>
            </a:pPr>
            <a:r>
              <a:rPr lang="en-US" sz="1800" dirty="0">
                <a:solidFill>
                  <a:srgbClr val="000000"/>
                </a:solidFill>
                <a:latin typeface="Canva Sans"/>
                <a:ea typeface="Canva Sans"/>
                <a:cs typeface="Canva Sans"/>
                <a:sym typeface="Canva Sans"/>
              </a:rPr>
              <a:t>1. </a:t>
            </a:r>
            <a:r>
              <a:rPr lang="en-US" sz="1800" b="1" dirty="0">
                <a:solidFill>
                  <a:srgbClr val="000000"/>
                </a:solidFill>
                <a:latin typeface="Canva Sans Bold"/>
                <a:ea typeface="Canva Sans Bold"/>
                <a:cs typeface="Canva Sans Bold"/>
                <a:sym typeface="Canva Sans Bold"/>
              </a:rPr>
              <a:t>Dashboards de </a:t>
            </a:r>
            <a:r>
              <a:rPr lang="en-US" sz="1800" b="1" dirty="0" err="1">
                <a:solidFill>
                  <a:srgbClr val="000000"/>
                </a:solidFill>
                <a:latin typeface="Canva Sans Bold"/>
                <a:ea typeface="Canva Sans Bold"/>
                <a:cs typeface="Canva Sans Bold"/>
                <a:sym typeface="Canva Sans Bold"/>
              </a:rPr>
              <a:t>Vendas</a:t>
            </a:r>
            <a:r>
              <a:rPr lang="en-US" sz="1800" b="1" dirty="0">
                <a:solidFill>
                  <a:srgbClr val="000000"/>
                </a:solidFill>
                <a:latin typeface="Canva Sans Bold"/>
                <a:ea typeface="Canva Sans Bold"/>
                <a:cs typeface="Canva Sans Bold"/>
                <a:sym typeface="Canva Sans Bold"/>
              </a:rPr>
              <a:t>: </a:t>
            </a:r>
          </a:p>
          <a:p>
            <a:pPr algn="l">
              <a:lnSpc>
                <a:spcPts val="2520"/>
              </a:lnSpc>
              <a:spcBef>
                <a:spcPct val="0"/>
              </a:spcBef>
            </a:pPr>
            <a:r>
              <a:rPr lang="en-US" sz="1800" dirty="0" err="1">
                <a:solidFill>
                  <a:srgbClr val="000000"/>
                </a:solidFill>
                <a:latin typeface="Canva Sans"/>
                <a:ea typeface="Canva Sans"/>
                <a:cs typeface="Canva Sans"/>
                <a:sym typeface="Canva Sans"/>
              </a:rPr>
              <a:t>Painéis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interativos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mostrando</a:t>
            </a:r>
            <a:r>
              <a:rPr lang="en-US" sz="1800" dirty="0">
                <a:solidFill>
                  <a:srgbClr val="000000"/>
                </a:solidFill>
                <a:latin typeface="Canva Sans"/>
                <a:ea typeface="Canva Sans"/>
                <a:cs typeface="Canva Sans"/>
                <a:sym typeface="Canva Sans"/>
              </a:rPr>
              <a:t> o </a:t>
            </a:r>
            <a:r>
              <a:rPr lang="en-US" sz="1800" dirty="0" err="1">
                <a:solidFill>
                  <a:srgbClr val="000000"/>
                </a:solidFill>
                <a:latin typeface="Canva Sans"/>
                <a:ea typeface="Canva Sans"/>
                <a:cs typeface="Canva Sans"/>
                <a:sym typeface="Canva Sans"/>
              </a:rPr>
              <a:t>desempenho</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vendas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por</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produto</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por</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cliente</a:t>
            </a:r>
            <a:r>
              <a:rPr lang="en-US" sz="1800" dirty="0">
                <a:solidFill>
                  <a:srgbClr val="000000"/>
                </a:solidFill>
                <a:latin typeface="Canva Sans"/>
                <a:ea typeface="Canva Sans"/>
                <a:cs typeface="Canva Sans"/>
                <a:sym typeface="Canva Sans"/>
              </a:rPr>
              <a:t>/</a:t>
            </a:r>
            <a:r>
              <a:rPr lang="en-US" sz="1800" dirty="0" err="1">
                <a:solidFill>
                  <a:srgbClr val="000000"/>
                </a:solidFill>
                <a:latin typeface="Canva Sans"/>
                <a:ea typeface="Canva Sans"/>
                <a:cs typeface="Canva Sans"/>
                <a:sym typeface="Canva Sans"/>
              </a:rPr>
              <a:t>fornecedor</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por</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período</a:t>
            </a:r>
            <a:r>
              <a:rPr lang="en-US" sz="1800" dirty="0">
                <a:solidFill>
                  <a:srgbClr val="000000"/>
                </a:solidFill>
                <a:latin typeface="Canva Sans"/>
                <a:ea typeface="Canva Sans"/>
                <a:cs typeface="Canva Sans"/>
                <a:sym typeface="Canva Sans"/>
              </a:rPr>
              <a:t> e </a:t>
            </a:r>
            <a:r>
              <a:rPr lang="en-US" sz="1800" dirty="0" err="1">
                <a:solidFill>
                  <a:srgbClr val="000000"/>
                </a:solidFill>
                <a:latin typeface="Canva Sans"/>
                <a:ea typeface="Canva Sans"/>
                <a:cs typeface="Canva Sans"/>
                <a:sym typeface="Canva Sans"/>
              </a:rPr>
              <a:t>por</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região</a:t>
            </a:r>
            <a:r>
              <a:rPr lang="en-US" sz="1800" dirty="0">
                <a:solidFill>
                  <a:srgbClr val="000000"/>
                </a:solidFill>
                <a:latin typeface="Canva Sans"/>
                <a:ea typeface="Canva Sans"/>
                <a:cs typeface="Canva Sans"/>
                <a:sym typeface="Canva Sans"/>
              </a:rPr>
              <a:t>.</a:t>
            </a:r>
          </a:p>
          <a:p>
            <a:pPr algn="l">
              <a:lnSpc>
                <a:spcPts val="2520"/>
              </a:lnSpc>
              <a:spcBef>
                <a:spcPct val="0"/>
              </a:spcBef>
            </a:pPr>
            <a:endParaRPr lang="en-US" sz="1800" dirty="0">
              <a:solidFill>
                <a:srgbClr val="000000"/>
              </a:solidFill>
              <a:latin typeface="Canva Sans"/>
              <a:ea typeface="Canva Sans"/>
              <a:cs typeface="Canva Sans"/>
              <a:sym typeface="Canva Sans"/>
            </a:endParaRPr>
          </a:p>
          <a:p>
            <a:pPr algn="l">
              <a:lnSpc>
                <a:spcPts val="2520"/>
              </a:lnSpc>
              <a:spcBef>
                <a:spcPct val="0"/>
              </a:spcBef>
            </a:pPr>
            <a:r>
              <a:rPr lang="en-US" sz="1800" dirty="0">
                <a:solidFill>
                  <a:srgbClr val="000000"/>
                </a:solidFill>
                <a:latin typeface="Canva Sans"/>
                <a:ea typeface="Canva Sans"/>
                <a:cs typeface="Canva Sans"/>
                <a:sym typeface="Canva Sans"/>
              </a:rPr>
              <a:t>2. </a:t>
            </a:r>
            <a:r>
              <a:rPr lang="en-US" sz="1800" b="1" dirty="0" err="1">
                <a:solidFill>
                  <a:srgbClr val="000000"/>
                </a:solidFill>
                <a:latin typeface="Canva Sans Bold"/>
                <a:ea typeface="Canva Sans Bold"/>
                <a:cs typeface="Canva Sans Bold"/>
                <a:sym typeface="Canva Sans Bold"/>
              </a:rPr>
              <a:t>Modelos</a:t>
            </a:r>
            <a:r>
              <a:rPr lang="en-US" sz="1800" b="1" dirty="0">
                <a:solidFill>
                  <a:srgbClr val="000000"/>
                </a:solidFill>
                <a:latin typeface="Canva Sans Bold"/>
                <a:ea typeface="Canva Sans Bold"/>
                <a:cs typeface="Canva Sans Bold"/>
                <a:sym typeface="Canva Sans Bold"/>
              </a:rPr>
              <a:t> </a:t>
            </a:r>
            <a:r>
              <a:rPr lang="en-US" sz="1800" b="1" dirty="0" err="1">
                <a:solidFill>
                  <a:srgbClr val="000000"/>
                </a:solidFill>
                <a:latin typeface="Canva Sans Bold"/>
                <a:ea typeface="Canva Sans Bold"/>
                <a:cs typeface="Canva Sans Bold"/>
                <a:sym typeface="Canva Sans Bold"/>
              </a:rPr>
              <a:t>Preditivos</a:t>
            </a:r>
            <a:endParaRPr lang="en-US" sz="1800" b="1" dirty="0">
              <a:solidFill>
                <a:srgbClr val="000000"/>
              </a:solidFill>
              <a:latin typeface="Canva Sans Bold"/>
              <a:ea typeface="Canva Sans Bold"/>
              <a:cs typeface="Canva Sans Bold"/>
              <a:sym typeface="Canva Sans Bold"/>
            </a:endParaRPr>
          </a:p>
          <a:p>
            <a:pPr algn="l">
              <a:lnSpc>
                <a:spcPts val="2520"/>
              </a:lnSpc>
              <a:spcBef>
                <a:spcPct val="0"/>
              </a:spcBef>
            </a:pPr>
            <a:r>
              <a:rPr lang="en-US" sz="1800" dirty="0" err="1">
                <a:solidFill>
                  <a:srgbClr val="000000"/>
                </a:solidFill>
                <a:latin typeface="Canva Sans"/>
                <a:ea typeface="Canva Sans"/>
                <a:cs typeface="Canva Sans"/>
                <a:sym typeface="Canva Sans"/>
              </a:rPr>
              <a:t>Traz</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análises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preditivas</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vendas</a:t>
            </a:r>
            <a:r>
              <a:rPr lang="en-US" sz="1800" dirty="0">
                <a:solidFill>
                  <a:srgbClr val="000000"/>
                </a:solidFill>
                <a:latin typeface="Canva Sans"/>
                <a:ea typeface="Canva Sans"/>
                <a:cs typeface="Canva Sans"/>
                <a:sym typeface="Canva Sans"/>
              </a:rPr>
              <a:t> e </a:t>
            </a:r>
            <a:r>
              <a:rPr lang="en-US" sz="1800" dirty="0" err="1">
                <a:solidFill>
                  <a:srgbClr val="000000"/>
                </a:solidFill>
                <a:latin typeface="Canva Sans"/>
                <a:ea typeface="Canva Sans"/>
                <a:cs typeface="Canva Sans"/>
                <a:sym typeface="Canva Sans"/>
              </a:rPr>
              <a:t>outras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dimensões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além</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gerar</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gráficos</a:t>
            </a:r>
            <a:r>
              <a:rPr lang="en-US" sz="1800" dirty="0">
                <a:solidFill>
                  <a:srgbClr val="000000"/>
                </a:solidFill>
                <a:latin typeface="Canva Sans"/>
                <a:ea typeface="Canva Sans"/>
                <a:cs typeface="Canva Sans"/>
                <a:sym typeface="Canva Sans"/>
              </a:rPr>
              <a:t> com </a:t>
            </a:r>
            <a:r>
              <a:rPr lang="en-US" sz="1800" dirty="0" err="1">
                <a:solidFill>
                  <a:srgbClr val="000000"/>
                </a:solidFill>
                <a:latin typeface="Canva Sans"/>
                <a:ea typeface="Canva Sans"/>
                <a:cs typeface="Canva Sans"/>
                <a:sym typeface="Canva Sans"/>
              </a:rPr>
              <a:t>séries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temporais</a:t>
            </a:r>
            <a:r>
              <a:rPr lang="en-US" sz="1800" dirty="0">
                <a:solidFill>
                  <a:srgbClr val="000000"/>
                </a:solidFill>
                <a:latin typeface="Canva Sans"/>
                <a:ea typeface="Canva Sans"/>
                <a:cs typeface="Canva Sans"/>
                <a:sym typeface="Canva Sans"/>
              </a:rPr>
              <a:t>. </a:t>
            </a:r>
          </a:p>
          <a:p>
            <a:pPr algn="l">
              <a:lnSpc>
                <a:spcPts val="2520"/>
              </a:lnSpc>
              <a:spcBef>
                <a:spcPct val="0"/>
              </a:spcBef>
            </a:pPr>
            <a:endParaRPr lang="en-US" sz="1800" dirty="0">
              <a:solidFill>
                <a:srgbClr val="000000"/>
              </a:solidFill>
              <a:latin typeface="Canva Sans"/>
              <a:ea typeface="Canva Sans"/>
              <a:cs typeface="Canva Sans"/>
              <a:sym typeface="Canva Sans"/>
            </a:endParaRPr>
          </a:p>
          <a:p>
            <a:pPr algn="l">
              <a:lnSpc>
                <a:spcPts val="2520"/>
              </a:lnSpc>
              <a:spcBef>
                <a:spcPct val="0"/>
              </a:spcBef>
            </a:pPr>
            <a:r>
              <a:rPr lang="en-US" sz="1800" dirty="0">
                <a:solidFill>
                  <a:srgbClr val="000000"/>
                </a:solidFill>
                <a:latin typeface="Canva Sans"/>
                <a:ea typeface="Canva Sans"/>
                <a:cs typeface="Canva Sans"/>
                <a:sym typeface="Canva Sans"/>
              </a:rPr>
              <a:t>3. </a:t>
            </a:r>
            <a:r>
              <a:rPr lang="en-US" sz="1800" b="1" dirty="0" err="1">
                <a:solidFill>
                  <a:srgbClr val="000000"/>
                </a:solidFill>
                <a:latin typeface="Canva Sans Bold"/>
                <a:ea typeface="Canva Sans Bold"/>
                <a:cs typeface="Canva Sans Bold"/>
                <a:sym typeface="Canva Sans Bold"/>
              </a:rPr>
              <a:t>Identificação</a:t>
            </a:r>
            <a:r>
              <a:rPr lang="en-US" sz="1800" b="1" dirty="0">
                <a:solidFill>
                  <a:srgbClr val="000000"/>
                </a:solidFill>
                <a:latin typeface="Canva Sans Bold"/>
                <a:ea typeface="Canva Sans Bold"/>
                <a:cs typeface="Canva Sans Bold"/>
                <a:sym typeface="Canva Sans Bold"/>
              </a:rPr>
              <a:t> de </a:t>
            </a:r>
            <a:r>
              <a:rPr lang="en-US" sz="1800" b="1" dirty="0" err="1">
                <a:solidFill>
                  <a:srgbClr val="000000"/>
                </a:solidFill>
                <a:latin typeface="Canva Sans Bold"/>
                <a:ea typeface="Canva Sans Bold"/>
                <a:cs typeface="Canva Sans Bold"/>
                <a:sym typeface="Canva Sans Bold"/>
              </a:rPr>
              <a:t>Tendências</a:t>
            </a:r>
            <a:r>
              <a:rPr lang="en-US" sz="1800" b="1" dirty="0">
                <a:solidFill>
                  <a:srgbClr val="000000"/>
                </a:solidFill>
                <a:latin typeface="Canva Sans Bold"/>
                <a:ea typeface="Canva Sans Bold"/>
                <a:cs typeface="Canva Sans Bold"/>
                <a:sym typeface="Canva Sans Bold"/>
              </a:rPr>
              <a:t> de </a:t>
            </a:r>
            <a:r>
              <a:rPr lang="en-US" sz="1800" b="1" dirty="0" err="1">
                <a:solidFill>
                  <a:srgbClr val="000000"/>
                </a:solidFill>
                <a:latin typeface="Canva Sans Bold"/>
                <a:ea typeface="Canva Sans Bold"/>
                <a:cs typeface="Canva Sans Bold"/>
                <a:sym typeface="Canva Sans Bold"/>
              </a:rPr>
              <a:t>Vendas</a:t>
            </a:r>
            <a:r>
              <a:rPr lang="en-US" sz="1800" b="1" dirty="0">
                <a:solidFill>
                  <a:srgbClr val="000000"/>
                </a:solidFill>
                <a:latin typeface="Canva Sans Bold"/>
                <a:ea typeface="Canva Sans Bold"/>
                <a:cs typeface="Canva Sans Bold"/>
                <a:sym typeface="Canva Sans Bold"/>
              </a:rPr>
              <a:t>: </a:t>
            </a:r>
          </a:p>
          <a:p>
            <a:pPr algn="l">
              <a:lnSpc>
                <a:spcPts val="2520"/>
              </a:lnSpc>
              <a:spcBef>
                <a:spcPct val="0"/>
              </a:spcBef>
            </a:pPr>
            <a:r>
              <a:rPr lang="en-US" sz="1800" dirty="0" err="1">
                <a:solidFill>
                  <a:srgbClr val="000000"/>
                </a:solidFill>
                <a:latin typeface="Canva Sans"/>
                <a:ea typeface="Canva Sans"/>
                <a:cs typeface="Canva Sans"/>
                <a:sym typeface="Canva Sans"/>
              </a:rPr>
              <a:t>Análise</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preditiva</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tendências</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vendas</a:t>
            </a:r>
            <a:r>
              <a:rPr lang="en-US" sz="1800" dirty="0">
                <a:solidFill>
                  <a:srgbClr val="000000"/>
                </a:solidFill>
                <a:latin typeface="Canva Sans"/>
                <a:ea typeface="Canva Sans"/>
                <a:cs typeface="Canva Sans"/>
                <a:sym typeface="Canva Sans"/>
              </a:rPr>
              <a:t> para </a:t>
            </a:r>
            <a:r>
              <a:rPr lang="en-US" sz="1800" dirty="0" err="1">
                <a:solidFill>
                  <a:srgbClr val="000000"/>
                </a:solidFill>
                <a:latin typeface="Canva Sans"/>
                <a:ea typeface="Canva Sans"/>
                <a:cs typeface="Canva Sans"/>
                <a:sym typeface="Canva Sans"/>
              </a:rPr>
              <a:t>serviços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específicos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ou</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períodos</a:t>
            </a:r>
            <a:r>
              <a:rPr lang="en-US" sz="1800" dirty="0">
                <a:solidFill>
                  <a:srgbClr val="000000"/>
                </a:solidFill>
                <a:latin typeface="Canva Sans"/>
                <a:ea typeface="Canva Sans"/>
                <a:cs typeface="Canva Sans"/>
                <a:sym typeface="Canva Sans"/>
              </a:rPr>
              <a:t> do </a:t>
            </a:r>
            <a:r>
              <a:rPr lang="en-US" sz="1800" dirty="0" err="1">
                <a:solidFill>
                  <a:srgbClr val="000000"/>
                </a:solidFill>
                <a:latin typeface="Canva Sans"/>
                <a:ea typeface="Canva Sans"/>
                <a:cs typeface="Canva Sans"/>
                <a:sym typeface="Canva Sans"/>
              </a:rPr>
              <a:t>ano</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auxiliando</a:t>
            </a:r>
            <a:r>
              <a:rPr lang="en-US" sz="1800" dirty="0">
                <a:solidFill>
                  <a:srgbClr val="000000"/>
                </a:solidFill>
                <a:latin typeface="Canva Sans"/>
                <a:ea typeface="Canva Sans"/>
                <a:cs typeface="Canva Sans"/>
                <a:sym typeface="Canva Sans"/>
              </a:rPr>
              <a:t> no </a:t>
            </a:r>
            <a:r>
              <a:rPr lang="en-US" sz="1800" dirty="0" err="1">
                <a:solidFill>
                  <a:srgbClr val="000000"/>
                </a:solidFill>
                <a:latin typeface="Canva Sans"/>
                <a:ea typeface="Canva Sans"/>
                <a:cs typeface="Canva Sans"/>
                <a:sym typeface="Canva Sans"/>
              </a:rPr>
              <a:t>planejamento</a:t>
            </a:r>
            <a:r>
              <a:rPr lang="en-US" sz="1800" dirty="0">
                <a:solidFill>
                  <a:srgbClr val="000000"/>
                </a:solidFill>
                <a:latin typeface="Canva Sans"/>
                <a:ea typeface="Canva Sans"/>
                <a:cs typeface="Canva Sans"/>
                <a:sym typeface="Canva Sans"/>
              </a:rPr>
              <a:t>. </a:t>
            </a:r>
          </a:p>
          <a:p>
            <a:pPr algn="l">
              <a:lnSpc>
                <a:spcPts val="2520"/>
              </a:lnSpc>
              <a:spcBef>
                <a:spcPct val="0"/>
              </a:spcBef>
            </a:pPr>
            <a:endParaRPr lang="en-US" sz="1800" dirty="0">
              <a:solidFill>
                <a:srgbClr val="000000"/>
              </a:solidFill>
              <a:latin typeface="Canva Sans"/>
              <a:ea typeface="Canva Sans"/>
              <a:cs typeface="Canva Sans"/>
              <a:sym typeface="Canva Sans"/>
            </a:endParaRPr>
          </a:p>
          <a:p>
            <a:pPr algn="l">
              <a:lnSpc>
                <a:spcPts val="2520"/>
              </a:lnSpc>
              <a:spcBef>
                <a:spcPct val="0"/>
              </a:spcBef>
            </a:pPr>
            <a:r>
              <a:rPr lang="en-US" sz="1800" dirty="0">
                <a:solidFill>
                  <a:srgbClr val="000000"/>
                </a:solidFill>
                <a:latin typeface="Canva Sans"/>
                <a:ea typeface="Canva Sans"/>
                <a:cs typeface="Canva Sans"/>
                <a:sym typeface="Canva Sans"/>
              </a:rPr>
              <a:t>4. </a:t>
            </a:r>
            <a:r>
              <a:rPr lang="en-US" sz="1800" b="1" dirty="0" err="1">
                <a:solidFill>
                  <a:srgbClr val="000000"/>
                </a:solidFill>
                <a:latin typeface="Canva Sans Bold"/>
                <a:ea typeface="Canva Sans Bold"/>
                <a:cs typeface="Canva Sans Bold"/>
                <a:sym typeface="Canva Sans Bold"/>
              </a:rPr>
              <a:t>Simulações</a:t>
            </a:r>
            <a:r>
              <a:rPr lang="en-US" sz="1800" b="1" dirty="0">
                <a:solidFill>
                  <a:srgbClr val="000000"/>
                </a:solidFill>
                <a:latin typeface="Canva Sans Bold"/>
                <a:ea typeface="Canva Sans Bold"/>
                <a:cs typeface="Canva Sans Bold"/>
                <a:sym typeface="Canva Sans Bold"/>
              </a:rPr>
              <a:t> de </a:t>
            </a:r>
            <a:r>
              <a:rPr lang="en-US" sz="1800" b="1" dirty="0" err="1">
                <a:solidFill>
                  <a:srgbClr val="000000"/>
                </a:solidFill>
                <a:latin typeface="Canva Sans Bold"/>
                <a:ea typeface="Canva Sans Bold"/>
                <a:cs typeface="Canva Sans Bold"/>
                <a:sym typeface="Canva Sans Bold"/>
              </a:rPr>
              <a:t>Margem</a:t>
            </a:r>
            <a:r>
              <a:rPr lang="en-US" sz="1800" b="1" dirty="0">
                <a:solidFill>
                  <a:srgbClr val="000000"/>
                </a:solidFill>
                <a:latin typeface="Canva Sans Bold"/>
                <a:ea typeface="Canva Sans Bold"/>
                <a:cs typeface="Canva Sans Bold"/>
                <a:sym typeface="Canva Sans Bold"/>
              </a:rPr>
              <a:t> de </a:t>
            </a:r>
            <a:r>
              <a:rPr lang="en-US" sz="1800" b="1" dirty="0" err="1">
                <a:solidFill>
                  <a:srgbClr val="000000"/>
                </a:solidFill>
                <a:latin typeface="Canva Sans Bold"/>
                <a:ea typeface="Canva Sans Bold"/>
                <a:cs typeface="Canva Sans Bold"/>
                <a:sym typeface="Canva Sans Bold"/>
              </a:rPr>
              <a:t>Lucro</a:t>
            </a:r>
            <a:r>
              <a:rPr lang="en-US" sz="1800" b="1" dirty="0">
                <a:solidFill>
                  <a:srgbClr val="000000"/>
                </a:solidFill>
                <a:latin typeface="Canva Sans Bold"/>
                <a:ea typeface="Canva Sans Bold"/>
                <a:cs typeface="Canva Sans Bold"/>
                <a:sym typeface="Canva Sans Bold"/>
              </a:rPr>
              <a:t>: </a:t>
            </a:r>
            <a:r>
              <a:rPr lang="en-US" sz="1800" dirty="0" err="1">
                <a:solidFill>
                  <a:srgbClr val="000000"/>
                </a:solidFill>
                <a:latin typeface="Canva Sans"/>
                <a:ea typeface="Canva Sans"/>
                <a:cs typeface="Canva Sans"/>
                <a:sym typeface="Canva Sans"/>
              </a:rPr>
              <a:t>Geração</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relatórios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detalhados</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margem</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lucro</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por</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produto</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categoria</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Alerta</a:t>
            </a:r>
            <a:r>
              <a:rPr lang="en-US" sz="1800" dirty="0">
                <a:solidFill>
                  <a:srgbClr val="000000"/>
                </a:solidFill>
                <a:latin typeface="Canva Sans"/>
                <a:ea typeface="Canva Sans"/>
                <a:cs typeface="Canva Sans"/>
                <a:sym typeface="Canva Sans"/>
              </a:rPr>
              <a:t> de </a:t>
            </a:r>
            <a:r>
              <a:rPr lang="en-US" sz="1800" dirty="0" err="1">
                <a:solidFill>
                  <a:srgbClr val="000000"/>
                </a:solidFill>
                <a:latin typeface="Canva Sans"/>
                <a:ea typeface="Canva Sans"/>
                <a:cs typeface="Canva Sans"/>
                <a:sym typeface="Canva Sans"/>
              </a:rPr>
              <a:t>produtos</a:t>
            </a:r>
            <a:r>
              <a:rPr lang="en-US" sz="1800" dirty="0">
                <a:solidFill>
                  <a:srgbClr val="000000"/>
                </a:solidFill>
                <a:latin typeface="Canva Sans"/>
                <a:ea typeface="Canva Sans"/>
                <a:cs typeface="Canva Sans"/>
                <a:sym typeface="Canva Sans"/>
              </a:rPr>
              <a:t> com </a:t>
            </a:r>
            <a:r>
              <a:rPr lang="en-US" sz="1800" dirty="0" err="1">
                <a:solidFill>
                  <a:srgbClr val="000000"/>
                </a:solidFill>
                <a:latin typeface="Canva Sans"/>
                <a:ea typeface="Canva Sans"/>
                <a:cs typeface="Canva Sans"/>
                <a:sym typeface="Canva Sans"/>
              </a:rPr>
              <a:t>margem</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negativa</a:t>
            </a:r>
            <a:r>
              <a:rPr lang="en-US" sz="1800" dirty="0">
                <a:solidFill>
                  <a:srgbClr val="000000"/>
                </a:solidFill>
                <a:latin typeface="Canva Sans"/>
                <a:ea typeface="Canva Sans"/>
                <a:cs typeface="Canva Sans"/>
                <a:sym typeface="Canva Sans"/>
              </a:rPr>
              <a:t>.</a:t>
            </a:r>
          </a:p>
          <a:p>
            <a:pPr algn="l">
              <a:lnSpc>
                <a:spcPts val="2520"/>
              </a:lnSpc>
              <a:spcBef>
                <a:spcPct val="0"/>
              </a:spcBef>
            </a:pPr>
            <a:endParaRPr lang="en-US" sz="1800" dirty="0">
              <a:solidFill>
                <a:srgbClr val="000000"/>
              </a:solidFill>
              <a:latin typeface="Canva Sans"/>
              <a:ea typeface="Canva Sans"/>
              <a:cs typeface="Canva Sans"/>
              <a:sym typeface="Canva Sans"/>
            </a:endParaRPr>
          </a:p>
          <a:p>
            <a:pPr algn="l">
              <a:lnSpc>
                <a:spcPts val="2520"/>
              </a:lnSpc>
              <a:spcBef>
                <a:spcPct val="0"/>
              </a:spcBef>
            </a:pPr>
            <a:r>
              <a:rPr lang="en-US" sz="1800" dirty="0">
                <a:solidFill>
                  <a:srgbClr val="000000"/>
                </a:solidFill>
                <a:latin typeface="Canva Sans"/>
                <a:ea typeface="Canva Sans"/>
                <a:cs typeface="Canva Sans"/>
                <a:sym typeface="Canva Sans"/>
              </a:rPr>
              <a:t>5. </a:t>
            </a:r>
            <a:r>
              <a:rPr lang="en-US" sz="1800" b="1" dirty="0" err="1">
                <a:solidFill>
                  <a:srgbClr val="000000"/>
                </a:solidFill>
                <a:latin typeface="Canva Sans Bold"/>
                <a:ea typeface="Canva Sans Bold"/>
                <a:cs typeface="Canva Sans Bold"/>
                <a:sym typeface="Canva Sans Bold"/>
              </a:rPr>
              <a:t>Identificação</a:t>
            </a:r>
            <a:r>
              <a:rPr lang="en-US" sz="1800" b="1" dirty="0">
                <a:solidFill>
                  <a:srgbClr val="000000"/>
                </a:solidFill>
                <a:latin typeface="Canva Sans Bold"/>
                <a:ea typeface="Canva Sans Bold"/>
                <a:cs typeface="Canva Sans Bold"/>
                <a:sym typeface="Canva Sans Bold"/>
              </a:rPr>
              <a:t> de </a:t>
            </a:r>
            <a:r>
              <a:rPr lang="en-US" sz="1800" b="1" dirty="0" err="1">
                <a:solidFill>
                  <a:srgbClr val="000000"/>
                </a:solidFill>
                <a:latin typeface="Canva Sans Bold"/>
                <a:ea typeface="Canva Sans Bold"/>
                <a:cs typeface="Canva Sans Bold"/>
                <a:sym typeface="Canva Sans Bold"/>
              </a:rPr>
              <a:t>Produtos</a:t>
            </a:r>
            <a:r>
              <a:rPr lang="en-US" sz="1800" b="1" dirty="0">
                <a:solidFill>
                  <a:srgbClr val="000000"/>
                </a:solidFill>
                <a:latin typeface="Canva Sans Bold"/>
                <a:ea typeface="Canva Sans Bold"/>
                <a:cs typeface="Canva Sans Bold"/>
                <a:sym typeface="Canva Sans Bold"/>
              </a:rPr>
              <a:t> Estrela/Abacaxi:</a:t>
            </a:r>
            <a:r>
              <a:rPr lang="en-US" sz="1800" dirty="0">
                <a:solidFill>
                  <a:srgbClr val="000000"/>
                </a:solidFill>
                <a:latin typeface="Canva Sans"/>
                <a:ea typeface="Canva Sans"/>
                <a:cs typeface="Canva Sans"/>
                <a:sym typeface="Canva Sans"/>
              </a:rPr>
              <a:t> </a:t>
            </a:r>
          </a:p>
          <a:p>
            <a:pPr algn="l">
              <a:lnSpc>
                <a:spcPts val="2520"/>
              </a:lnSpc>
              <a:spcBef>
                <a:spcPct val="0"/>
              </a:spcBef>
            </a:pPr>
            <a:r>
              <a:rPr lang="en-US" sz="1800" dirty="0" err="1">
                <a:solidFill>
                  <a:srgbClr val="000000"/>
                </a:solidFill>
                <a:latin typeface="Canva Sans"/>
                <a:ea typeface="Canva Sans"/>
                <a:cs typeface="Canva Sans"/>
                <a:sym typeface="Canva Sans"/>
              </a:rPr>
              <a:t>Análise</a:t>
            </a:r>
            <a:r>
              <a:rPr lang="en-US" sz="1800" dirty="0">
                <a:solidFill>
                  <a:srgbClr val="000000"/>
                </a:solidFill>
                <a:latin typeface="Canva Sans"/>
                <a:ea typeface="Canva Sans"/>
                <a:cs typeface="Canva Sans"/>
                <a:sym typeface="Canva Sans"/>
              </a:rPr>
              <a:t>  para </a:t>
            </a:r>
            <a:r>
              <a:rPr lang="en-US" sz="1800" dirty="0" err="1">
                <a:solidFill>
                  <a:srgbClr val="000000"/>
                </a:solidFill>
                <a:latin typeface="Canva Sans"/>
                <a:ea typeface="Canva Sans"/>
                <a:cs typeface="Canva Sans"/>
                <a:sym typeface="Canva Sans"/>
              </a:rPr>
              <a:t>identificar</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os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produtos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mais</a:t>
            </a:r>
            <a:r>
              <a:rPr lang="en-US" sz="1800" dirty="0">
                <a:solidFill>
                  <a:srgbClr val="000000"/>
                </a:solidFill>
                <a:latin typeface="Canva Sans"/>
                <a:ea typeface="Canva Sans"/>
                <a:cs typeface="Canva Sans"/>
                <a:sym typeface="Canva Sans"/>
              </a:rPr>
              <a:t> e </a:t>
            </a:r>
            <a:r>
              <a:rPr lang="en-US" sz="1800" dirty="0" err="1">
                <a:solidFill>
                  <a:srgbClr val="000000"/>
                </a:solidFill>
                <a:latin typeface="Canva Sans"/>
                <a:ea typeface="Canva Sans"/>
                <a:cs typeface="Canva Sans"/>
                <a:sym typeface="Canva Sans"/>
              </a:rPr>
              <a:t>menos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vendidos</a:t>
            </a:r>
            <a:r>
              <a:rPr lang="en-US" sz="1800">
                <a:solidFill>
                  <a:srgbClr val="000000"/>
                </a:solidFill>
                <a:latin typeface="Canva Sans"/>
                <a:ea typeface="Canva Sans"/>
                <a:cs typeface="Canva Sans"/>
                <a:sym typeface="Canva Sans"/>
              </a:rPr>
              <a:t>. </a:t>
            </a:r>
            <a:endParaRPr lang="en-US" sz="1800" dirty="0">
              <a:solidFill>
                <a:srgbClr val="000000"/>
              </a:solidFill>
              <a:latin typeface="Canva Sans"/>
              <a:ea typeface="Canva Sans"/>
              <a:cs typeface="Canva Sans"/>
              <a:sym typeface="Canva Sans"/>
            </a:endParaRPr>
          </a:p>
          <a:p>
            <a:pPr algn="l">
              <a:lnSpc>
                <a:spcPts val="2520"/>
              </a:lnSpc>
              <a:spcBef>
                <a:spcPct val="0"/>
              </a:spcBef>
            </a:pPr>
            <a:endParaRPr lang="en-US" sz="1800" dirty="0">
              <a:solidFill>
                <a:srgbClr val="000000"/>
              </a:solidFill>
              <a:latin typeface="Canva Sans"/>
              <a:ea typeface="Canva Sans"/>
              <a:cs typeface="Canva Sans"/>
              <a:sym typeface="Canva Sans"/>
            </a:endParaRPr>
          </a:p>
          <a:p>
            <a:pPr algn="l">
              <a:lnSpc>
                <a:spcPts val="2520"/>
              </a:lnSpc>
              <a:spcBef>
                <a:spcPct val="0"/>
              </a:spcBef>
            </a:pPr>
            <a:endParaRPr lang="en-US" sz="1800" dirty="0">
              <a:solidFill>
                <a:srgbClr val="000000"/>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36520" y="-163675"/>
            <a:ext cx="14283868" cy="10709601"/>
            <a:chOff x="0" y="0"/>
            <a:chExt cx="3762007" cy="2820636"/>
          </a:xfrm>
        </p:grpSpPr>
        <p:sp>
          <p:nvSpPr>
            <p:cNvPr id="3" name="Freeform 3"/>
            <p:cNvSpPr/>
            <p:nvPr/>
          </p:nvSpPr>
          <p:spPr>
            <a:xfrm>
              <a:off x="0" y="0"/>
              <a:ext cx="3762006" cy="2820636"/>
            </a:xfrm>
            <a:custGeom>
              <a:avLst/>
              <a:gdLst/>
              <a:ahLst/>
              <a:cxnLst/>
              <a:rect l="l" t="t" r="r" b="b"/>
              <a:pathLst>
                <a:path w="3762006" h="2820636">
                  <a:moveTo>
                    <a:pt x="0" y="0"/>
                  </a:moveTo>
                  <a:lnTo>
                    <a:pt x="3762006" y="0"/>
                  </a:lnTo>
                  <a:lnTo>
                    <a:pt x="3762006" y="2820636"/>
                  </a:lnTo>
                  <a:lnTo>
                    <a:pt x="0" y="2820636"/>
                  </a:lnTo>
                  <a:close/>
                </a:path>
              </a:pathLst>
            </a:custGeom>
            <a:solidFill>
              <a:srgbClr val="FFCD46"/>
            </a:solidFill>
          </p:spPr>
          <p:txBody>
            <a:bodyPr/>
            <a:lstStyle/>
            <a:p>
              <a:endParaRPr lang="pt-BR"/>
            </a:p>
          </p:txBody>
        </p:sp>
        <p:sp>
          <p:nvSpPr>
            <p:cNvPr id="4" name="TextBox 4"/>
            <p:cNvSpPr txBox="1"/>
            <p:nvPr/>
          </p:nvSpPr>
          <p:spPr>
            <a:xfrm>
              <a:off x="0" y="-47625"/>
              <a:ext cx="3762007" cy="2868261"/>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5181125" y="-5745784"/>
            <a:ext cx="9354617" cy="93546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D2B4"/>
            </a:solidFill>
          </p:spPr>
          <p:txBody>
            <a:bodyPr/>
            <a:lstStyle/>
            <a:p>
              <a:endParaRPr lang="pt-BR"/>
            </a:p>
          </p:txBody>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6380"/>
                </a:lnSpc>
              </a:pPr>
              <a:endParaRPr/>
            </a:p>
          </p:txBody>
        </p:sp>
      </p:grpSp>
      <p:sp>
        <p:nvSpPr>
          <p:cNvPr id="8" name="TextBox 8"/>
          <p:cNvSpPr txBox="1"/>
          <p:nvPr/>
        </p:nvSpPr>
        <p:spPr>
          <a:xfrm>
            <a:off x="826823" y="3287533"/>
            <a:ext cx="5881548" cy="1855967"/>
          </a:xfrm>
          <a:prstGeom prst="rect">
            <a:avLst/>
          </a:prstGeom>
        </p:spPr>
        <p:txBody>
          <a:bodyPr lIns="0" tIns="0" rIns="0" bIns="0" rtlCol="0" anchor="t">
            <a:spAutoFit/>
          </a:bodyPr>
          <a:lstStyle/>
          <a:p>
            <a:pPr algn="l">
              <a:lnSpc>
                <a:spcPts val="7427"/>
              </a:lnSpc>
            </a:pPr>
            <a:r>
              <a:rPr lang="en-US" sz="5305">
                <a:solidFill>
                  <a:srgbClr val="000000"/>
                </a:solidFill>
                <a:latin typeface="League Spartan"/>
                <a:ea typeface="League Spartan"/>
                <a:cs typeface="League Spartan"/>
                <a:sym typeface="League Spartan"/>
              </a:rPr>
              <a:t>Catálogo de Perguntas</a:t>
            </a:r>
          </a:p>
        </p:txBody>
      </p:sp>
      <p:sp>
        <p:nvSpPr>
          <p:cNvPr id="9" name="TextBox 9"/>
          <p:cNvSpPr txBox="1"/>
          <p:nvPr/>
        </p:nvSpPr>
        <p:spPr>
          <a:xfrm>
            <a:off x="826823" y="5406390"/>
            <a:ext cx="5530561" cy="2197100"/>
          </a:xfrm>
          <a:prstGeom prst="rect">
            <a:avLst/>
          </a:prstGeom>
        </p:spPr>
        <p:txBody>
          <a:bodyPr lIns="0" tIns="0" rIns="0" bIns="0" rtlCol="0" anchor="t">
            <a:spAutoFit/>
          </a:bodyPr>
          <a:lstStyle/>
          <a:p>
            <a:pPr algn="just">
              <a:lnSpc>
                <a:spcPts val="2700"/>
              </a:lnSpc>
            </a:pPr>
            <a:r>
              <a:rPr lang="en-US" sz="2000" dirty="0" err="1">
                <a:solidFill>
                  <a:srgbClr val="000000"/>
                </a:solidFill>
                <a:latin typeface="Canva Sans"/>
                <a:ea typeface="Canva Sans"/>
                <a:cs typeface="Canva Sans"/>
                <a:sym typeface="Canva Sans"/>
              </a:rPr>
              <a:t>Agentes</a:t>
            </a:r>
            <a:r>
              <a:rPr lang="en-US" sz="2000" dirty="0">
                <a:solidFill>
                  <a:srgbClr val="000000"/>
                </a:solidFill>
                <a:latin typeface="Canva Sans"/>
                <a:ea typeface="Canva Sans"/>
                <a:cs typeface="Canva Sans"/>
                <a:sym typeface="Canva Sans"/>
              </a:rPr>
              <a:t> EDA é </a:t>
            </a:r>
            <a:r>
              <a:rPr lang="en-US" sz="2000" dirty="0" err="1">
                <a:solidFill>
                  <a:srgbClr val="000000"/>
                </a:solidFill>
                <a:latin typeface="Canva Sans"/>
                <a:ea typeface="Canva Sans"/>
                <a:cs typeface="Canva Sans"/>
                <a:sym typeface="Canva Sans"/>
              </a:rPr>
              <a:t>uma</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solução</a:t>
            </a:r>
            <a:r>
              <a:rPr lang="en-US" sz="2000" dirty="0">
                <a:solidFill>
                  <a:srgbClr val="000000"/>
                </a:solidFill>
                <a:latin typeface="Canva Sans"/>
                <a:ea typeface="Canva Sans"/>
                <a:cs typeface="Canva Sans"/>
                <a:sym typeface="Canva Sans"/>
              </a:rPr>
              <a:t> de </a:t>
            </a:r>
            <a:r>
              <a:rPr lang="en-US" sz="2000" dirty="0" err="1">
                <a:solidFill>
                  <a:srgbClr val="000000"/>
                </a:solidFill>
                <a:latin typeface="Canva Sans"/>
                <a:ea typeface="Canva Sans"/>
                <a:cs typeface="Canva Sans"/>
                <a:sym typeface="Canva Sans"/>
              </a:rPr>
              <a:t>agentes</a:t>
            </a:r>
            <a:r>
              <a:rPr lang="en-US" sz="2000" dirty="0">
                <a:solidFill>
                  <a:srgbClr val="000000"/>
                </a:solidFill>
                <a:latin typeface="Canva Sans"/>
                <a:ea typeface="Canva Sans"/>
                <a:cs typeface="Canva Sans"/>
                <a:sym typeface="Canva Sans"/>
              </a:rPr>
              <a:t> de </a:t>
            </a:r>
            <a:r>
              <a:rPr lang="en-US" sz="2000" dirty="0" err="1">
                <a:solidFill>
                  <a:srgbClr val="000000"/>
                </a:solidFill>
                <a:latin typeface="Canva Sans"/>
                <a:ea typeface="Canva Sans"/>
                <a:cs typeface="Canva Sans"/>
                <a:sym typeface="Canva Sans"/>
              </a:rPr>
              <a:t>análise</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exploratória</a:t>
            </a:r>
            <a:r>
              <a:rPr lang="en-US" sz="2000" dirty="0">
                <a:solidFill>
                  <a:srgbClr val="000000"/>
                </a:solidFill>
                <a:latin typeface="Canva Sans"/>
                <a:ea typeface="Canva Sans"/>
                <a:cs typeface="Canva Sans"/>
                <a:sym typeface="Canva Sans"/>
              </a:rPr>
              <a:t> e </a:t>
            </a:r>
            <a:r>
              <a:rPr lang="en-US" sz="2000" dirty="0" err="1">
                <a:solidFill>
                  <a:srgbClr val="000000"/>
                </a:solidFill>
                <a:latin typeface="Canva Sans"/>
                <a:ea typeface="Canva Sans"/>
                <a:cs typeface="Canva Sans"/>
                <a:sym typeface="Canva Sans"/>
              </a:rPr>
              <a:t>preditiva</a:t>
            </a:r>
            <a:r>
              <a:rPr lang="en-US" sz="2000" dirty="0">
                <a:solidFill>
                  <a:srgbClr val="000000"/>
                </a:solidFill>
                <a:latin typeface="Canva Sans"/>
                <a:ea typeface="Canva Sans"/>
                <a:cs typeface="Canva Sans"/>
                <a:sym typeface="Canva Sans"/>
              </a:rPr>
              <a:t> para dados </a:t>
            </a:r>
            <a:r>
              <a:rPr lang="en-US" sz="2000" dirty="0" err="1">
                <a:solidFill>
                  <a:srgbClr val="000000"/>
                </a:solidFill>
                <a:latin typeface="Canva Sans"/>
                <a:ea typeface="Canva Sans"/>
                <a:cs typeface="Canva Sans"/>
                <a:sym typeface="Canva Sans"/>
              </a:rPr>
              <a:t>fiscais</a:t>
            </a:r>
            <a:r>
              <a:rPr lang="en-US" sz="2000" dirty="0">
                <a:solidFill>
                  <a:srgbClr val="000000"/>
                </a:solidFill>
                <a:latin typeface="Canva Sans"/>
                <a:ea typeface="Canva Sans"/>
                <a:cs typeface="Canva Sans"/>
                <a:sym typeface="Canva Sans"/>
              </a:rPr>
              <a:t> (NF-e).</a:t>
            </a:r>
          </a:p>
          <a:p>
            <a:pPr algn="just">
              <a:lnSpc>
                <a:spcPts val="2300"/>
              </a:lnSpc>
            </a:pPr>
            <a:endParaRPr lang="en-US" sz="2000" dirty="0">
              <a:solidFill>
                <a:srgbClr val="000000"/>
              </a:solidFill>
              <a:latin typeface="Canva Sans"/>
              <a:ea typeface="Canva Sans"/>
              <a:cs typeface="Canva Sans"/>
              <a:sym typeface="Canva Sans"/>
            </a:endParaRPr>
          </a:p>
          <a:p>
            <a:pPr algn="just">
              <a:lnSpc>
                <a:spcPts val="2300"/>
              </a:lnSpc>
            </a:pPr>
            <a:endParaRPr lang="en-US" sz="2000" dirty="0">
              <a:solidFill>
                <a:srgbClr val="000000"/>
              </a:solidFill>
              <a:latin typeface="Canva Sans"/>
              <a:ea typeface="Canva Sans"/>
              <a:cs typeface="Canva Sans"/>
              <a:sym typeface="Canva Sans"/>
            </a:endParaRPr>
          </a:p>
          <a:p>
            <a:pPr algn="just">
              <a:lnSpc>
                <a:spcPts val="2300"/>
              </a:lnSpc>
            </a:pPr>
            <a:endParaRPr lang="en-US" sz="2000" dirty="0">
              <a:solidFill>
                <a:srgbClr val="000000"/>
              </a:solidFill>
              <a:latin typeface="Canva Sans"/>
              <a:ea typeface="Canva Sans"/>
              <a:cs typeface="Canva Sans"/>
              <a:sym typeface="Canva Sans"/>
            </a:endParaRPr>
          </a:p>
          <a:p>
            <a:pPr algn="just">
              <a:lnSpc>
                <a:spcPts val="2300"/>
              </a:lnSpc>
            </a:pPr>
            <a:endParaRPr lang="en-US" sz="2000" dirty="0">
              <a:solidFill>
                <a:srgbClr val="000000"/>
              </a:solidFill>
              <a:latin typeface="Canva Sans"/>
              <a:ea typeface="Canva Sans"/>
              <a:cs typeface="Canva Sans"/>
              <a:sym typeface="Canva Sans"/>
            </a:endParaRPr>
          </a:p>
        </p:txBody>
      </p:sp>
      <p:sp>
        <p:nvSpPr>
          <p:cNvPr id="10" name="TextBox 10"/>
          <p:cNvSpPr txBox="1"/>
          <p:nvPr/>
        </p:nvSpPr>
        <p:spPr>
          <a:xfrm>
            <a:off x="8783123" y="1177925"/>
            <a:ext cx="10005003" cy="8080375"/>
          </a:xfrm>
          <a:prstGeom prst="rect">
            <a:avLst/>
          </a:prstGeom>
        </p:spPr>
        <p:txBody>
          <a:bodyPr lIns="0" tIns="0" rIns="0" bIns="0" rtlCol="0" anchor="t">
            <a:spAutoFit/>
          </a:bodyPr>
          <a:lstStyle/>
          <a:p>
            <a:pPr algn="l">
              <a:lnSpc>
                <a:spcPts val="2799"/>
              </a:lnSpc>
            </a:pPr>
            <a:r>
              <a:rPr lang="en-US" sz="1999" b="1" dirty="0" err="1">
                <a:solidFill>
                  <a:srgbClr val="000000"/>
                </a:solidFill>
                <a:latin typeface="Canva Sans Bold"/>
                <a:ea typeface="Canva Sans Bold"/>
                <a:cs typeface="Canva Sans Bold"/>
                <a:sym typeface="Canva Sans Bold"/>
              </a:rPr>
              <a:t>Catálogo</a:t>
            </a:r>
            <a:r>
              <a:rPr lang="en-US" sz="1999" b="1" dirty="0">
                <a:solidFill>
                  <a:srgbClr val="000000"/>
                </a:solidFill>
                <a:latin typeface="Canva Sans Bold"/>
                <a:ea typeface="Canva Sans Bold"/>
                <a:cs typeface="Canva Sans Bold"/>
                <a:sym typeface="Canva Sans Bold"/>
              </a:rPr>
              <a:t> de </a:t>
            </a:r>
            <a:r>
              <a:rPr lang="en-US" sz="1999" b="1" dirty="0" err="1">
                <a:solidFill>
                  <a:srgbClr val="000000"/>
                </a:solidFill>
                <a:latin typeface="Canva Sans Bold"/>
                <a:ea typeface="Canva Sans Bold"/>
                <a:cs typeface="Canva Sans Bold"/>
                <a:sym typeface="Canva Sans Bold"/>
              </a:rPr>
              <a:t>perguntas</a:t>
            </a:r>
            <a:r>
              <a:rPr lang="en-US" sz="1999" b="1" dirty="0">
                <a:solidFill>
                  <a:srgbClr val="000000"/>
                </a:solidFill>
                <a:latin typeface="Canva Sans Bold"/>
                <a:ea typeface="Canva Sans Bold"/>
                <a:cs typeface="Canva Sans Bold"/>
                <a:sym typeface="Canva Sans Bold"/>
              </a:rPr>
              <a:t> (EDA) e </a:t>
            </a:r>
            <a:r>
              <a:rPr lang="en-US" sz="1999" b="1" dirty="0" err="1">
                <a:solidFill>
                  <a:srgbClr val="000000"/>
                </a:solidFill>
                <a:latin typeface="Canva Sans Bold"/>
                <a:ea typeface="Canva Sans Bold"/>
                <a:cs typeface="Canva Sans Bold"/>
                <a:sym typeface="Canva Sans Bold"/>
              </a:rPr>
              <a:t>análise</a:t>
            </a:r>
            <a:r>
              <a:rPr lang="en-US" sz="1999" b="1" dirty="0">
                <a:solidFill>
                  <a:srgbClr val="000000"/>
                </a:solidFill>
                <a:latin typeface="Canva Sans Bold"/>
                <a:ea typeface="Canva Sans Bold"/>
                <a:cs typeface="Canva Sans Bold"/>
                <a:sym typeface="Canva Sans Bold"/>
              </a:rPr>
              <a:t> </a:t>
            </a:r>
            <a:r>
              <a:rPr lang="en-US" sz="1999" b="1" dirty="0" err="1">
                <a:solidFill>
                  <a:srgbClr val="000000"/>
                </a:solidFill>
                <a:latin typeface="Canva Sans Bold"/>
                <a:ea typeface="Canva Sans Bold"/>
                <a:cs typeface="Canva Sans Bold"/>
                <a:sym typeface="Canva Sans Bold"/>
              </a:rPr>
              <a:t>preditivas</a:t>
            </a:r>
            <a:endParaRPr lang="en-US" sz="1999" b="1" dirty="0">
              <a:solidFill>
                <a:srgbClr val="000000"/>
              </a:solidFill>
              <a:latin typeface="Canva Sans Bold"/>
              <a:ea typeface="Canva Sans Bold"/>
              <a:cs typeface="Canva Sans Bold"/>
              <a:sym typeface="Canva Sans Bold"/>
            </a:endParaRPr>
          </a:p>
          <a:p>
            <a:pPr algn="l">
              <a:lnSpc>
                <a:spcPts val="2100"/>
              </a:lnSpc>
            </a:pPr>
            <a:r>
              <a:rPr lang="en-US" sz="1500" dirty="0">
                <a:solidFill>
                  <a:srgbClr val="000000"/>
                </a:solidFill>
                <a:latin typeface="Canva Sans"/>
                <a:ea typeface="Canva Sans"/>
                <a:cs typeface="Canva Sans"/>
                <a:sym typeface="Canva Sans"/>
              </a:rPr>
              <a:t>O </a:t>
            </a:r>
            <a:r>
              <a:rPr lang="en-US" sz="1500" dirty="0" err="1">
                <a:solidFill>
                  <a:srgbClr val="000000"/>
                </a:solidFill>
                <a:latin typeface="Canva Sans"/>
                <a:ea typeface="Canva Sans"/>
                <a:cs typeface="Canva Sans"/>
                <a:sym typeface="Canva Sans"/>
              </a:rPr>
              <a:t>agente</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entende</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perguntas</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em</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linguagem</a:t>
            </a:r>
            <a:r>
              <a:rPr lang="en-US" sz="1500" dirty="0">
                <a:solidFill>
                  <a:srgbClr val="000000"/>
                </a:solidFill>
                <a:latin typeface="Canva Sans"/>
                <a:ea typeface="Canva Sans"/>
                <a:cs typeface="Canva Sans"/>
                <a:sym typeface="Canva Sans"/>
              </a:rPr>
              <a:t> natural.</a:t>
            </a:r>
          </a:p>
          <a:p>
            <a:pPr algn="l">
              <a:lnSpc>
                <a:spcPts val="2100"/>
              </a:lnSpc>
            </a:pPr>
            <a:endParaRPr lang="en-US" sz="1500" dirty="0">
              <a:solidFill>
                <a:srgbClr val="000000"/>
              </a:solidFill>
              <a:latin typeface="Canva Sans"/>
              <a:ea typeface="Canva Sans"/>
              <a:cs typeface="Canva Sans"/>
              <a:sym typeface="Canva Sans"/>
            </a:endParaRPr>
          </a:p>
          <a:p>
            <a:pPr algn="l">
              <a:lnSpc>
                <a:spcPts val="2100"/>
              </a:lnSpc>
            </a:pPr>
            <a:r>
              <a:rPr lang="en-US" sz="1500" b="1" dirty="0" err="1">
                <a:solidFill>
                  <a:srgbClr val="000000"/>
                </a:solidFill>
                <a:latin typeface="Canva Sans Bold"/>
                <a:ea typeface="Canva Sans Bold"/>
                <a:cs typeface="Canva Sans Bold"/>
                <a:sym typeface="Canva Sans Bold"/>
              </a:rPr>
              <a:t>Alguns</a:t>
            </a:r>
            <a:r>
              <a:rPr lang="en-US" sz="1500" b="1" dirty="0">
                <a:solidFill>
                  <a:srgbClr val="000000"/>
                </a:solidFill>
                <a:latin typeface="Canva Sans Bold"/>
                <a:ea typeface="Canva Sans Bold"/>
                <a:cs typeface="Canva Sans Bold"/>
                <a:sym typeface="Canva Sans Bold"/>
              </a:rPr>
              <a:t> </a:t>
            </a:r>
            <a:r>
              <a:rPr lang="en-US" sz="1500" b="1" dirty="0" err="1">
                <a:solidFill>
                  <a:srgbClr val="000000"/>
                </a:solidFill>
                <a:latin typeface="Canva Sans Bold"/>
                <a:ea typeface="Canva Sans Bold"/>
                <a:cs typeface="Canva Sans Bold"/>
                <a:sym typeface="Canva Sans Bold"/>
              </a:rPr>
              <a:t>Exemplos</a:t>
            </a:r>
            <a:endParaRPr lang="en-US" sz="1500" b="1" dirty="0">
              <a:solidFill>
                <a:srgbClr val="000000"/>
              </a:solidFill>
              <a:latin typeface="Canva Sans Bold"/>
              <a:ea typeface="Canva Sans Bold"/>
              <a:cs typeface="Canva Sans Bold"/>
              <a:sym typeface="Canva Sans Bold"/>
            </a:endParaRPr>
          </a:p>
          <a:p>
            <a:pPr algn="l">
              <a:lnSpc>
                <a:spcPts val="2100"/>
              </a:lnSpc>
            </a:pPr>
            <a:endParaRPr lang="en-US" sz="1500" b="1" dirty="0">
              <a:solidFill>
                <a:srgbClr val="000000"/>
              </a:solidFill>
              <a:latin typeface="Canva Sans Bold"/>
              <a:ea typeface="Canva Sans Bold"/>
              <a:cs typeface="Canva Sans Bold"/>
              <a:sym typeface="Canva Sans Bold"/>
            </a:endParaRPr>
          </a:p>
          <a:p>
            <a:pPr algn="l">
              <a:lnSpc>
                <a:spcPts val="2100"/>
              </a:lnSpc>
            </a:pPr>
            <a:r>
              <a:rPr lang="en-US" sz="1500" b="1" dirty="0" err="1">
                <a:solidFill>
                  <a:srgbClr val="000000"/>
                </a:solidFill>
                <a:latin typeface="Canva Sans Bold"/>
                <a:ea typeface="Canva Sans Bold"/>
                <a:cs typeface="Canva Sans Bold"/>
                <a:sym typeface="Canva Sans Bold"/>
              </a:rPr>
              <a:t>Agregações</a:t>
            </a:r>
            <a:endParaRPr lang="en-US" sz="1500" b="1" dirty="0">
              <a:solidFill>
                <a:srgbClr val="000000"/>
              </a:solidFill>
              <a:latin typeface="Canva Sans Bold"/>
              <a:ea typeface="Canva Sans Bold"/>
              <a:cs typeface="Canva Sans Bold"/>
              <a:sym typeface="Canva Sans Bold"/>
            </a:endParaRP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Qual a </a:t>
            </a:r>
            <a:r>
              <a:rPr lang="en-US" sz="1500" b="1" dirty="0" err="1">
                <a:solidFill>
                  <a:srgbClr val="000000"/>
                </a:solidFill>
                <a:latin typeface="Canva Sans Bold"/>
                <a:ea typeface="Canva Sans Bold"/>
                <a:cs typeface="Canva Sans Bold"/>
                <a:sym typeface="Canva Sans Bold"/>
              </a:rPr>
              <a:t>receita</a:t>
            </a:r>
            <a:r>
              <a:rPr lang="en-US" sz="1500" b="1" dirty="0">
                <a:solidFill>
                  <a:srgbClr val="000000"/>
                </a:solidFill>
                <a:latin typeface="Canva Sans Bold"/>
                <a:ea typeface="Canva Sans Bold"/>
                <a:cs typeface="Canva Sans Bold"/>
                <a:sym typeface="Canva Sans Bold"/>
              </a:rPr>
              <a:t> mensal</a:t>
            </a:r>
            <a:r>
              <a:rPr lang="en-US" sz="1500" dirty="0">
                <a:solidFill>
                  <a:srgbClr val="000000"/>
                </a:solidFill>
                <a:latin typeface="Canva Sans"/>
                <a:ea typeface="Canva Sans"/>
                <a:cs typeface="Canva Sans"/>
                <a:sym typeface="Canva Sans"/>
              </a:rPr>
              <a:t> no </a:t>
            </a:r>
            <a:r>
              <a:rPr lang="en-US" sz="1500" dirty="0" err="1">
                <a:solidFill>
                  <a:srgbClr val="000000"/>
                </a:solidFill>
                <a:latin typeface="Canva Sans"/>
                <a:ea typeface="Canva Sans"/>
                <a:cs typeface="Canva Sans"/>
                <a:sym typeface="Canva Sans"/>
              </a:rPr>
              <a:t>período</a:t>
            </a:r>
            <a:r>
              <a:rPr lang="en-US" sz="1500" dirty="0">
                <a:solidFill>
                  <a:srgbClr val="000000"/>
                </a:solidFill>
                <a:latin typeface="Canva Sans"/>
                <a:ea typeface="Canva Sans"/>
                <a:cs typeface="Canva Sans"/>
                <a:sym typeface="Canva Sans"/>
              </a:rPr>
              <a:t>?</a:t>
            </a: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Qual o </a:t>
            </a:r>
            <a:r>
              <a:rPr lang="en-US" sz="1500" b="1" dirty="0">
                <a:solidFill>
                  <a:srgbClr val="000000"/>
                </a:solidFill>
                <a:latin typeface="Canva Sans Bold"/>
                <a:ea typeface="Canva Sans Bold"/>
                <a:cs typeface="Canva Sans Bold"/>
                <a:sym typeface="Canva Sans Bold"/>
              </a:rPr>
              <a:t>ticket </a:t>
            </a:r>
            <a:r>
              <a:rPr lang="en-US" sz="1500" b="1" dirty="0" err="1">
                <a:solidFill>
                  <a:srgbClr val="000000"/>
                </a:solidFill>
                <a:latin typeface="Canva Sans Bold"/>
                <a:ea typeface="Canva Sans Bold"/>
                <a:cs typeface="Canva Sans Bold"/>
                <a:sym typeface="Canva Sans Bold"/>
              </a:rPr>
              <a:t>médio</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por</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mês</a:t>
            </a:r>
            <a:r>
              <a:rPr lang="en-US" sz="1500" dirty="0">
                <a:solidFill>
                  <a:srgbClr val="000000"/>
                </a:solidFill>
                <a:latin typeface="Canva Sans"/>
                <a:ea typeface="Canva Sans"/>
                <a:cs typeface="Canva Sans"/>
                <a:sym typeface="Canva Sans"/>
              </a:rPr>
              <a:t>/UF?</a:t>
            </a: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Top </a:t>
            </a:r>
            <a:r>
              <a:rPr lang="en-US" sz="1500" b="1" dirty="0">
                <a:solidFill>
                  <a:srgbClr val="000000"/>
                </a:solidFill>
                <a:latin typeface="Canva Sans Bold"/>
                <a:ea typeface="Canva Sans Bold"/>
                <a:cs typeface="Canva Sans Bold"/>
                <a:sym typeface="Canva Sans Bold"/>
              </a:rPr>
              <a:t>10 </a:t>
            </a:r>
            <a:r>
              <a:rPr lang="en-US" sz="1500" b="1" dirty="0" err="1">
                <a:solidFill>
                  <a:srgbClr val="000000"/>
                </a:solidFill>
                <a:latin typeface="Canva Sans Bold"/>
                <a:ea typeface="Canva Sans Bold"/>
                <a:cs typeface="Canva Sans Bold"/>
                <a:sym typeface="Canva Sans Bold"/>
              </a:rPr>
              <a:t>fornecedores</a:t>
            </a:r>
            <a:r>
              <a:rPr lang="en-US" sz="1500" b="1" dirty="0">
                <a:solidFill>
                  <a:srgbClr val="000000"/>
                </a:solidFill>
                <a:latin typeface="Canva Sans Bold"/>
                <a:ea typeface="Canva Sans Bold"/>
                <a:cs typeface="Canva Sans Bold"/>
                <a:sym typeface="Canva Sans Bold"/>
              </a:rPr>
              <a:t> </a:t>
            </a:r>
            <a:r>
              <a:rPr lang="en-US" sz="1500" b="1" dirty="0" err="1">
                <a:solidFill>
                  <a:srgbClr val="000000"/>
                </a:solidFill>
                <a:latin typeface="Canva Sans Bold"/>
                <a:ea typeface="Canva Sans Bold"/>
                <a:cs typeface="Canva Sans Bold"/>
                <a:sym typeface="Canva Sans Bold"/>
              </a:rPr>
              <a:t>por</a:t>
            </a:r>
            <a:r>
              <a:rPr lang="en-US" sz="1500" b="1" dirty="0">
                <a:solidFill>
                  <a:srgbClr val="000000"/>
                </a:solidFill>
                <a:latin typeface="Canva Sans Bold"/>
                <a:ea typeface="Canva Sans Bold"/>
                <a:cs typeface="Canva Sans Bold"/>
                <a:sym typeface="Canva Sans Bold"/>
              </a:rPr>
              <a:t> </a:t>
            </a:r>
            <a:r>
              <a:rPr lang="en-US" sz="1500" b="1" dirty="0" err="1">
                <a:solidFill>
                  <a:srgbClr val="000000"/>
                </a:solidFill>
                <a:latin typeface="Canva Sans Bold"/>
                <a:ea typeface="Canva Sans Bold"/>
                <a:cs typeface="Canva Sans Bold"/>
                <a:sym typeface="Canva Sans Bold"/>
              </a:rPr>
              <a:t>receita</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período</a:t>
            </a:r>
            <a:r>
              <a:rPr lang="en-US" sz="1500" dirty="0">
                <a:solidFill>
                  <a:srgbClr val="000000"/>
                </a:solidFill>
                <a:latin typeface="Canva Sans"/>
                <a:ea typeface="Canva Sans"/>
                <a:cs typeface="Canva Sans"/>
                <a:sym typeface="Canva Sans"/>
              </a:rPr>
              <a:t>/UF)?</a:t>
            </a: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Top </a:t>
            </a:r>
            <a:r>
              <a:rPr lang="en-US" sz="1500" b="1" dirty="0" err="1">
                <a:solidFill>
                  <a:srgbClr val="000000"/>
                </a:solidFill>
                <a:latin typeface="Canva Sans Bold"/>
                <a:ea typeface="Canva Sans Bold"/>
                <a:cs typeface="Canva Sans Bold"/>
                <a:sym typeface="Canva Sans Bold"/>
              </a:rPr>
              <a:t>itens</a:t>
            </a:r>
            <a:r>
              <a:rPr lang="en-US" sz="1500" b="1" dirty="0">
                <a:solidFill>
                  <a:srgbClr val="000000"/>
                </a:solidFill>
                <a:latin typeface="Canva Sans Bold"/>
                <a:ea typeface="Canva Sans Bold"/>
                <a:cs typeface="Canva Sans Bold"/>
                <a:sym typeface="Canva Sans Bold"/>
              </a:rPr>
              <a:t> </a:t>
            </a:r>
            <a:r>
              <a:rPr lang="en-US" sz="1500" b="1" dirty="0" err="1">
                <a:solidFill>
                  <a:srgbClr val="000000"/>
                </a:solidFill>
                <a:latin typeface="Canva Sans Bold"/>
                <a:ea typeface="Canva Sans Bold"/>
                <a:cs typeface="Canva Sans Bold"/>
                <a:sym typeface="Canva Sans Bold"/>
              </a:rPr>
              <a:t>por</a:t>
            </a:r>
            <a:r>
              <a:rPr lang="en-US" sz="1500" b="1" dirty="0">
                <a:solidFill>
                  <a:srgbClr val="000000"/>
                </a:solidFill>
                <a:latin typeface="Canva Sans Bold"/>
                <a:ea typeface="Canva Sans Bold"/>
                <a:cs typeface="Canva Sans Bold"/>
                <a:sym typeface="Canva Sans Bold"/>
              </a:rPr>
              <a:t> </a:t>
            </a:r>
            <a:r>
              <a:rPr lang="en-US" sz="1500" b="1" dirty="0" err="1">
                <a:solidFill>
                  <a:srgbClr val="000000"/>
                </a:solidFill>
                <a:latin typeface="Canva Sans Bold"/>
                <a:ea typeface="Canva Sans Bold"/>
                <a:cs typeface="Canva Sans Bold"/>
                <a:sym typeface="Canva Sans Bold"/>
              </a:rPr>
              <a:t>quantidade</a:t>
            </a:r>
            <a:r>
              <a:rPr lang="en-US" sz="1500" dirty="0">
                <a:solidFill>
                  <a:srgbClr val="000000"/>
                </a:solidFill>
                <a:latin typeface="Canva Sans"/>
                <a:ea typeface="Canva Sans"/>
                <a:cs typeface="Canva Sans"/>
                <a:sym typeface="Canva Sans"/>
              </a:rPr>
              <a:t>?</a:t>
            </a:r>
          </a:p>
          <a:p>
            <a:pPr algn="l">
              <a:lnSpc>
                <a:spcPts val="2100"/>
              </a:lnSpc>
            </a:pPr>
            <a:endParaRPr lang="en-US" sz="1500" dirty="0">
              <a:solidFill>
                <a:srgbClr val="000000"/>
              </a:solidFill>
              <a:latin typeface="Canva Sans"/>
              <a:ea typeface="Canva Sans"/>
              <a:cs typeface="Canva Sans"/>
              <a:sym typeface="Canva Sans"/>
            </a:endParaRPr>
          </a:p>
          <a:p>
            <a:pPr algn="l">
              <a:lnSpc>
                <a:spcPts val="2100"/>
              </a:lnSpc>
            </a:pPr>
            <a:r>
              <a:rPr lang="en-US" sz="1500" b="1" dirty="0" err="1">
                <a:solidFill>
                  <a:srgbClr val="000000"/>
                </a:solidFill>
                <a:latin typeface="Canva Sans Bold"/>
                <a:ea typeface="Canva Sans Bold"/>
                <a:cs typeface="Canva Sans Bold"/>
                <a:sym typeface="Canva Sans Bold"/>
              </a:rPr>
              <a:t>Distribuição</a:t>
            </a:r>
            <a:r>
              <a:rPr lang="en-US" sz="1500" b="1" dirty="0">
                <a:solidFill>
                  <a:srgbClr val="000000"/>
                </a:solidFill>
                <a:latin typeface="Canva Sans Bold"/>
                <a:ea typeface="Canva Sans Bold"/>
                <a:cs typeface="Canva Sans Bold"/>
                <a:sym typeface="Canva Sans Bold"/>
              </a:rPr>
              <a:t>/</a:t>
            </a:r>
            <a:r>
              <a:rPr lang="en-US" sz="1500" b="1" dirty="0" err="1">
                <a:solidFill>
                  <a:srgbClr val="000000"/>
                </a:solidFill>
                <a:latin typeface="Canva Sans Bold"/>
                <a:ea typeface="Canva Sans Bold"/>
                <a:cs typeface="Canva Sans Bold"/>
                <a:sym typeface="Canva Sans Bold"/>
              </a:rPr>
              <a:t>Estatística</a:t>
            </a:r>
            <a:endParaRPr lang="en-US" sz="1500" b="1" dirty="0">
              <a:solidFill>
                <a:srgbClr val="000000"/>
              </a:solidFill>
              <a:latin typeface="Canva Sans Bold"/>
              <a:ea typeface="Canva Sans Bold"/>
              <a:cs typeface="Canva Sans Bold"/>
              <a:sym typeface="Canva Sans Bold"/>
            </a:endParaRP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Qual a </a:t>
            </a:r>
            <a:r>
              <a:rPr lang="en-US" sz="1500" b="1" dirty="0" err="1">
                <a:solidFill>
                  <a:srgbClr val="000000"/>
                </a:solidFill>
                <a:latin typeface="Canva Sans Bold"/>
                <a:ea typeface="Canva Sans Bold"/>
                <a:cs typeface="Canva Sans Bold"/>
                <a:sym typeface="Canva Sans Bold"/>
              </a:rPr>
              <a:t>distribuição</a:t>
            </a:r>
            <a:r>
              <a:rPr lang="en-US" sz="1500" dirty="0">
                <a:solidFill>
                  <a:srgbClr val="000000"/>
                </a:solidFill>
                <a:latin typeface="Canva Sans"/>
                <a:ea typeface="Canva Sans"/>
                <a:cs typeface="Canva Sans"/>
                <a:sym typeface="Canva Sans"/>
              </a:rPr>
              <a:t> de </a:t>
            </a:r>
            <a:r>
              <a:rPr lang="en-US" sz="1500" dirty="0" err="1">
                <a:solidFill>
                  <a:srgbClr val="000000"/>
                </a:solidFill>
                <a:latin typeface="Canva Sans"/>
                <a:ea typeface="Canva Sans"/>
                <a:cs typeface="Canva Sans"/>
                <a:sym typeface="Canva Sans"/>
              </a:rPr>
              <a:t>notas</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por</a:t>
            </a:r>
            <a:r>
              <a:rPr lang="en-US" sz="1500" dirty="0">
                <a:solidFill>
                  <a:srgbClr val="000000"/>
                </a:solidFill>
                <a:latin typeface="Canva Sans"/>
                <a:ea typeface="Canva Sans"/>
                <a:cs typeface="Canva Sans"/>
                <a:sym typeface="Canva Sans"/>
              </a:rPr>
              <a:t> UF?</a:t>
            </a: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Qual a </a:t>
            </a:r>
            <a:r>
              <a:rPr lang="en-US" sz="1500" b="1" dirty="0" err="1">
                <a:solidFill>
                  <a:srgbClr val="000000"/>
                </a:solidFill>
                <a:latin typeface="Canva Sans Bold"/>
                <a:ea typeface="Canva Sans Bold"/>
                <a:cs typeface="Canva Sans Bold"/>
                <a:sym typeface="Canva Sans Bold"/>
              </a:rPr>
              <a:t>variabilidade</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desvio</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variância</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mediana</a:t>
            </a:r>
            <a:r>
              <a:rPr lang="en-US" sz="1500" dirty="0">
                <a:solidFill>
                  <a:srgbClr val="000000"/>
                </a:solidFill>
                <a:latin typeface="Canva Sans"/>
                <a:ea typeface="Canva Sans"/>
                <a:cs typeface="Canva Sans"/>
                <a:sym typeface="Canva Sans"/>
              </a:rPr>
              <a:t>) da </a:t>
            </a:r>
            <a:r>
              <a:rPr lang="en-US" sz="1500" dirty="0" err="1">
                <a:solidFill>
                  <a:srgbClr val="000000"/>
                </a:solidFill>
                <a:latin typeface="Canva Sans"/>
                <a:ea typeface="Canva Sans"/>
                <a:cs typeface="Canva Sans"/>
                <a:sym typeface="Canva Sans"/>
              </a:rPr>
              <a:t>receita</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diária</a:t>
            </a:r>
            <a:r>
              <a:rPr lang="en-US" sz="1500" dirty="0">
                <a:solidFill>
                  <a:srgbClr val="000000"/>
                </a:solidFill>
                <a:latin typeface="Canva Sans"/>
                <a:ea typeface="Canva Sans"/>
                <a:cs typeface="Canva Sans"/>
                <a:sym typeface="Canva Sans"/>
              </a:rPr>
              <a:t>?</a:t>
            </a:r>
          </a:p>
          <a:p>
            <a:pPr algn="l">
              <a:lnSpc>
                <a:spcPts val="2100"/>
              </a:lnSpc>
            </a:pPr>
            <a:endParaRPr lang="en-US" sz="1500" dirty="0">
              <a:solidFill>
                <a:srgbClr val="000000"/>
              </a:solidFill>
              <a:latin typeface="Canva Sans"/>
              <a:ea typeface="Canva Sans"/>
              <a:cs typeface="Canva Sans"/>
              <a:sym typeface="Canva Sans"/>
            </a:endParaRPr>
          </a:p>
          <a:p>
            <a:pPr algn="l">
              <a:lnSpc>
                <a:spcPts val="2100"/>
              </a:lnSpc>
            </a:pPr>
            <a:r>
              <a:rPr lang="en-US" sz="1500" b="1" dirty="0" err="1">
                <a:solidFill>
                  <a:srgbClr val="000000"/>
                </a:solidFill>
                <a:latin typeface="Canva Sans Bold"/>
                <a:ea typeface="Canva Sans Bold"/>
                <a:cs typeface="Canva Sans Bold"/>
                <a:sym typeface="Canva Sans Bold"/>
              </a:rPr>
              <a:t>Tendência</a:t>
            </a:r>
            <a:r>
              <a:rPr lang="en-US" sz="1500" b="1" dirty="0">
                <a:solidFill>
                  <a:srgbClr val="000000"/>
                </a:solidFill>
                <a:latin typeface="Canva Sans Bold"/>
                <a:ea typeface="Canva Sans Bold"/>
                <a:cs typeface="Canva Sans Bold"/>
                <a:sym typeface="Canva Sans Bold"/>
              </a:rPr>
              <a:t> Temporal</a:t>
            </a: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Como </a:t>
            </a:r>
            <a:r>
              <a:rPr lang="en-US" sz="1500" dirty="0" err="1">
                <a:solidFill>
                  <a:srgbClr val="000000"/>
                </a:solidFill>
                <a:latin typeface="Canva Sans"/>
                <a:ea typeface="Canva Sans"/>
                <a:cs typeface="Canva Sans"/>
                <a:sym typeface="Canva Sans"/>
              </a:rPr>
              <a:t>evolui</a:t>
            </a:r>
            <a:r>
              <a:rPr lang="en-US" sz="1500" dirty="0">
                <a:solidFill>
                  <a:srgbClr val="000000"/>
                </a:solidFill>
                <a:latin typeface="Canva Sans"/>
                <a:ea typeface="Canva Sans"/>
                <a:cs typeface="Canva Sans"/>
                <a:sym typeface="Canva Sans"/>
              </a:rPr>
              <a:t> a </a:t>
            </a:r>
            <a:r>
              <a:rPr lang="en-US" sz="1500" b="1" dirty="0" err="1">
                <a:solidFill>
                  <a:srgbClr val="000000"/>
                </a:solidFill>
                <a:latin typeface="Canva Sans Bold"/>
                <a:ea typeface="Canva Sans Bold"/>
                <a:cs typeface="Canva Sans Bold"/>
                <a:sym typeface="Canva Sans Bold"/>
              </a:rPr>
              <a:t>receita</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ao</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longo</a:t>
            </a:r>
            <a:r>
              <a:rPr lang="en-US" sz="1500" dirty="0">
                <a:solidFill>
                  <a:srgbClr val="000000"/>
                </a:solidFill>
                <a:latin typeface="Canva Sans"/>
                <a:ea typeface="Canva Sans"/>
                <a:cs typeface="Canva Sans"/>
                <a:sym typeface="Canva Sans"/>
              </a:rPr>
              <a:t> do tempo?</a:t>
            </a: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Qual a </a:t>
            </a:r>
            <a:r>
              <a:rPr lang="en-US" sz="1500" b="1" dirty="0" err="1">
                <a:solidFill>
                  <a:srgbClr val="000000"/>
                </a:solidFill>
                <a:latin typeface="Canva Sans Bold"/>
                <a:ea typeface="Canva Sans Bold"/>
                <a:cs typeface="Canva Sans Bold"/>
                <a:sym typeface="Canva Sans Bold"/>
              </a:rPr>
              <a:t>tendência</a:t>
            </a:r>
            <a:r>
              <a:rPr lang="en-US" sz="1500" dirty="0">
                <a:solidFill>
                  <a:srgbClr val="000000"/>
                </a:solidFill>
                <a:latin typeface="Canva Sans"/>
                <a:ea typeface="Canva Sans"/>
                <a:cs typeface="Canva Sans"/>
                <a:sym typeface="Canva Sans"/>
              </a:rPr>
              <a:t> do </a:t>
            </a:r>
            <a:r>
              <a:rPr lang="en-US" sz="1500" b="1" dirty="0">
                <a:solidFill>
                  <a:srgbClr val="000000"/>
                </a:solidFill>
                <a:latin typeface="Canva Sans Bold"/>
                <a:ea typeface="Canva Sans Bold"/>
                <a:cs typeface="Canva Sans Bold"/>
                <a:sym typeface="Canva Sans Bold"/>
              </a:rPr>
              <a:t>ticket </a:t>
            </a:r>
            <a:r>
              <a:rPr lang="en-US" sz="1500" b="1" dirty="0" err="1">
                <a:solidFill>
                  <a:srgbClr val="000000"/>
                </a:solidFill>
                <a:latin typeface="Canva Sans Bold"/>
                <a:ea typeface="Canva Sans Bold"/>
                <a:cs typeface="Canva Sans Bold"/>
                <a:sym typeface="Canva Sans Bold"/>
              </a:rPr>
              <a:t>médio</a:t>
            </a:r>
            <a:r>
              <a:rPr lang="en-US" sz="1500" dirty="0">
                <a:solidFill>
                  <a:srgbClr val="000000"/>
                </a:solidFill>
                <a:latin typeface="Canva Sans"/>
                <a:ea typeface="Canva Sans"/>
                <a:cs typeface="Canva Sans"/>
                <a:sym typeface="Canva Sans"/>
              </a:rPr>
              <a:t> no </a:t>
            </a:r>
            <a:r>
              <a:rPr lang="en-US" sz="1500" dirty="0" err="1">
                <a:solidFill>
                  <a:srgbClr val="000000"/>
                </a:solidFill>
                <a:latin typeface="Canva Sans"/>
                <a:ea typeface="Canva Sans"/>
                <a:cs typeface="Canva Sans"/>
                <a:sym typeface="Canva Sans"/>
              </a:rPr>
              <a:t>período</a:t>
            </a:r>
            <a:r>
              <a:rPr lang="en-US" sz="1500" dirty="0">
                <a:solidFill>
                  <a:srgbClr val="000000"/>
                </a:solidFill>
                <a:latin typeface="Canva Sans"/>
                <a:ea typeface="Canva Sans"/>
                <a:cs typeface="Canva Sans"/>
                <a:sym typeface="Canva Sans"/>
              </a:rPr>
              <a:t>?</a:t>
            </a:r>
          </a:p>
          <a:p>
            <a:pPr algn="l">
              <a:lnSpc>
                <a:spcPts val="2100"/>
              </a:lnSpc>
            </a:pPr>
            <a:endParaRPr lang="en-US" sz="1500" dirty="0">
              <a:solidFill>
                <a:srgbClr val="000000"/>
              </a:solidFill>
              <a:latin typeface="Canva Sans"/>
              <a:ea typeface="Canva Sans"/>
              <a:cs typeface="Canva Sans"/>
              <a:sym typeface="Canva Sans"/>
            </a:endParaRPr>
          </a:p>
          <a:p>
            <a:pPr algn="l">
              <a:lnSpc>
                <a:spcPts val="2100"/>
              </a:lnSpc>
            </a:pPr>
            <a:r>
              <a:rPr lang="en-US" sz="1500" b="1" dirty="0" err="1">
                <a:solidFill>
                  <a:srgbClr val="000000"/>
                </a:solidFill>
                <a:latin typeface="Canva Sans Bold"/>
                <a:ea typeface="Canva Sans Bold"/>
                <a:cs typeface="Canva Sans Bold"/>
                <a:sym typeface="Canva Sans Bold"/>
              </a:rPr>
              <a:t>Correlação</a:t>
            </a:r>
            <a:r>
              <a:rPr lang="en-US" sz="1500" b="1" dirty="0">
                <a:solidFill>
                  <a:srgbClr val="000000"/>
                </a:solidFill>
                <a:latin typeface="Canva Sans Bold"/>
                <a:ea typeface="Canva Sans Bold"/>
                <a:cs typeface="Canva Sans Bold"/>
                <a:sym typeface="Canva Sans Bold"/>
              </a:rPr>
              <a:t>/Outliers</a:t>
            </a:r>
          </a:p>
          <a:p>
            <a:pPr marL="323850" lvl="1" indent="-161925" algn="l">
              <a:lnSpc>
                <a:spcPts val="2100"/>
              </a:lnSpc>
              <a:buFont typeface="Arial"/>
              <a:buChar char="•"/>
            </a:pPr>
            <a:r>
              <a:rPr lang="en-US" sz="1500" dirty="0" err="1">
                <a:solidFill>
                  <a:srgbClr val="000000"/>
                </a:solidFill>
                <a:latin typeface="Canva Sans"/>
                <a:ea typeface="Canva Sans"/>
                <a:cs typeface="Canva Sans"/>
                <a:sym typeface="Canva Sans"/>
              </a:rPr>
              <a:t>Há</a:t>
            </a:r>
            <a:r>
              <a:rPr lang="en-US" sz="1500" dirty="0">
                <a:solidFill>
                  <a:srgbClr val="000000"/>
                </a:solidFill>
                <a:latin typeface="Canva Sans"/>
                <a:ea typeface="Canva Sans"/>
                <a:cs typeface="Canva Sans"/>
                <a:sym typeface="Canva Sans"/>
              </a:rPr>
              <a:t> </a:t>
            </a:r>
            <a:r>
              <a:rPr lang="en-US" sz="1500" b="1" dirty="0" err="1">
                <a:solidFill>
                  <a:srgbClr val="000000"/>
                </a:solidFill>
                <a:latin typeface="Canva Sans Bold"/>
                <a:ea typeface="Canva Sans Bold"/>
                <a:cs typeface="Canva Sans Bold"/>
                <a:sym typeface="Canva Sans Bold"/>
              </a:rPr>
              <a:t>correlação</a:t>
            </a:r>
            <a:r>
              <a:rPr lang="en-US" sz="1500" dirty="0">
                <a:solidFill>
                  <a:srgbClr val="000000"/>
                </a:solidFill>
                <a:latin typeface="Canva Sans"/>
                <a:ea typeface="Canva Sans"/>
                <a:cs typeface="Canva Sans"/>
                <a:sym typeface="Canva Sans"/>
              </a:rPr>
              <a:t> entre </a:t>
            </a:r>
            <a:r>
              <a:rPr lang="en-US" sz="1500" b="1" dirty="0" err="1">
                <a:solidFill>
                  <a:srgbClr val="000000"/>
                </a:solidFill>
                <a:latin typeface="Canva Sans Bold"/>
                <a:ea typeface="Canva Sans Bold"/>
                <a:cs typeface="Canva Sans Bold"/>
                <a:sym typeface="Canva Sans Bold"/>
              </a:rPr>
              <a:t>receita</a:t>
            </a:r>
            <a:r>
              <a:rPr lang="en-US" sz="1500" dirty="0">
                <a:solidFill>
                  <a:srgbClr val="000000"/>
                </a:solidFill>
                <a:latin typeface="Canva Sans"/>
                <a:ea typeface="Canva Sans"/>
                <a:cs typeface="Canva Sans"/>
                <a:sym typeface="Canva Sans"/>
              </a:rPr>
              <a:t> e </a:t>
            </a:r>
            <a:r>
              <a:rPr lang="en-US" sz="1500" b="1" dirty="0" err="1">
                <a:solidFill>
                  <a:srgbClr val="000000"/>
                </a:solidFill>
                <a:latin typeface="Canva Sans Bold"/>
                <a:ea typeface="Canva Sans Bold"/>
                <a:cs typeface="Canva Sans Bold"/>
                <a:sym typeface="Canva Sans Bold"/>
              </a:rPr>
              <a:t>quantidade</a:t>
            </a:r>
            <a:r>
              <a:rPr lang="en-US" sz="1500" dirty="0">
                <a:solidFill>
                  <a:srgbClr val="000000"/>
                </a:solidFill>
                <a:latin typeface="Canva Sans"/>
                <a:ea typeface="Canva Sans"/>
                <a:cs typeface="Canva Sans"/>
                <a:sym typeface="Canva Sans"/>
              </a:rPr>
              <a:t>?</a:t>
            </a: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Quais </a:t>
            </a:r>
            <a:r>
              <a:rPr lang="en-US" sz="1500" b="1" dirty="0">
                <a:solidFill>
                  <a:srgbClr val="000000"/>
                </a:solidFill>
                <a:latin typeface="Canva Sans Bold"/>
                <a:ea typeface="Canva Sans Bold"/>
                <a:cs typeface="Canva Sans Bold"/>
                <a:sym typeface="Canva Sans Bold"/>
              </a:rPr>
              <a:t>outliers</a:t>
            </a:r>
            <a:r>
              <a:rPr lang="en-US" sz="1500" dirty="0">
                <a:solidFill>
                  <a:srgbClr val="000000"/>
                </a:solidFill>
                <a:latin typeface="Canva Sans"/>
                <a:ea typeface="Canva Sans"/>
                <a:cs typeface="Canva Sans"/>
                <a:sym typeface="Canva Sans"/>
              </a:rPr>
              <a:t> de valor </a:t>
            </a:r>
            <a:r>
              <a:rPr lang="en-US" sz="1500" dirty="0" err="1">
                <a:solidFill>
                  <a:srgbClr val="000000"/>
                </a:solidFill>
                <a:latin typeface="Canva Sans"/>
                <a:ea typeface="Canva Sans"/>
                <a:cs typeface="Canva Sans"/>
                <a:sym typeface="Canva Sans"/>
              </a:rPr>
              <a:t>por</a:t>
            </a:r>
            <a:r>
              <a:rPr lang="en-US" sz="1500" dirty="0">
                <a:solidFill>
                  <a:srgbClr val="000000"/>
                </a:solidFill>
                <a:latin typeface="Canva Sans"/>
                <a:ea typeface="Canva Sans"/>
                <a:cs typeface="Canva Sans"/>
                <a:sym typeface="Canva Sans"/>
              </a:rPr>
              <a:t> nota?</a:t>
            </a:r>
          </a:p>
          <a:p>
            <a:pPr algn="l">
              <a:lnSpc>
                <a:spcPts val="2100"/>
              </a:lnSpc>
            </a:pPr>
            <a:endParaRPr lang="en-US" sz="1500" dirty="0">
              <a:solidFill>
                <a:srgbClr val="000000"/>
              </a:solidFill>
              <a:latin typeface="Canva Sans"/>
              <a:ea typeface="Canva Sans"/>
              <a:cs typeface="Canva Sans"/>
              <a:sym typeface="Canva Sans"/>
            </a:endParaRPr>
          </a:p>
          <a:p>
            <a:pPr algn="l">
              <a:lnSpc>
                <a:spcPts val="2100"/>
              </a:lnSpc>
            </a:pPr>
            <a:r>
              <a:rPr lang="en-US" sz="1500" b="1" dirty="0" err="1">
                <a:solidFill>
                  <a:srgbClr val="000000"/>
                </a:solidFill>
                <a:latin typeface="Canva Sans Bold"/>
                <a:ea typeface="Canva Sans Bold"/>
                <a:cs typeface="Canva Sans Bold"/>
                <a:sym typeface="Canva Sans Bold"/>
              </a:rPr>
              <a:t>Filtros</a:t>
            </a:r>
            <a:r>
              <a:rPr lang="en-US" sz="1500" b="1" dirty="0">
                <a:solidFill>
                  <a:srgbClr val="000000"/>
                </a:solidFill>
                <a:latin typeface="Canva Sans Bold"/>
                <a:ea typeface="Canva Sans Bold"/>
                <a:cs typeface="Canva Sans Bold"/>
                <a:sym typeface="Canva Sans Bold"/>
              </a:rPr>
              <a:t> e </a:t>
            </a:r>
            <a:r>
              <a:rPr lang="en-US" sz="1500" b="1" dirty="0" err="1">
                <a:solidFill>
                  <a:srgbClr val="000000"/>
                </a:solidFill>
                <a:latin typeface="Canva Sans Bold"/>
                <a:ea typeface="Canva Sans Bold"/>
                <a:cs typeface="Canva Sans Bold"/>
                <a:sym typeface="Canva Sans Bold"/>
              </a:rPr>
              <a:t>Recortes</a:t>
            </a:r>
            <a:endParaRPr lang="en-US" sz="1500" b="1" dirty="0">
              <a:solidFill>
                <a:srgbClr val="000000"/>
              </a:solidFill>
              <a:latin typeface="Canva Sans Bold"/>
              <a:ea typeface="Canva Sans Bold"/>
              <a:cs typeface="Canva Sans Bold"/>
              <a:sym typeface="Canva Sans Bold"/>
            </a:endParaRPr>
          </a:p>
          <a:p>
            <a:pPr marL="323850" lvl="1" indent="-161925" algn="l">
              <a:lnSpc>
                <a:spcPts val="2100"/>
              </a:lnSpc>
              <a:buFont typeface="Arial"/>
              <a:buChar char="•"/>
            </a:pPr>
            <a:r>
              <a:rPr lang="en-US" sz="1500" dirty="0" err="1">
                <a:solidFill>
                  <a:srgbClr val="000000"/>
                </a:solidFill>
                <a:latin typeface="Canva Sans"/>
                <a:ea typeface="Canva Sans"/>
                <a:cs typeface="Canva Sans"/>
                <a:sym typeface="Canva Sans"/>
              </a:rPr>
              <a:t>Receita</a:t>
            </a:r>
            <a:r>
              <a:rPr lang="en-US" sz="1500" dirty="0">
                <a:solidFill>
                  <a:srgbClr val="000000"/>
                </a:solidFill>
                <a:latin typeface="Canva Sans"/>
                <a:ea typeface="Canva Sans"/>
                <a:cs typeface="Canva Sans"/>
                <a:sym typeface="Canva Sans"/>
              </a:rPr>
              <a:t> mensal </a:t>
            </a:r>
            <a:r>
              <a:rPr lang="en-US" sz="1500" b="1" dirty="0" err="1">
                <a:solidFill>
                  <a:srgbClr val="000000"/>
                </a:solidFill>
                <a:latin typeface="Canva Sans Bold"/>
                <a:ea typeface="Canva Sans Bold"/>
                <a:cs typeface="Canva Sans Bold"/>
                <a:sym typeface="Canva Sans Bold"/>
              </a:rPr>
              <a:t>somente</a:t>
            </a:r>
            <a:r>
              <a:rPr lang="en-US" sz="1500" b="1" dirty="0">
                <a:solidFill>
                  <a:srgbClr val="000000"/>
                </a:solidFill>
                <a:latin typeface="Canva Sans Bold"/>
                <a:ea typeface="Canva Sans Bold"/>
                <a:cs typeface="Canva Sans Bold"/>
                <a:sym typeface="Canva Sans Bold"/>
              </a:rPr>
              <a:t> SP</a:t>
            </a:r>
            <a:r>
              <a:rPr lang="en-US" sz="1500" dirty="0">
                <a:solidFill>
                  <a:srgbClr val="000000"/>
                </a:solidFill>
                <a:latin typeface="Canva Sans"/>
                <a:ea typeface="Canva Sans"/>
                <a:cs typeface="Canva Sans"/>
                <a:sym typeface="Canva Sans"/>
              </a:rPr>
              <a:t> entre 2025-05-01 e 2025-06-30.</a:t>
            </a: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Top 5 </a:t>
            </a:r>
            <a:r>
              <a:rPr lang="en-US" sz="1500" b="1" dirty="0" err="1">
                <a:solidFill>
                  <a:srgbClr val="000000"/>
                </a:solidFill>
                <a:latin typeface="Canva Sans Bold"/>
                <a:ea typeface="Canva Sans Bold"/>
                <a:cs typeface="Canva Sans Bold"/>
                <a:sym typeface="Canva Sans Bold"/>
              </a:rPr>
              <a:t>fornecedores</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por</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receita</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em</a:t>
            </a:r>
            <a:r>
              <a:rPr lang="en-US" sz="1500" dirty="0">
                <a:solidFill>
                  <a:srgbClr val="000000"/>
                </a:solidFill>
                <a:latin typeface="Canva Sans"/>
                <a:ea typeface="Canva Sans"/>
                <a:cs typeface="Canva Sans"/>
                <a:sym typeface="Canva Sans"/>
              </a:rPr>
              <a:t> </a:t>
            </a:r>
            <a:r>
              <a:rPr lang="en-US" sz="1500" b="1" dirty="0">
                <a:solidFill>
                  <a:srgbClr val="000000"/>
                </a:solidFill>
                <a:latin typeface="Canva Sans Bold"/>
                <a:ea typeface="Canva Sans Bold"/>
                <a:cs typeface="Canva Sans Bold"/>
                <a:sym typeface="Canva Sans Bold"/>
              </a:rPr>
              <a:t>RJ</a:t>
            </a:r>
            <a:r>
              <a:rPr lang="en-US" sz="1500" dirty="0">
                <a:solidFill>
                  <a:srgbClr val="000000"/>
                </a:solidFill>
                <a:latin typeface="Canva Sans"/>
                <a:ea typeface="Canva Sans"/>
                <a:cs typeface="Canva Sans"/>
                <a:sym typeface="Canva Sans"/>
              </a:rPr>
              <a:t>.</a:t>
            </a:r>
          </a:p>
          <a:p>
            <a:pPr algn="l">
              <a:lnSpc>
                <a:spcPts val="2100"/>
              </a:lnSpc>
            </a:pPr>
            <a:endParaRPr lang="en-US" sz="1500" dirty="0">
              <a:solidFill>
                <a:srgbClr val="000000"/>
              </a:solidFill>
              <a:latin typeface="Canva Sans"/>
              <a:ea typeface="Canva Sans"/>
              <a:cs typeface="Canva Sans"/>
              <a:sym typeface="Canva Sans"/>
            </a:endParaRPr>
          </a:p>
          <a:p>
            <a:pPr algn="l">
              <a:lnSpc>
                <a:spcPts val="2100"/>
              </a:lnSpc>
            </a:pPr>
            <a:r>
              <a:rPr lang="en-US" sz="1500" b="1" dirty="0" err="1">
                <a:solidFill>
                  <a:srgbClr val="000000"/>
                </a:solidFill>
                <a:latin typeface="Canva Sans Bold"/>
                <a:ea typeface="Canva Sans Bold"/>
                <a:cs typeface="Canva Sans Bold"/>
                <a:sym typeface="Canva Sans Bold"/>
              </a:rPr>
              <a:t>Perguntas</a:t>
            </a:r>
            <a:r>
              <a:rPr lang="en-US" sz="1500" b="1" dirty="0">
                <a:solidFill>
                  <a:srgbClr val="000000"/>
                </a:solidFill>
                <a:latin typeface="Canva Sans Bold"/>
                <a:ea typeface="Canva Sans Bold"/>
                <a:cs typeface="Canva Sans Bold"/>
                <a:sym typeface="Canva Sans Bold"/>
              </a:rPr>
              <a:t> de </a:t>
            </a:r>
            <a:r>
              <a:rPr lang="en-US" sz="1500" b="1" dirty="0" err="1">
                <a:solidFill>
                  <a:srgbClr val="000000"/>
                </a:solidFill>
                <a:latin typeface="Canva Sans Bold"/>
                <a:ea typeface="Canva Sans Bold"/>
                <a:cs typeface="Canva Sans Bold"/>
                <a:sym typeface="Canva Sans Bold"/>
              </a:rPr>
              <a:t>governança</a:t>
            </a:r>
            <a:endParaRPr lang="en-US" sz="1500" b="1" dirty="0">
              <a:solidFill>
                <a:srgbClr val="000000"/>
              </a:solidFill>
              <a:latin typeface="Canva Sans Bold"/>
              <a:ea typeface="Canva Sans Bold"/>
              <a:cs typeface="Canva Sans Bold"/>
              <a:sym typeface="Canva Sans Bold"/>
            </a:endParaRPr>
          </a:p>
          <a:p>
            <a:pPr marL="323850" lvl="1" indent="-161925" algn="l">
              <a:lnSpc>
                <a:spcPts val="2100"/>
              </a:lnSpc>
              <a:buFont typeface="Arial"/>
              <a:buChar char="•"/>
            </a:pPr>
            <a:r>
              <a:rPr lang="en-US" sz="1500" dirty="0">
                <a:solidFill>
                  <a:srgbClr val="000000"/>
                </a:solidFill>
                <a:latin typeface="Canva Sans"/>
                <a:ea typeface="Canva Sans"/>
                <a:cs typeface="Canva Sans"/>
                <a:sym typeface="Canva Sans"/>
              </a:rPr>
              <a:t>Quais </a:t>
            </a:r>
            <a:r>
              <a:rPr lang="en-US" sz="1500" b="1" dirty="0">
                <a:solidFill>
                  <a:srgbClr val="000000"/>
                </a:solidFill>
                <a:latin typeface="Canva Sans Bold"/>
                <a:ea typeface="Canva Sans Bold"/>
                <a:cs typeface="Canva Sans Bold"/>
                <a:sym typeface="Canva Sans Bold"/>
              </a:rPr>
              <a:t>CFOPs</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mais</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recorrentes</a:t>
            </a:r>
            <a:r>
              <a:rPr lang="en-US" sz="1500" dirty="0">
                <a:solidFill>
                  <a:srgbClr val="000000"/>
                </a:solidFill>
                <a:latin typeface="Canva Sans"/>
                <a:ea typeface="Canva Sans"/>
                <a:cs typeface="Canva Sans"/>
                <a:sym typeface="Canva Sans"/>
              </a:rPr>
              <a:t>?</a:t>
            </a:r>
          </a:p>
          <a:p>
            <a:pPr marL="323850" lvl="1" indent="-161925" algn="l">
              <a:lnSpc>
                <a:spcPts val="2100"/>
              </a:lnSpc>
              <a:spcBef>
                <a:spcPct val="0"/>
              </a:spcBef>
              <a:buFont typeface="Arial"/>
              <a:buChar char="•"/>
            </a:pPr>
            <a:r>
              <a:rPr lang="en-US" sz="1500" dirty="0">
                <a:solidFill>
                  <a:srgbClr val="000000"/>
                </a:solidFill>
                <a:latin typeface="Canva Sans"/>
                <a:ea typeface="Canva Sans"/>
                <a:cs typeface="Canva Sans"/>
                <a:sym typeface="Canva Sans"/>
              </a:rPr>
              <a:t>Quais </a:t>
            </a:r>
            <a:r>
              <a:rPr lang="en-US" sz="1500" b="1" dirty="0" err="1">
                <a:solidFill>
                  <a:srgbClr val="000000"/>
                </a:solidFill>
                <a:latin typeface="Canva Sans Bold"/>
                <a:ea typeface="Canva Sans Bold"/>
                <a:cs typeface="Canva Sans Bold"/>
                <a:sym typeface="Canva Sans Bold"/>
              </a:rPr>
              <a:t>clientes</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concentram</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maior</a:t>
            </a:r>
            <a:r>
              <a:rPr lang="en-US" sz="1500" dirty="0">
                <a:solidFill>
                  <a:srgbClr val="000000"/>
                </a:solidFill>
                <a:latin typeface="Canva Sans"/>
                <a:ea typeface="Canva Sans"/>
                <a:cs typeface="Canva Sans"/>
                <a:sym typeface="Canva Sans"/>
              </a:rPr>
              <a:t> </a:t>
            </a:r>
            <a:r>
              <a:rPr lang="en-US" sz="1500" dirty="0" err="1">
                <a:solidFill>
                  <a:srgbClr val="000000"/>
                </a:solidFill>
                <a:latin typeface="Canva Sans"/>
                <a:ea typeface="Canva Sans"/>
                <a:cs typeface="Canva Sans"/>
                <a:sym typeface="Canva Sans"/>
              </a:rPr>
              <a:t>receita</a:t>
            </a:r>
            <a:r>
              <a:rPr lang="en-US" sz="1500" dirty="0">
                <a:solidFill>
                  <a:srgbClr val="000000"/>
                </a:solidFill>
                <a:latin typeface="Canva Sans"/>
                <a:ea typeface="Canva Sans"/>
                <a:cs typeface="Canva Sans"/>
                <a:sym typeface="Canva San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78442" y="-163675"/>
            <a:ext cx="15841946" cy="10709601"/>
            <a:chOff x="0" y="0"/>
            <a:chExt cx="4172364" cy="2820636"/>
          </a:xfrm>
        </p:grpSpPr>
        <p:sp>
          <p:nvSpPr>
            <p:cNvPr id="3" name="Freeform 3"/>
            <p:cNvSpPr/>
            <p:nvPr/>
          </p:nvSpPr>
          <p:spPr>
            <a:xfrm>
              <a:off x="0" y="0"/>
              <a:ext cx="4172364" cy="2820636"/>
            </a:xfrm>
            <a:custGeom>
              <a:avLst/>
              <a:gdLst/>
              <a:ahLst/>
              <a:cxnLst/>
              <a:rect l="l" t="t" r="r" b="b"/>
              <a:pathLst>
                <a:path w="4172364" h="2820636">
                  <a:moveTo>
                    <a:pt x="0" y="0"/>
                  </a:moveTo>
                  <a:lnTo>
                    <a:pt x="4172364" y="0"/>
                  </a:lnTo>
                  <a:lnTo>
                    <a:pt x="4172364" y="2820636"/>
                  </a:lnTo>
                  <a:lnTo>
                    <a:pt x="0" y="2820636"/>
                  </a:lnTo>
                  <a:close/>
                </a:path>
              </a:pathLst>
            </a:custGeom>
            <a:solidFill>
              <a:srgbClr val="FFCD46"/>
            </a:solidFill>
          </p:spPr>
          <p:txBody>
            <a:bodyPr/>
            <a:lstStyle/>
            <a:p>
              <a:endParaRPr lang="pt-BR"/>
            </a:p>
          </p:txBody>
        </p:sp>
        <p:sp>
          <p:nvSpPr>
            <p:cNvPr id="4" name="TextBox 4"/>
            <p:cNvSpPr txBox="1"/>
            <p:nvPr/>
          </p:nvSpPr>
          <p:spPr>
            <a:xfrm>
              <a:off x="0" y="-47625"/>
              <a:ext cx="4172364" cy="2868261"/>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5181125" y="-5745784"/>
            <a:ext cx="9354617" cy="93546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D2B4"/>
            </a:solidFill>
          </p:spPr>
          <p:txBody>
            <a:bodyPr/>
            <a:lstStyle/>
            <a:p>
              <a:endParaRPr lang="pt-BR"/>
            </a:p>
          </p:txBody>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6380"/>
                </a:lnSpc>
              </a:pPr>
              <a:endParaRPr/>
            </a:p>
          </p:txBody>
        </p:sp>
      </p:grpSp>
      <p:sp>
        <p:nvSpPr>
          <p:cNvPr id="8" name="Freeform 8"/>
          <p:cNvSpPr/>
          <p:nvPr/>
        </p:nvSpPr>
        <p:spPr>
          <a:xfrm>
            <a:off x="5678442" y="-163675"/>
            <a:ext cx="15130042" cy="13093958"/>
          </a:xfrm>
          <a:custGeom>
            <a:avLst/>
            <a:gdLst/>
            <a:ahLst/>
            <a:cxnLst/>
            <a:rect l="l" t="t" r="r" b="b"/>
            <a:pathLst>
              <a:path w="15130042" h="13093958">
                <a:moveTo>
                  <a:pt x="0" y="0"/>
                </a:moveTo>
                <a:lnTo>
                  <a:pt x="15130043" y="0"/>
                </a:lnTo>
                <a:lnTo>
                  <a:pt x="15130043" y="13093958"/>
                </a:lnTo>
                <a:lnTo>
                  <a:pt x="0" y="13093958"/>
                </a:lnTo>
                <a:lnTo>
                  <a:pt x="0" y="0"/>
                </a:lnTo>
                <a:close/>
              </a:path>
            </a:pathLst>
          </a:custGeom>
          <a:blipFill>
            <a:blip r:embed="rId2">
              <a:alphaModFix amt="43999"/>
            </a:blip>
            <a:stretch>
              <a:fillRect l="-5357" t="-16189" r="-1664" b="-7473"/>
            </a:stretch>
          </a:blipFill>
        </p:spPr>
        <p:txBody>
          <a:bodyPr/>
          <a:lstStyle/>
          <a:p>
            <a:endParaRPr lang="pt-BR"/>
          </a:p>
        </p:txBody>
      </p:sp>
      <p:sp>
        <p:nvSpPr>
          <p:cNvPr id="9" name="TextBox 9"/>
          <p:cNvSpPr txBox="1"/>
          <p:nvPr/>
        </p:nvSpPr>
        <p:spPr>
          <a:xfrm>
            <a:off x="763293" y="4079408"/>
            <a:ext cx="5214239" cy="778372"/>
          </a:xfrm>
          <a:prstGeom prst="rect">
            <a:avLst/>
          </a:prstGeom>
        </p:spPr>
        <p:txBody>
          <a:bodyPr lIns="0" tIns="0" rIns="0" bIns="0" rtlCol="0" anchor="t">
            <a:spAutoFit/>
          </a:bodyPr>
          <a:lstStyle/>
          <a:p>
            <a:pPr algn="l">
              <a:lnSpc>
                <a:spcPts val="6447"/>
              </a:lnSpc>
            </a:pPr>
            <a:r>
              <a:rPr lang="en-US" sz="4605">
                <a:solidFill>
                  <a:srgbClr val="000000"/>
                </a:solidFill>
                <a:latin typeface="League Spartan"/>
                <a:ea typeface="League Spartan"/>
                <a:cs typeface="League Spartan"/>
                <a:sym typeface="League Spartan"/>
              </a:rPr>
              <a:t>A solução</a:t>
            </a:r>
          </a:p>
        </p:txBody>
      </p:sp>
      <p:sp>
        <p:nvSpPr>
          <p:cNvPr id="10" name="TextBox 10"/>
          <p:cNvSpPr txBox="1"/>
          <p:nvPr/>
        </p:nvSpPr>
        <p:spPr>
          <a:xfrm>
            <a:off x="763293" y="5162550"/>
            <a:ext cx="3722918" cy="978986"/>
          </a:xfrm>
          <a:prstGeom prst="rect">
            <a:avLst/>
          </a:prstGeom>
        </p:spPr>
        <p:txBody>
          <a:bodyPr lIns="0" tIns="0" rIns="0" bIns="0" rtlCol="0" anchor="t">
            <a:spAutoFit/>
          </a:bodyPr>
          <a:lstStyle/>
          <a:p>
            <a:pPr algn="just">
              <a:lnSpc>
                <a:spcPts val="2571"/>
              </a:lnSpc>
            </a:pPr>
            <a:r>
              <a:rPr lang="en-US" sz="1876" dirty="0">
                <a:solidFill>
                  <a:srgbClr val="000000"/>
                </a:solidFill>
                <a:latin typeface="Canva Sans"/>
                <a:ea typeface="Canva Sans"/>
                <a:cs typeface="Canva Sans"/>
                <a:sym typeface="Canva Sans"/>
              </a:rPr>
              <a:t>Nossa </a:t>
            </a:r>
            <a:r>
              <a:rPr lang="en-US" sz="1876" dirty="0" err="1">
                <a:solidFill>
                  <a:srgbClr val="000000"/>
                </a:solidFill>
                <a:latin typeface="Canva Sans"/>
                <a:ea typeface="Canva Sans"/>
                <a:cs typeface="Canva Sans"/>
                <a:sym typeface="Canva Sans"/>
              </a:rPr>
              <a:t>solução</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foi</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construída</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sobre</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uma</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arquitetura</a:t>
            </a:r>
            <a:r>
              <a:rPr lang="en-US" sz="1876" dirty="0">
                <a:solidFill>
                  <a:srgbClr val="000000"/>
                </a:solidFill>
                <a:latin typeface="Canva Sans"/>
                <a:ea typeface="Canva Sans"/>
                <a:cs typeface="Canva Sans"/>
                <a:sym typeface="Canva Sans"/>
              </a:rPr>
              <a:t> de </a:t>
            </a:r>
            <a:r>
              <a:rPr lang="en-US" sz="1876" dirty="0" err="1">
                <a:solidFill>
                  <a:srgbClr val="000000"/>
                </a:solidFill>
                <a:latin typeface="Canva Sans"/>
                <a:ea typeface="Canva Sans"/>
                <a:cs typeface="Canva Sans"/>
                <a:sym typeface="Canva Sans"/>
              </a:rPr>
              <a:t>Agentes</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Autônomos</a:t>
            </a:r>
            <a:r>
              <a:rPr lang="en-US" sz="1876" dirty="0">
                <a:solidFill>
                  <a:srgbClr val="000000"/>
                </a:solidFill>
                <a:latin typeface="Canva Sans"/>
                <a:ea typeface="Canva Sans"/>
                <a:cs typeface="Canva Sans"/>
                <a:sym typeface="Canva Sans"/>
              </a:rPr>
              <a:t>.</a:t>
            </a:r>
          </a:p>
        </p:txBody>
      </p:sp>
      <p:sp>
        <p:nvSpPr>
          <p:cNvPr id="11" name="TextBox 11"/>
          <p:cNvSpPr txBox="1"/>
          <p:nvPr/>
        </p:nvSpPr>
        <p:spPr>
          <a:xfrm>
            <a:off x="6753153" y="2616688"/>
            <a:ext cx="9984299" cy="5608458"/>
          </a:xfrm>
          <a:prstGeom prst="rect">
            <a:avLst/>
          </a:prstGeom>
        </p:spPr>
        <p:txBody>
          <a:bodyPr lIns="0" tIns="0" rIns="0" bIns="0" rtlCol="0" anchor="t">
            <a:spAutoFit/>
          </a:bodyPr>
          <a:lstStyle/>
          <a:p>
            <a:pPr algn="l">
              <a:lnSpc>
                <a:spcPts val="3256"/>
              </a:lnSpc>
            </a:pPr>
            <a:r>
              <a:rPr lang="en-US" sz="2376" b="1" dirty="0">
                <a:solidFill>
                  <a:srgbClr val="000000"/>
                </a:solidFill>
                <a:latin typeface="Canva Sans Bold"/>
                <a:ea typeface="Canva Sans Bold"/>
                <a:cs typeface="Canva Sans Bold"/>
                <a:sym typeface="Canva Sans Bold"/>
              </a:rPr>
              <a:t>Interface Web (HTML/Chart.js)</a:t>
            </a:r>
          </a:p>
          <a:p>
            <a:pPr algn="l">
              <a:lnSpc>
                <a:spcPts val="2571"/>
              </a:lnSpc>
            </a:pPr>
            <a:r>
              <a:rPr lang="en-US" sz="1876" dirty="0" err="1">
                <a:solidFill>
                  <a:srgbClr val="000000"/>
                </a:solidFill>
                <a:latin typeface="Canva Sans"/>
                <a:ea typeface="Canva Sans"/>
                <a:cs typeface="Canva Sans"/>
                <a:sym typeface="Canva Sans"/>
              </a:rPr>
              <a:t>Formulário</a:t>
            </a:r>
            <a:r>
              <a:rPr lang="en-US" sz="1876" dirty="0">
                <a:solidFill>
                  <a:srgbClr val="000000"/>
                </a:solidFill>
                <a:latin typeface="Canva Sans"/>
                <a:ea typeface="Canva Sans"/>
                <a:cs typeface="Canva Sans"/>
                <a:sym typeface="Canva Sans"/>
              </a:rPr>
              <a:t> + </a:t>
            </a:r>
            <a:r>
              <a:rPr lang="en-US" sz="1876" dirty="0" err="1">
                <a:solidFill>
                  <a:srgbClr val="000000"/>
                </a:solidFill>
                <a:latin typeface="Canva Sans"/>
                <a:ea typeface="Canva Sans"/>
                <a:cs typeface="Canva Sans"/>
                <a:sym typeface="Canva Sans"/>
              </a:rPr>
              <a:t>renderização</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dinâmica</a:t>
            </a:r>
            <a:r>
              <a:rPr lang="en-US" sz="1876" dirty="0">
                <a:solidFill>
                  <a:srgbClr val="000000"/>
                </a:solidFill>
                <a:latin typeface="Canva Sans"/>
                <a:ea typeface="Canva Sans"/>
                <a:cs typeface="Canva Sans"/>
                <a:sym typeface="Canva Sans"/>
              </a:rPr>
              <a:t> do dashboard; </a:t>
            </a:r>
            <a:r>
              <a:rPr lang="en-US" sz="1876" dirty="0" err="1">
                <a:solidFill>
                  <a:srgbClr val="000000"/>
                </a:solidFill>
                <a:latin typeface="Canva Sans"/>
                <a:ea typeface="Canva Sans"/>
                <a:cs typeface="Canva Sans"/>
                <a:sym typeface="Canva Sans"/>
              </a:rPr>
              <a:t>retorna</a:t>
            </a:r>
            <a:r>
              <a:rPr lang="en-US" sz="1876" dirty="0">
                <a:solidFill>
                  <a:srgbClr val="000000"/>
                </a:solidFill>
                <a:latin typeface="Canva Sans"/>
                <a:ea typeface="Canva Sans"/>
                <a:cs typeface="Canva Sans"/>
                <a:sym typeface="Canva Sans"/>
              </a:rPr>
              <a:t> KPIs, </a:t>
            </a:r>
            <a:r>
              <a:rPr lang="en-US" sz="1876" dirty="0" err="1">
                <a:solidFill>
                  <a:srgbClr val="000000"/>
                </a:solidFill>
                <a:latin typeface="Canva Sans"/>
                <a:ea typeface="Canva Sans"/>
                <a:cs typeface="Canva Sans"/>
                <a:sym typeface="Canva Sans"/>
              </a:rPr>
              <a:t>gráfico</a:t>
            </a:r>
            <a:r>
              <a:rPr lang="en-US" sz="1876" dirty="0">
                <a:solidFill>
                  <a:srgbClr val="000000"/>
                </a:solidFill>
                <a:latin typeface="Canva Sans"/>
                <a:ea typeface="Canva Sans"/>
                <a:cs typeface="Canva Sans"/>
                <a:sym typeface="Canva Sans"/>
              </a:rPr>
              <a:t> de </a:t>
            </a:r>
            <a:r>
              <a:rPr lang="en-US" sz="1876" dirty="0" err="1">
                <a:solidFill>
                  <a:srgbClr val="000000"/>
                </a:solidFill>
                <a:latin typeface="Canva Sans"/>
                <a:ea typeface="Canva Sans"/>
                <a:cs typeface="Canva Sans"/>
                <a:sym typeface="Canva Sans"/>
              </a:rPr>
              <a:t>série</a:t>
            </a:r>
            <a:r>
              <a:rPr lang="en-US" sz="1876" dirty="0">
                <a:solidFill>
                  <a:srgbClr val="000000"/>
                </a:solidFill>
                <a:latin typeface="Canva Sans"/>
                <a:ea typeface="Canva Sans"/>
                <a:cs typeface="Canva Sans"/>
                <a:sym typeface="Canva Sans"/>
              </a:rPr>
              <a:t> temporal e </a:t>
            </a:r>
            <a:r>
              <a:rPr lang="en-US" sz="1876" dirty="0" err="1">
                <a:solidFill>
                  <a:srgbClr val="000000"/>
                </a:solidFill>
                <a:latin typeface="Canva Sans"/>
                <a:ea typeface="Canva Sans"/>
                <a:cs typeface="Canva Sans"/>
                <a:sym typeface="Canva Sans"/>
              </a:rPr>
              <a:t>tabela</a:t>
            </a:r>
            <a:r>
              <a:rPr lang="en-US" sz="1876" dirty="0">
                <a:solidFill>
                  <a:srgbClr val="000000"/>
                </a:solidFill>
                <a:latin typeface="Canva Sans"/>
                <a:ea typeface="Canva Sans"/>
                <a:cs typeface="Canva Sans"/>
                <a:sym typeface="Canva Sans"/>
              </a:rPr>
              <a:t>.</a:t>
            </a:r>
          </a:p>
          <a:p>
            <a:pPr algn="l">
              <a:lnSpc>
                <a:spcPts val="3256"/>
              </a:lnSpc>
            </a:pPr>
            <a:endParaRPr lang="en-US" sz="1876" dirty="0">
              <a:solidFill>
                <a:srgbClr val="000000"/>
              </a:solidFill>
              <a:latin typeface="Canva Sans"/>
              <a:ea typeface="Canva Sans"/>
              <a:cs typeface="Canva Sans"/>
              <a:sym typeface="Canva Sans"/>
            </a:endParaRPr>
          </a:p>
          <a:p>
            <a:pPr algn="l">
              <a:lnSpc>
                <a:spcPts val="3256"/>
              </a:lnSpc>
            </a:pPr>
            <a:r>
              <a:rPr lang="en-US" sz="2376" b="1" dirty="0" err="1">
                <a:solidFill>
                  <a:srgbClr val="000000"/>
                </a:solidFill>
                <a:latin typeface="Canva Sans Bold"/>
                <a:ea typeface="Canva Sans Bold"/>
                <a:cs typeface="Canva Sans Bold"/>
                <a:sym typeface="Canva Sans Bold"/>
              </a:rPr>
              <a:t>Orquestração</a:t>
            </a:r>
            <a:r>
              <a:rPr lang="en-US" sz="2376" b="1" dirty="0">
                <a:solidFill>
                  <a:srgbClr val="000000"/>
                </a:solidFill>
                <a:latin typeface="Canva Sans Bold"/>
                <a:ea typeface="Canva Sans Bold"/>
                <a:cs typeface="Canva Sans Bold"/>
                <a:sym typeface="Canva Sans Bold"/>
              </a:rPr>
              <a:t> (n8n – Render)</a:t>
            </a:r>
          </a:p>
          <a:p>
            <a:pPr algn="l">
              <a:lnSpc>
                <a:spcPts val="2571"/>
              </a:lnSpc>
            </a:pPr>
            <a:r>
              <a:rPr lang="en-US" sz="1876" dirty="0">
                <a:solidFill>
                  <a:srgbClr val="000000"/>
                </a:solidFill>
                <a:latin typeface="Canva Sans"/>
                <a:ea typeface="Canva Sans"/>
                <a:cs typeface="Canva Sans"/>
                <a:sym typeface="Canva Sans"/>
              </a:rPr>
              <a:t>São </a:t>
            </a:r>
            <a:r>
              <a:rPr lang="en-US" sz="1876" dirty="0" err="1">
                <a:solidFill>
                  <a:srgbClr val="000000"/>
                </a:solidFill>
                <a:latin typeface="Canva Sans"/>
                <a:ea typeface="Canva Sans"/>
                <a:cs typeface="Canva Sans"/>
                <a:sym typeface="Canva Sans"/>
              </a:rPr>
              <a:t>dois</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fluxos</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que</a:t>
            </a:r>
            <a:r>
              <a:rPr lang="en-US" sz="1876" dirty="0">
                <a:solidFill>
                  <a:srgbClr val="000000"/>
                </a:solidFill>
                <a:latin typeface="Canva Sans"/>
                <a:ea typeface="Canva Sans"/>
                <a:cs typeface="Canva Sans"/>
                <a:sym typeface="Canva Sans"/>
              </a:rPr>
              <a:t> se </a:t>
            </a:r>
            <a:r>
              <a:rPr lang="en-US" sz="1876" dirty="0" err="1">
                <a:solidFill>
                  <a:srgbClr val="000000"/>
                </a:solidFill>
                <a:latin typeface="Canva Sans"/>
                <a:ea typeface="Canva Sans"/>
                <a:cs typeface="Canva Sans"/>
                <a:sym typeface="Canva Sans"/>
              </a:rPr>
              <a:t>dividem</a:t>
            </a:r>
            <a:r>
              <a:rPr lang="en-US" sz="1876" dirty="0">
                <a:solidFill>
                  <a:srgbClr val="000000"/>
                </a:solidFill>
                <a:latin typeface="Canva Sans"/>
                <a:ea typeface="Canva Sans"/>
                <a:cs typeface="Canva Sans"/>
                <a:sym typeface="Canva Sans"/>
              </a:rPr>
              <a:t> a </a:t>
            </a:r>
            <a:r>
              <a:rPr lang="en-US" sz="1876" dirty="0" err="1">
                <a:solidFill>
                  <a:srgbClr val="000000"/>
                </a:solidFill>
                <a:latin typeface="Canva Sans"/>
                <a:ea typeface="Canva Sans"/>
                <a:cs typeface="Canva Sans"/>
                <a:sym typeface="Canva Sans"/>
              </a:rPr>
              <a:t>partir</a:t>
            </a:r>
            <a:r>
              <a:rPr lang="en-US" sz="1876" dirty="0">
                <a:solidFill>
                  <a:srgbClr val="000000"/>
                </a:solidFill>
                <a:latin typeface="Canva Sans"/>
                <a:ea typeface="Canva Sans"/>
                <a:cs typeface="Canva Sans"/>
                <a:sym typeface="Canva Sans"/>
              </a:rPr>
              <a:t> dos </a:t>
            </a:r>
            <a:r>
              <a:rPr lang="en-US" sz="1876" dirty="0" err="1">
                <a:solidFill>
                  <a:srgbClr val="000000"/>
                </a:solidFill>
                <a:latin typeface="Canva Sans"/>
                <a:ea typeface="Canva Sans"/>
                <a:cs typeface="Canva Sans"/>
                <a:sym typeface="Canva Sans"/>
              </a:rPr>
              <a:t>parâmetros</a:t>
            </a:r>
            <a:r>
              <a:rPr lang="en-US" sz="1876" dirty="0">
                <a:solidFill>
                  <a:srgbClr val="000000"/>
                </a:solidFill>
                <a:latin typeface="Canva Sans"/>
                <a:ea typeface="Canva Sans"/>
                <a:cs typeface="Canva Sans"/>
                <a:sym typeface="Canva Sans"/>
              </a:rPr>
              <a:t> de entrada: </a:t>
            </a:r>
            <a:r>
              <a:rPr lang="en-US" sz="1876" dirty="0" err="1">
                <a:solidFill>
                  <a:srgbClr val="000000"/>
                </a:solidFill>
                <a:latin typeface="Canva Sans"/>
                <a:ea typeface="Canva Sans"/>
                <a:cs typeface="Canva Sans"/>
                <a:sym typeface="Canva Sans"/>
              </a:rPr>
              <a:t>relatórios</a:t>
            </a:r>
            <a:r>
              <a:rPr lang="en-US" sz="1876" dirty="0">
                <a:solidFill>
                  <a:srgbClr val="000000"/>
                </a:solidFill>
                <a:latin typeface="Canva Sans"/>
                <a:ea typeface="Canva Sans"/>
                <a:cs typeface="Canva Sans"/>
                <a:sym typeface="Canva Sans"/>
              </a:rPr>
              <a:t> EDA e </a:t>
            </a:r>
            <a:r>
              <a:rPr lang="en-US" sz="1876" dirty="0" err="1">
                <a:solidFill>
                  <a:srgbClr val="000000"/>
                </a:solidFill>
                <a:latin typeface="Canva Sans"/>
                <a:ea typeface="Canva Sans"/>
                <a:cs typeface="Canva Sans"/>
                <a:sym typeface="Canva Sans"/>
              </a:rPr>
              <a:t>análise</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preditiva</a:t>
            </a:r>
            <a:r>
              <a:rPr lang="en-US" sz="1876" dirty="0">
                <a:solidFill>
                  <a:srgbClr val="000000"/>
                </a:solidFill>
                <a:latin typeface="Canva Sans"/>
                <a:ea typeface="Canva Sans"/>
                <a:cs typeface="Canva Sans"/>
                <a:sym typeface="Canva Sans"/>
              </a:rPr>
              <a:t>.</a:t>
            </a:r>
          </a:p>
          <a:p>
            <a:pPr algn="l">
              <a:lnSpc>
                <a:spcPts val="3256"/>
              </a:lnSpc>
            </a:pPr>
            <a:endParaRPr lang="en-US" sz="1876" dirty="0">
              <a:solidFill>
                <a:srgbClr val="000000"/>
              </a:solidFill>
              <a:latin typeface="Canva Sans"/>
              <a:ea typeface="Canva Sans"/>
              <a:cs typeface="Canva Sans"/>
              <a:sym typeface="Canva Sans"/>
            </a:endParaRPr>
          </a:p>
          <a:p>
            <a:pPr algn="l">
              <a:lnSpc>
                <a:spcPts val="3256"/>
              </a:lnSpc>
            </a:pPr>
            <a:r>
              <a:rPr lang="en-US" sz="2376" b="1" dirty="0">
                <a:solidFill>
                  <a:srgbClr val="000000"/>
                </a:solidFill>
                <a:latin typeface="Canva Sans Bold"/>
                <a:ea typeface="Canva Sans Bold"/>
                <a:cs typeface="Canva Sans Bold"/>
                <a:sym typeface="Canva Sans Bold"/>
              </a:rPr>
              <a:t>Dados (PostgreSQL)</a:t>
            </a:r>
          </a:p>
          <a:p>
            <a:pPr algn="l">
              <a:lnSpc>
                <a:spcPts val="2571"/>
              </a:lnSpc>
            </a:pPr>
            <a:r>
              <a:rPr lang="en-US" sz="1876" dirty="0">
                <a:solidFill>
                  <a:srgbClr val="000000"/>
                </a:solidFill>
                <a:latin typeface="Canva Sans"/>
                <a:ea typeface="Canva Sans"/>
                <a:cs typeface="Canva Sans"/>
                <a:sym typeface="Canva Sans"/>
              </a:rPr>
              <a:t>Armazena datasets (</a:t>
            </a:r>
            <a:r>
              <a:rPr lang="en-US" sz="1876" dirty="0" err="1">
                <a:solidFill>
                  <a:srgbClr val="000000"/>
                </a:solidFill>
                <a:latin typeface="Canva Sans"/>
                <a:ea typeface="Canva Sans"/>
                <a:cs typeface="Canva Sans"/>
                <a:sym typeface="Canva Sans"/>
              </a:rPr>
              <a:t>linhas</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normalizadas</a:t>
            </a:r>
            <a:r>
              <a:rPr lang="en-US" sz="1876" dirty="0">
                <a:solidFill>
                  <a:srgbClr val="000000"/>
                </a:solidFill>
                <a:latin typeface="Canva Sans"/>
                <a:ea typeface="Canva Sans"/>
                <a:cs typeface="Canva Sans"/>
                <a:sym typeface="Canva Sans"/>
              </a:rPr>
              <a:t>), schema, plan e histórico de </a:t>
            </a:r>
            <a:r>
              <a:rPr lang="en-US" sz="1876" dirty="0" err="1">
                <a:solidFill>
                  <a:srgbClr val="000000"/>
                </a:solidFill>
                <a:latin typeface="Canva Sans"/>
                <a:ea typeface="Canva Sans"/>
                <a:cs typeface="Canva Sans"/>
                <a:sym typeface="Canva Sans"/>
              </a:rPr>
              <a:t>perguntas</a:t>
            </a:r>
            <a:r>
              <a:rPr lang="en-US" sz="1876" dirty="0">
                <a:solidFill>
                  <a:srgbClr val="000000"/>
                </a:solidFill>
                <a:latin typeface="Canva Sans"/>
                <a:ea typeface="Canva Sans"/>
                <a:cs typeface="Canva Sans"/>
                <a:sym typeface="Canva Sans"/>
              </a:rPr>
              <a:t>/</a:t>
            </a:r>
            <a:r>
              <a:rPr lang="en-US" sz="1876" dirty="0" err="1">
                <a:solidFill>
                  <a:srgbClr val="000000"/>
                </a:solidFill>
                <a:latin typeface="Canva Sans"/>
                <a:ea typeface="Canva Sans"/>
                <a:cs typeface="Canva Sans"/>
                <a:sym typeface="Canva Sans"/>
              </a:rPr>
              <a:t>sessões</a:t>
            </a:r>
            <a:r>
              <a:rPr lang="en-US" sz="1876" dirty="0">
                <a:solidFill>
                  <a:srgbClr val="000000"/>
                </a:solidFill>
                <a:latin typeface="Canva Sans"/>
                <a:ea typeface="Canva Sans"/>
                <a:cs typeface="Canva Sans"/>
                <a:sym typeface="Canva Sans"/>
              </a:rPr>
              <a:t>.</a:t>
            </a:r>
          </a:p>
          <a:p>
            <a:pPr algn="l">
              <a:lnSpc>
                <a:spcPts val="3256"/>
              </a:lnSpc>
            </a:pPr>
            <a:endParaRPr lang="en-US" sz="1876" dirty="0">
              <a:solidFill>
                <a:srgbClr val="000000"/>
              </a:solidFill>
              <a:latin typeface="Canva Sans"/>
              <a:ea typeface="Canva Sans"/>
              <a:cs typeface="Canva Sans"/>
              <a:sym typeface="Canva Sans"/>
            </a:endParaRPr>
          </a:p>
          <a:p>
            <a:pPr algn="l">
              <a:lnSpc>
                <a:spcPts val="3256"/>
              </a:lnSpc>
            </a:pPr>
            <a:r>
              <a:rPr lang="en-US" sz="2376" b="1" dirty="0">
                <a:solidFill>
                  <a:srgbClr val="000000"/>
                </a:solidFill>
                <a:latin typeface="Canva Sans Bold"/>
                <a:ea typeface="Canva Sans Bold"/>
                <a:cs typeface="Canva Sans Bold"/>
                <a:sym typeface="Canva Sans Bold"/>
              </a:rPr>
              <a:t>Modelo (OpenAI)</a:t>
            </a:r>
          </a:p>
          <a:p>
            <a:pPr algn="l">
              <a:lnSpc>
                <a:spcPts val="2571"/>
              </a:lnSpc>
            </a:pPr>
            <a:r>
              <a:rPr lang="en-US" sz="1876" dirty="0">
                <a:solidFill>
                  <a:srgbClr val="000000"/>
                </a:solidFill>
                <a:latin typeface="Canva Sans"/>
                <a:ea typeface="Canva Sans"/>
                <a:cs typeface="Canva Sans"/>
                <a:sym typeface="Canva Sans"/>
              </a:rPr>
              <a:t>Gera o plano JSON de </a:t>
            </a:r>
            <a:r>
              <a:rPr lang="en-US" sz="1876" dirty="0" err="1">
                <a:solidFill>
                  <a:srgbClr val="000000"/>
                </a:solidFill>
                <a:latin typeface="Canva Sans"/>
                <a:ea typeface="Canva Sans"/>
                <a:cs typeface="Canva Sans"/>
                <a:sym typeface="Canva Sans"/>
              </a:rPr>
              <a:t>análise</a:t>
            </a:r>
            <a:r>
              <a:rPr lang="en-US" sz="1876" dirty="0">
                <a:solidFill>
                  <a:srgbClr val="000000"/>
                </a:solidFill>
                <a:latin typeface="Canva Sans"/>
                <a:ea typeface="Canva Sans"/>
                <a:cs typeface="Canva Sans"/>
                <a:sym typeface="Canva Sans"/>
              </a:rPr>
              <a:t> (intent/metrics/viz/</a:t>
            </a:r>
            <a:r>
              <a:rPr lang="en-US" sz="1876" dirty="0" err="1">
                <a:solidFill>
                  <a:srgbClr val="000000"/>
                </a:solidFill>
                <a:latin typeface="Canva Sans"/>
                <a:ea typeface="Canva Sans"/>
                <a:cs typeface="Canva Sans"/>
                <a:sym typeface="Canva Sans"/>
              </a:rPr>
              <a:t>correlação</a:t>
            </a:r>
            <a:r>
              <a:rPr lang="en-US" sz="1876" dirty="0">
                <a:solidFill>
                  <a:srgbClr val="000000"/>
                </a:solidFill>
                <a:latin typeface="Canva Sans"/>
                <a:ea typeface="Canva Sans"/>
                <a:cs typeface="Canva Sans"/>
                <a:sym typeface="Canva Sans"/>
              </a:rPr>
              <a:t>), e, </a:t>
            </a:r>
            <a:r>
              <a:rPr lang="en-US" sz="1876" dirty="0" err="1">
                <a:solidFill>
                  <a:srgbClr val="000000"/>
                </a:solidFill>
                <a:latin typeface="Canva Sans"/>
                <a:ea typeface="Canva Sans"/>
                <a:cs typeface="Canva Sans"/>
                <a:sym typeface="Canva Sans"/>
              </a:rPr>
              <a:t>quando</a:t>
            </a:r>
            <a:r>
              <a:rPr lang="en-US" sz="1876" dirty="0">
                <a:solidFill>
                  <a:srgbClr val="000000"/>
                </a:solidFill>
                <a:latin typeface="Canva Sans"/>
                <a:ea typeface="Canva Sans"/>
                <a:cs typeface="Canva Sans"/>
                <a:sym typeface="Canva Sans"/>
              </a:rPr>
              <a:t> </a:t>
            </a:r>
            <a:r>
              <a:rPr lang="en-US" sz="1876" dirty="0" err="1">
                <a:solidFill>
                  <a:srgbClr val="000000"/>
                </a:solidFill>
                <a:latin typeface="Canva Sans"/>
                <a:ea typeface="Canva Sans"/>
                <a:cs typeface="Canva Sans"/>
                <a:sym typeface="Canva Sans"/>
              </a:rPr>
              <a:t>habilitado</a:t>
            </a:r>
            <a:r>
              <a:rPr lang="en-US" sz="1876" dirty="0">
                <a:solidFill>
                  <a:srgbClr val="000000"/>
                </a:solidFill>
                <a:latin typeface="Canva Sans"/>
                <a:ea typeface="Canva Sans"/>
                <a:cs typeface="Canva Sans"/>
                <a:sym typeface="Canva Sans"/>
              </a:rPr>
              <a:t>, insights.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81125" y="-5745784"/>
            <a:ext cx="9354617" cy="935461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D2B4"/>
            </a:solidFill>
          </p:spPr>
          <p:txBody>
            <a:bodyPr/>
            <a:lstStyle/>
            <a:p>
              <a:endParaRPr lang="pt-BR"/>
            </a:p>
          </p:txBody>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6380"/>
                </a:lnSpc>
              </a:pPr>
              <a:endParaRPr/>
            </a:p>
          </p:txBody>
        </p:sp>
      </p:grpSp>
      <p:sp>
        <p:nvSpPr>
          <p:cNvPr id="5" name="Freeform 5"/>
          <p:cNvSpPr/>
          <p:nvPr/>
        </p:nvSpPr>
        <p:spPr>
          <a:xfrm>
            <a:off x="4241581" y="303576"/>
            <a:ext cx="7487581" cy="4033934"/>
          </a:xfrm>
          <a:custGeom>
            <a:avLst/>
            <a:gdLst/>
            <a:ahLst/>
            <a:cxnLst/>
            <a:rect l="l" t="t" r="r" b="b"/>
            <a:pathLst>
              <a:path w="7487581" h="4033934">
                <a:moveTo>
                  <a:pt x="0" y="0"/>
                </a:moveTo>
                <a:lnTo>
                  <a:pt x="7487581" y="0"/>
                </a:lnTo>
                <a:lnTo>
                  <a:pt x="7487581" y="4033934"/>
                </a:lnTo>
                <a:lnTo>
                  <a:pt x="0" y="4033934"/>
                </a:lnTo>
                <a:lnTo>
                  <a:pt x="0" y="0"/>
                </a:lnTo>
                <a:close/>
              </a:path>
            </a:pathLst>
          </a:custGeom>
          <a:blipFill>
            <a:blip r:embed="rId2"/>
            <a:stretch>
              <a:fillRect/>
            </a:stretch>
          </a:blipFill>
        </p:spPr>
        <p:txBody>
          <a:bodyPr/>
          <a:lstStyle/>
          <a:p>
            <a:endParaRPr lang="pt-BR"/>
          </a:p>
        </p:txBody>
      </p:sp>
      <p:sp>
        <p:nvSpPr>
          <p:cNvPr id="6" name="Freeform 6"/>
          <p:cNvSpPr/>
          <p:nvPr/>
        </p:nvSpPr>
        <p:spPr>
          <a:xfrm>
            <a:off x="4309670" y="4337510"/>
            <a:ext cx="7351404" cy="6101665"/>
          </a:xfrm>
          <a:custGeom>
            <a:avLst/>
            <a:gdLst/>
            <a:ahLst/>
            <a:cxnLst/>
            <a:rect l="l" t="t" r="r" b="b"/>
            <a:pathLst>
              <a:path w="7351404" h="6101665">
                <a:moveTo>
                  <a:pt x="0" y="0"/>
                </a:moveTo>
                <a:lnTo>
                  <a:pt x="7351404" y="0"/>
                </a:lnTo>
                <a:lnTo>
                  <a:pt x="7351404" y="6101665"/>
                </a:lnTo>
                <a:lnTo>
                  <a:pt x="0" y="6101665"/>
                </a:lnTo>
                <a:lnTo>
                  <a:pt x="0" y="0"/>
                </a:lnTo>
                <a:close/>
              </a:path>
            </a:pathLst>
          </a:custGeom>
          <a:blipFill>
            <a:blip r:embed="rId3"/>
            <a:stretch>
              <a:fillRect/>
            </a:stretch>
          </a:blipFill>
        </p:spPr>
        <p:txBody>
          <a:bodyPr/>
          <a:lstStyle/>
          <a:p>
            <a:endParaRPr lang="pt-BR"/>
          </a:p>
        </p:txBody>
      </p:sp>
      <p:sp>
        <p:nvSpPr>
          <p:cNvPr id="7" name="Freeform 7"/>
          <p:cNvSpPr/>
          <p:nvPr/>
        </p:nvSpPr>
        <p:spPr>
          <a:xfrm>
            <a:off x="11651549" y="333705"/>
            <a:ext cx="6494797" cy="9657690"/>
          </a:xfrm>
          <a:custGeom>
            <a:avLst/>
            <a:gdLst/>
            <a:ahLst/>
            <a:cxnLst/>
            <a:rect l="l" t="t" r="r" b="b"/>
            <a:pathLst>
              <a:path w="6494797" h="9657690">
                <a:moveTo>
                  <a:pt x="0" y="0"/>
                </a:moveTo>
                <a:lnTo>
                  <a:pt x="6494796" y="0"/>
                </a:lnTo>
                <a:lnTo>
                  <a:pt x="6494796" y="9657690"/>
                </a:lnTo>
                <a:lnTo>
                  <a:pt x="0" y="9657690"/>
                </a:lnTo>
                <a:lnTo>
                  <a:pt x="0" y="0"/>
                </a:lnTo>
                <a:close/>
              </a:path>
            </a:pathLst>
          </a:custGeom>
          <a:blipFill>
            <a:blip r:embed="rId4"/>
            <a:stretch>
              <a:fillRect/>
            </a:stretch>
          </a:blipFill>
        </p:spPr>
        <p:txBody>
          <a:bodyPr/>
          <a:lstStyle/>
          <a:p>
            <a:endParaRPr lang="pt-BR"/>
          </a:p>
        </p:txBody>
      </p:sp>
      <p:sp>
        <p:nvSpPr>
          <p:cNvPr id="8" name="TextBox 8"/>
          <p:cNvSpPr txBox="1"/>
          <p:nvPr/>
        </p:nvSpPr>
        <p:spPr>
          <a:xfrm>
            <a:off x="763293" y="4079408"/>
            <a:ext cx="5214239" cy="778372"/>
          </a:xfrm>
          <a:prstGeom prst="rect">
            <a:avLst/>
          </a:prstGeom>
        </p:spPr>
        <p:txBody>
          <a:bodyPr lIns="0" tIns="0" rIns="0" bIns="0" rtlCol="0" anchor="t">
            <a:spAutoFit/>
          </a:bodyPr>
          <a:lstStyle/>
          <a:p>
            <a:pPr algn="l">
              <a:lnSpc>
                <a:spcPts val="6447"/>
              </a:lnSpc>
            </a:pPr>
            <a:r>
              <a:rPr lang="en-US" sz="4605">
                <a:solidFill>
                  <a:srgbClr val="000000"/>
                </a:solidFill>
                <a:latin typeface="League Spartan"/>
                <a:ea typeface="League Spartan"/>
                <a:cs typeface="League Spartan"/>
                <a:sym typeface="League Spartan"/>
              </a:rPr>
              <a:t>Interface</a:t>
            </a:r>
          </a:p>
        </p:txBody>
      </p:sp>
      <p:sp>
        <p:nvSpPr>
          <p:cNvPr id="9" name="TextBox 9"/>
          <p:cNvSpPr txBox="1"/>
          <p:nvPr/>
        </p:nvSpPr>
        <p:spPr>
          <a:xfrm>
            <a:off x="763293" y="5143500"/>
            <a:ext cx="3410199" cy="6194003"/>
          </a:xfrm>
          <a:prstGeom prst="rect">
            <a:avLst/>
          </a:prstGeom>
        </p:spPr>
        <p:txBody>
          <a:bodyPr lIns="0" tIns="0" rIns="0" bIns="0" rtlCol="0" anchor="t">
            <a:spAutoFit/>
          </a:bodyPr>
          <a:lstStyle/>
          <a:p>
            <a:pPr algn="just">
              <a:lnSpc>
                <a:spcPts val="2300"/>
              </a:lnSpc>
            </a:pPr>
            <a:r>
              <a:rPr lang="en-US" sz="2000" dirty="0">
                <a:solidFill>
                  <a:srgbClr val="000000"/>
                </a:solidFill>
                <a:latin typeface="Canva Sans"/>
                <a:ea typeface="Canva Sans"/>
                <a:cs typeface="Canva Sans"/>
                <a:sym typeface="Canva Sans"/>
              </a:rPr>
              <a:t>Se o </a:t>
            </a:r>
            <a:r>
              <a:rPr lang="en-US" sz="2000" dirty="0" err="1">
                <a:solidFill>
                  <a:srgbClr val="000000"/>
                </a:solidFill>
                <a:latin typeface="Canva Sans"/>
                <a:ea typeface="Canva Sans"/>
                <a:cs typeface="Canva Sans"/>
                <a:sym typeface="Canva Sans"/>
              </a:rPr>
              <a:t>usuário</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optar</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por</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análises</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preditivas</a:t>
            </a:r>
            <a:r>
              <a:rPr lang="en-US" sz="2000" dirty="0">
                <a:solidFill>
                  <a:srgbClr val="000000"/>
                </a:solidFill>
                <a:latin typeface="Canva Sans"/>
                <a:ea typeface="Canva Sans"/>
                <a:cs typeface="Canva Sans"/>
                <a:sym typeface="Canva Sans"/>
              </a:rPr>
              <a:t>, o </a:t>
            </a:r>
            <a:r>
              <a:rPr lang="en-US" sz="2000" dirty="0" err="1">
                <a:solidFill>
                  <a:srgbClr val="000000"/>
                </a:solidFill>
                <a:latin typeface="Canva Sans"/>
                <a:ea typeface="Canva Sans"/>
                <a:cs typeface="Canva Sans"/>
                <a:sym typeface="Canva Sans"/>
              </a:rPr>
              <a:t>formulário</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abre</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mais</a:t>
            </a:r>
            <a:r>
              <a:rPr lang="en-US" sz="2000" dirty="0">
                <a:solidFill>
                  <a:srgbClr val="000000"/>
                </a:solidFill>
                <a:latin typeface="Canva Sans"/>
                <a:ea typeface="Canva Sans"/>
                <a:cs typeface="Canva Sans"/>
                <a:sym typeface="Canva Sans"/>
              </a:rPr>
              <a:t> campos para </a:t>
            </a:r>
            <a:r>
              <a:rPr lang="en-US" sz="2000" dirty="0" err="1">
                <a:solidFill>
                  <a:srgbClr val="000000"/>
                </a:solidFill>
                <a:latin typeface="Canva Sans"/>
                <a:ea typeface="Canva Sans"/>
                <a:cs typeface="Canva Sans"/>
                <a:sym typeface="Canva Sans"/>
              </a:rPr>
              <a:t>preencher</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como</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granularidade</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horizonte</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confiança</a:t>
            </a:r>
            <a:r>
              <a:rPr lang="en-US" sz="2000" dirty="0">
                <a:solidFill>
                  <a:srgbClr val="000000"/>
                </a:solidFill>
                <a:latin typeface="Canva Sans"/>
                <a:ea typeface="Canva Sans"/>
                <a:cs typeface="Canva Sans"/>
                <a:sym typeface="Canva Sans"/>
              </a:rPr>
              <a:t> entre outros.</a:t>
            </a:r>
          </a:p>
          <a:p>
            <a:pPr algn="l">
              <a:lnSpc>
                <a:spcPts val="2300"/>
              </a:lnSpc>
            </a:pPr>
            <a:endParaRPr lang="en-US" sz="2000" dirty="0">
              <a:solidFill>
                <a:srgbClr val="000000"/>
              </a:solidFill>
              <a:latin typeface="Canva Sans"/>
              <a:ea typeface="Canva Sans"/>
              <a:cs typeface="Canva Sans"/>
              <a:sym typeface="Canva Sans"/>
            </a:endParaRPr>
          </a:p>
          <a:p>
            <a:pPr algn="just">
              <a:lnSpc>
                <a:spcPts val="2300"/>
              </a:lnSpc>
            </a:pPr>
            <a:r>
              <a:rPr lang="en-US" sz="2000" dirty="0" err="1">
                <a:solidFill>
                  <a:srgbClr val="000000"/>
                </a:solidFill>
                <a:latin typeface="Canva Sans"/>
                <a:ea typeface="Canva Sans"/>
                <a:cs typeface="Canva Sans"/>
                <a:sym typeface="Canva Sans"/>
              </a:rPr>
              <a:t>Instruções</a:t>
            </a:r>
            <a:r>
              <a:rPr lang="en-US" sz="2000" dirty="0">
                <a:solidFill>
                  <a:srgbClr val="000000"/>
                </a:solidFill>
                <a:latin typeface="Canva Sans"/>
                <a:ea typeface="Canva Sans"/>
                <a:cs typeface="Canva Sans"/>
                <a:sym typeface="Canva Sans"/>
              </a:rPr>
              <a:t> de </a:t>
            </a:r>
            <a:r>
              <a:rPr lang="en-US" sz="2000" dirty="0" err="1">
                <a:solidFill>
                  <a:srgbClr val="000000"/>
                </a:solidFill>
                <a:latin typeface="Canva Sans"/>
                <a:ea typeface="Canva Sans"/>
                <a:cs typeface="Canva Sans"/>
                <a:sym typeface="Canva Sans"/>
              </a:rPr>
              <a:t>como</a:t>
            </a:r>
            <a:r>
              <a:rPr lang="en-US" sz="2000" dirty="0">
                <a:solidFill>
                  <a:srgbClr val="000000"/>
                </a:solidFill>
                <a:latin typeface="Canva Sans"/>
                <a:ea typeface="Canva Sans"/>
                <a:cs typeface="Canva Sans"/>
                <a:sym typeface="Canva Sans"/>
              </a:rPr>
              <a:t> usar e </a:t>
            </a:r>
            <a:r>
              <a:rPr lang="en-US" sz="2000" dirty="0" err="1">
                <a:solidFill>
                  <a:srgbClr val="000000"/>
                </a:solidFill>
                <a:latin typeface="Canva Sans"/>
                <a:ea typeface="Canva Sans"/>
                <a:cs typeface="Canva Sans"/>
                <a:sym typeface="Canva Sans"/>
              </a:rPr>
              <a:t>formulário</a:t>
            </a:r>
            <a:r>
              <a:rPr lang="en-US" sz="2000" dirty="0">
                <a:solidFill>
                  <a:srgbClr val="000000"/>
                </a:solidFill>
                <a:latin typeface="Canva Sans"/>
                <a:ea typeface="Canva Sans"/>
                <a:cs typeface="Canva Sans"/>
                <a:sym typeface="Canva Sans"/>
              </a:rPr>
              <a:t> junto </a:t>
            </a:r>
            <a:r>
              <a:rPr lang="en-US" sz="2000" dirty="0" err="1">
                <a:solidFill>
                  <a:srgbClr val="000000"/>
                </a:solidFill>
                <a:latin typeface="Canva Sans"/>
                <a:ea typeface="Canva Sans"/>
                <a:cs typeface="Canva Sans"/>
                <a:sym typeface="Canva Sans"/>
              </a:rPr>
              <a:t>ao</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resultado</a:t>
            </a:r>
            <a:r>
              <a:rPr lang="en-US" sz="2000" dirty="0">
                <a:solidFill>
                  <a:srgbClr val="000000"/>
                </a:solidFill>
                <a:latin typeface="Canva Sans"/>
                <a:ea typeface="Canva Sans"/>
                <a:cs typeface="Canva Sans"/>
                <a:sym typeface="Canva Sans"/>
              </a:rPr>
              <a:t> para </a:t>
            </a:r>
            <a:r>
              <a:rPr lang="en-US" sz="2000" dirty="0" err="1">
                <a:solidFill>
                  <a:srgbClr val="000000"/>
                </a:solidFill>
                <a:latin typeface="Canva Sans"/>
                <a:ea typeface="Canva Sans"/>
                <a:cs typeface="Canva Sans"/>
                <a:sym typeface="Canva Sans"/>
              </a:rPr>
              <a:t>facilitar</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análises</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recorrentes</a:t>
            </a:r>
            <a:r>
              <a:rPr lang="en-US" sz="2000" dirty="0">
                <a:solidFill>
                  <a:srgbClr val="000000"/>
                </a:solidFill>
                <a:latin typeface="Canva Sans"/>
                <a:ea typeface="Canva Sans"/>
                <a:cs typeface="Canva Sans"/>
                <a:sym typeface="Canva Sans"/>
              </a:rPr>
              <a:t>.</a:t>
            </a:r>
          </a:p>
          <a:p>
            <a:pPr algn="l">
              <a:lnSpc>
                <a:spcPts val="2300"/>
              </a:lnSpc>
            </a:pPr>
            <a:endParaRPr lang="en-US" sz="2000" dirty="0">
              <a:solidFill>
                <a:srgbClr val="000000"/>
              </a:solidFill>
              <a:latin typeface="Canva Sans"/>
              <a:ea typeface="Canva Sans"/>
              <a:cs typeface="Canva Sans"/>
              <a:sym typeface="Canva Sans"/>
            </a:endParaRPr>
          </a:p>
          <a:p>
            <a:pPr algn="l">
              <a:lnSpc>
                <a:spcPts val="2300"/>
              </a:lnSpc>
            </a:pPr>
            <a:r>
              <a:rPr lang="en-US" sz="2000" dirty="0">
                <a:solidFill>
                  <a:srgbClr val="000000"/>
                </a:solidFill>
                <a:latin typeface="Canva Sans"/>
                <a:ea typeface="Canva Sans"/>
                <a:cs typeface="Canva Sans"/>
                <a:sym typeface="Canva Sans"/>
              </a:rPr>
              <a:t>https://gaia-ft4y.onrender.com/index_trabalho_final.html  </a:t>
            </a:r>
          </a:p>
          <a:p>
            <a:pPr algn="l">
              <a:lnSpc>
                <a:spcPts val="2300"/>
              </a:lnSpc>
            </a:pPr>
            <a:endParaRPr lang="en-US" sz="2000" dirty="0">
              <a:solidFill>
                <a:srgbClr val="000000"/>
              </a:solidFill>
              <a:latin typeface="Canva Sans"/>
              <a:ea typeface="Canva Sans"/>
              <a:cs typeface="Canva Sans"/>
              <a:sym typeface="Canva Sans"/>
            </a:endParaRPr>
          </a:p>
          <a:p>
            <a:pPr algn="l">
              <a:lnSpc>
                <a:spcPts val="2300"/>
              </a:lnSpc>
            </a:pPr>
            <a:endParaRPr lang="en-US" sz="2000" dirty="0">
              <a:solidFill>
                <a:srgbClr val="000000"/>
              </a:solidFill>
              <a:latin typeface="Canva Sans"/>
              <a:ea typeface="Canva Sans"/>
              <a:cs typeface="Canva Sans"/>
              <a:sym typeface="Canva Sans"/>
            </a:endParaRPr>
          </a:p>
          <a:p>
            <a:pPr algn="l">
              <a:lnSpc>
                <a:spcPts val="2300"/>
              </a:lnSpc>
            </a:pPr>
            <a:endParaRPr lang="en-US" sz="2000" dirty="0">
              <a:solidFill>
                <a:srgbClr val="000000"/>
              </a:solidFill>
              <a:latin typeface="Canva Sans"/>
              <a:ea typeface="Canva Sans"/>
              <a:cs typeface="Canva Sans"/>
              <a:sym typeface="Canva Sans"/>
            </a:endParaRPr>
          </a:p>
          <a:p>
            <a:pPr algn="l">
              <a:lnSpc>
                <a:spcPts val="2300"/>
              </a:lnSpc>
            </a:pPr>
            <a:endParaRPr lang="en-US" sz="2000" dirty="0">
              <a:solidFill>
                <a:srgbClr val="000000"/>
              </a:solidFill>
              <a:latin typeface="Canva Sans"/>
              <a:ea typeface="Canva Sans"/>
              <a:cs typeface="Canva Sans"/>
              <a:sym typeface="Canva Sans"/>
            </a:endParaRPr>
          </a:p>
          <a:p>
            <a:pPr algn="l">
              <a:lnSpc>
                <a:spcPts val="2300"/>
              </a:lnSpc>
            </a:pPr>
            <a:endParaRPr lang="en-US" sz="2000" dirty="0">
              <a:solidFill>
                <a:srgbClr val="000000"/>
              </a:solidFill>
              <a:latin typeface="Canva Sans"/>
              <a:ea typeface="Canva Sans"/>
              <a:cs typeface="Canva Sans"/>
              <a:sym typeface="Canv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81125" y="-5745784"/>
            <a:ext cx="9354617" cy="935461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D2B4"/>
            </a:solidFill>
          </p:spPr>
          <p:txBody>
            <a:bodyPr/>
            <a:lstStyle/>
            <a:p>
              <a:endParaRPr lang="pt-BR"/>
            </a:p>
          </p:txBody>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6380"/>
                </a:lnSpc>
              </a:pPr>
              <a:endParaRPr/>
            </a:p>
          </p:txBody>
        </p:sp>
      </p:grpSp>
      <p:sp>
        <p:nvSpPr>
          <p:cNvPr id="5" name="Freeform 5"/>
          <p:cNvSpPr/>
          <p:nvPr/>
        </p:nvSpPr>
        <p:spPr>
          <a:xfrm>
            <a:off x="11651549" y="333705"/>
            <a:ext cx="6494797" cy="9657690"/>
          </a:xfrm>
          <a:custGeom>
            <a:avLst/>
            <a:gdLst/>
            <a:ahLst/>
            <a:cxnLst/>
            <a:rect l="l" t="t" r="r" b="b"/>
            <a:pathLst>
              <a:path w="6494797" h="9657690">
                <a:moveTo>
                  <a:pt x="0" y="0"/>
                </a:moveTo>
                <a:lnTo>
                  <a:pt x="6494796" y="0"/>
                </a:lnTo>
                <a:lnTo>
                  <a:pt x="6494796" y="9657690"/>
                </a:lnTo>
                <a:lnTo>
                  <a:pt x="0" y="9657690"/>
                </a:lnTo>
                <a:lnTo>
                  <a:pt x="0" y="0"/>
                </a:lnTo>
                <a:close/>
              </a:path>
            </a:pathLst>
          </a:custGeom>
          <a:blipFill>
            <a:blip r:embed="rId2"/>
            <a:stretch>
              <a:fillRect/>
            </a:stretch>
          </a:blipFill>
        </p:spPr>
        <p:txBody>
          <a:bodyPr/>
          <a:lstStyle/>
          <a:p>
            <a:endParaRPr lang="pt-BR"/>
          </a:p>
        </p:txBody>
      </p:sp>
      <p:sp>
        <p:nvSpPr>
          <p:cNvPr id="6" name="Freeform 6"/>
          <p:cNvSpPr/>
          <p:nvPr/>
        </p:nvSpPr>
        <p:spPr>
          <a:xfrm>
            <a:off x="7026510" y="442468"/>
            <a:ext cx="4493479" cy="3679036"/>
          </a:xfrm>
          <a:custGeom>
            <a:avLst/>
            <a:gdLst/>
            <a:ahLst/>
            <a:cxnLst/>
            <a:rect l="l" t="t" r="r" b="b"/>
            <a:pathLst>
              <a:path w="4493479" h="3679036">
                <a:moveTo>
                  <a:pt x="0" y="0"/>
                </a:moveTo>
                <a:lnTo>
                  <a:pt x="4493479" y="0"/>
                </a:lnTo>
                <a:lnTo>
                  <a:pt x="4493479" y="3679036"/>
                </a:lnTo>
                <a:lnTo>
                  <a:pt x="0" y="3679036"/>
                </a:lnTo>
                <a:lnTo>
                  <a:pt x="0" y="0"/>
                </a:lnTo>
                <a:close/>
              </a:path>
            </a:pathLst>
          </a:custGeom>
          <a:blipFill>
            <a:blip r:embed="rId3"/>
            <a:stretch>
              <a:fillRect/>
            </a:stretch>
          </a:blipFill>
        </p:spPr>
        <p:txBody>
          <a:bodyPr/>
          <a:lstStyle/>
          <a:p>
            <a:endParaRPr lang="pt-BR"/>
          </a:p>
        </p:txBody>
      </p:sp>
      <p:sp>
        <p:nvSpPr>
          <p:cNvPr id="7" name="Freeform 7"/>
          <p:cNvSpPr/>
          <p:nvPr/>
        </p:nvSpPr>
        <p:spPr>
          <a:xfrm>
            <a:off x="7111883" y="4121504"/>
            <a:ext cx="4322732" cy="6356958"/>
          </a:xfrm>
          <a:custGeom>
            <a:avLst/>
            <a:gdLst/>
            <a:ahLst/>
            <a:cxnLst/>
            <a:rect l="l" t="t" r="r" b="b"/>
            <a:pathLst>
              <a:path w="4322732" h="6356958">
                <a:moveTo>
                  <a:pt x="0" y="0"/>
                </a:moveTo>
                <a:lnTo>
                  <a:pt x="4322732" y="0"/>
                </a:lnTo>
                <a:lnTo>
                  <a:pt x="4322732" y="6356958"/>
                </a:lnTo>
                <a:lnTo>
                  <a:pt x="0" y="6356958"/>
                </a:lnTo>
                <a:lnTo>
                  <a:pt x="0" y="0"/>
                </a:lnTo>
                <a:close/>
              </a:path>
            </a:pathLst>
          </a:custGeom>
          <a:blipFill>
            <a:blip r:embed="rId4"/>
            <a:stretch>
              <a:fillRect/>
            </a:stretch>
          </a:blipFill>
        </p:spPr>
        <p:txBody>
          <a:bodyPr/>
          <a:lstStyle/>
          <a:p>
            <a:endParaRPr lang="pt-BR"/>
          </a:p>
        </p:txBody>
      </p:sp>
      <p:sp>
        <p:nvSpPr>
          <p:cNvPr id="8" name="TextBox 8"/>
          <p:cNvSpPr txBox="1"/>
          <p:nvPr/>
        </p:nvSpPr>
        <p:spPr>
          <a:xfrm>
            <a:off x="1028700" y="3956653"/>
            <a:ext cx="5214239" cy="1587997"/>
          </a:xfrm>
          <a:prstGeom prst="rect">
            <a:avLst/>
          </a:prstGeom>
        </p:spPr>
        <p:txBody>
          <a:bodyPr lIns="0" tIns="0" rIns="0" bIns="0" rtlCol="0" anchor="t">
            <a:spAutoFit/>
          </a:bodyPr>
          <a:lstStyle/>
          <a:p>
            <a:pPr algn="l">
              <a:lnSpc>
                <a:spcPts val="6447"/>
              </a:lnSpc>
            </a:pPr>
            <a:r>
              <a:rPr lang="en-US" sz="4605">
                <a:solidFill>
                  <a:srgbClr val="000000"/>
                </a:solidFill>
                <a:latin typeface="League Spartan"/>
                <a:ea typeface="League Spartan"/>
                <a:cs typeface="League Spartan"/>
                <a:sym typeface="League Spartan"/>
              </a:rPr>
              <a:t>Interface das Análises</a:t>
            </a:r>
          </a:p>
        </p:txBody>
      </p:sp>
      <p:sp>
        <p:nvSpPr>
          <p:cNvPr id="9" name="TextBox 9"/>
          <p:cNvSpPr txBox="1"/>
          <p:nvPr/>
        </p:nvSpPr>
        <p:spPr>
          <a:xfrm>
            <a:off x="1028700" y="5730351"/>
            <a:ext cx="4719224" cy="1885131"/>
          </a:xfrm>
          <a:prstGeom prst="rect">
            <a:avLst/>
          </a:prstGeom>
        </p:spPr>
        <p:txBody>
          <a:bodyPr lIns="0" tIns="0" rIns="0" bIns="0" rtlCol="0" anchor="t">
            <a:spAutoFit/>
          </a:bodyPr>
          <a:lstStyle/>
          <a:p>
            <a:pPr algn="l">
              <a:lnSpc>
                <a:spcPts val="2070"/>
              </a:lnSpc>
            </a:pPr>
            <a:r>
              <a:rPr lang="en-US" sz="1800" dirty="0">
                <a:solidFill>
                  <a:srgbClr val="000000"/>
                </a:solidFill>
                <a:latin typeface="Canva Sans"/>
                <a:ea typeface="Canva Sans"/>
                <a:cs typeface="Canva Sans"/>
                <a:sym typeface="Canva Sans"/>
              </a:rPr>
              <a:t>Nos dashboards, </a:t>
            </a:r>
            <a:r>
              <a:rPr lang="en-US" sz="1800" dirty="0" err="1">
                <a:solidFill>
                  <a:srgbClr val="000000"/>
                </a:solidFill>
                <a:latin typeface="Canva Sans"/>
                <a:ea typeface="Canva Sans"/>
                <a:cs typeface="Canva Sans"/>
                <a:sym typeface="Canva Sans"/>
              </a:rPr>
              <a:t>são</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exibidos</a:t>
            </a:r>
            <a:r>
              <a:rPr lang="en-US" sz="1800" dirty="0">
                <a:solidFill>
                  <a:srgbClr val="000000"/>
                </a:solidFill>
                <a:latin typeface="Canva Sans"/>
                <a:ea typeface="Canva Sans"/>
                <a:cs typeface="Canva Sans"/>
                <a:sym typeface="Canva Sans"/>
              </a:rPr>
              <a:t> KPIs, </a:t>
            </a:r>
            <a:r>
              <a:rPr lang="en-US" sz="1800" dirty="0" err="1">
                <a:solidFill>
                  <a:srgbClr val="000000"/>
                </a:solidFill>
                <a:latin typeface="Canva Sans"/>
                <a:ea typeface="Canva Sans"/>
                <a:cs typeface="Canva Sans"/>
                <a:sym typeface="Canva Sans"/>
              </a:rPr>
              <a:t>gráficos</a:t>
            </a:r>
            <a:r>
              <a:rPr lang="en-US" sz="1800" dirty="0">
                <a:solidFill>
                  <a:srgbClr val="000000"/>
                </a:solidFill>
                <a:latin typeface="Canva Sans"/>
                <a:ea typeface="Canva Sans"/>
                <a:cs typeface="Canva Sans"/>
                <a:sym typeface="Canva Sans"/>
              </a:rPr>
              <a:t>, </a:t>
            </a:r>
            <a:r>
              <a:rPr lang="en-US" sz="1800" dirty="0" err="1">
                <a:solidFill>
                  <a:srgbClr val="000000"/>
                </a:solidFill>
                <a:latin typeface="Canva Sans"/>
                <a:ea typeface="Canva Sans"/>
                <a:cs typeface="Canva Sans"/>
                <a:sym typeface="Canva Sans"/>
              </a:rPr>
              <a:t>análises</a:t>
            </a:r>
            <a:r>
              <a:rPr lang="en-US" sz="1800" dirty="0">
                <a:solidFill>
                  <a:srgbClr val="000000"/>
                </a:solidFill>
                <a:latin typeface="Canva Sans"/>
                <a:ea typeface="Canva Sans"/>
                <a:cs typeface="Canva Sans"/>
                <a:sym typeface="Canva Sans"/>
              </a:rPr>
              <a:t> e </a:t>
            </a:r>
            <a:r>
              <a:rPr lang="en-US" sz="1800" dirty="0" err="1">
                <a:solidFill>
                  <a:srgbClr val="000000"/>
                </a:solidFill>
                <a:latin typeface="Canva Sans"/>
                <a:ea typeface="Canva Sans"/>
                <a:cs typeface="Canva Sans"/>
                <a:sym typeface="Canva Sans"/>
              </a:rPr>
              <a:t>detalhes</a:t>
            </a:r>
            <a:r>
              <a:rPr lang="en-US" sz="1800" dirty="0">
                <a:solidFill>
                  <a:srgbClr val="000000"/>
                </a:solidFill>
                <a:latin typeface="Canva Sans"/>
                <a:ea typeface="Canva Sans"/>
                <a:cs typeface="Canva Sans"/>
                <a:sym typeface="Canva Sans"/>
              </a:rPr>
              <a:t> das </a:t>
            </a:r>
            <a:r>
              <a:rPr lang="en-US" sz="1800" dirty="0" err="1">
                <a:solidFill>
                  <a:srgbClr val="000000"/>
                </a:solidFill>
                <a:latin typeface="Canva Sans"/>
                <a:ea typeface="Canva Sans"/>
                <a:cs typeface="Canva Sans"/>
                <a:sym typeface="Canva Sans"/>
              </a:rPr>
              <a:t>categorias</a:t>
            </a:r>
            <a:r>
              <a:rPr lang="en-US" sz="1800" dirty="0">
                <a:solidFill>
                  <a:srgbClr val="000000"/>
                </a:solidFill>
                <a:latin typeface="Canva Sans"/>
                <a:ea typeface="Canva Sans"/>
                <a:cs typeface="Canva Sans"/>
                <a:sym typeface="Canva Sans"/>
              </a:rPr>
              <a:t>.</a:t>
            </a:r>
          </a:p>
          <a:p>
            <a:pPr algn="l">
              <a:lnSpc>
                <a:spcPts val="2070"/>
              </a:lnSpc>
            </a:pPr>
            <a:endParaRPr lang="en-US" sz="1800" dirty="0">
              <a:solidFill>
                <a:srgbClr val="000000"/>
              </a:solidFill>
              <a:latin typeface="Canva Sans"/>
              <a:ea typeface="Canva Sans"/>
              <a:cs typeface="Canva Sans"/>
              <a:sym typeface="Canva Sans"/>
            </a:endParaRPr>
          </a:p>
          <a:p>
            <a:pPr algn="l">
              <a:lnSpc>
                <a:spcPts val="2070"/>
              </a:lnSpc>
            </a:pPr>
            <a:endParaRPr lang="en-US" sz="1800" dirty="0">
              <a:solidFill>
                <a:srgbClr val="000000"/>
              </a:solidFill>
              <a:latin typeface="Canva Sans"/>
              <a:ea typeface="Canva Sans"/>
              <a:cs typeface="Canva Sans"/>
              <a:sym typeface="Canva Sans"/>
            </a:endParaRPr>
          </a:p>
          <a:p>
            <a:pPr algn="l">
              <a:lnSpc>
                <a:spcPts val="2070"/>
              </a:lnSpc>
            </a:pPr>
            <a:endParaRPr lang="en-US" sz="1800" dirty="0">
              <a:solidFill>
                <a:srgbClr val="000000"/>
              </a:solidFill>
              <a:latin typeface="Canva Sans"/>
              <a:ea typeface="Canva Sans"/>
              <a:cs typeface="Canva Sans"/>
              <a:sym typeface="Canva Sans"/>
            </a:endParaRPr>
          </a:p>
          <a:p>
            <a:pPr algn="l">
              <a:lnSpc>
                <a:spcPts val="2070"/>
              </a:lnSpc>
            </a:pPr>
            <a:endParaRPr lang="en-US" sz="1800" dirty="0">
              <a:solidFill>
                <a:srgbClr val="000000"/>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269840" y="-163675"/>
            <a:ext cx="16250548" cy="10709601"/>
            <a:chOff x="0" y="0"/>
            <a:chExt cx="4279980" cy="2820636"/>
          </a:xfrm>
        </p:grpSpPr>
        <p:sp>
          <p:nvSpPr>
            <p:cNvPr id="3" name="Freeform 3"/>
            <p:cNvSpPr/>
            <p:nvPr/>
          </p:nvSpPr>
          <p:spPr>
            <a:xfrm>
              <a:off x="0" y="0"/>
              <a:ext cx="4279980" cy="2820636"/>
            </a:xfrm>
            <a:custGeom>
              <a:avLst/>
              <a:gdLst/>
              <a:ahLst/>
              <a:cxnLst/>
              <a:rect l="l" t="t" r="r" b="b"/>
              <a:pathLst>
                <a:path w="4279980" h="2820636">
                  <a:moveTo>
                    <a:pt x="0" y="0"/>
                  </a:moveTo>
                  <a:lnTo>
                    <a:pt x="4279980" y="0"/>
                  </a:lnTo>
                  <a:lnTo>
                    <a:pt x="4279980" y="2820636"/>
                  </a:lnTo>
                  <a:lnTo>
                    <a:pt x="0" y="2820636"/>
                  </a:lnTo>
                  <a:close/>
                </a:path>
              </a:pathLst>
            </a:custGeom>
            <a:solidFill>
              <a:srgbClr val="FFCD46"/>
            </a:solidFill>
          </p:spPr>
          <p:txBody>
            <a:bodyPr/>
            <a:lstStyle/>
            <a:p>
              <a:endParaRPr lang="pt-BR"/>
            </a:p>
          </p:txBody>
        </p:sp>
        <p:sp>
          <p:nvSpPr>
            <p:cNvPr id="4" name="TextBox 4"/>
            <p:cNvSpPr txBox="1"/>
            <p:nvPr/>
          </p:nvSpPr>
          <p:spPr>
            <a:xfrm>
              <a:off x="0" y="-47625"/>
              <a:ext cx="4279980" cy="2868261"/>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5181125" y="-5745784"/>
            <a:ext cx="9354617" cy="93546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D2B4"/>
            </a:solidFill>
          </p:spPr>
          <p:txBody>
            <a:bodyPr/>
            <a:lstStyle/>
            <a:p>
              <a:endParaRPr lang="pt-BR"/>
            </a:p>
          </p:txBody>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6380"/>
                </a:lnSpc>
              </a:pPr>
              <a:endParaRPr/>
            </a:p>
          </p:txBody>
        </p:sp>
      </p:grpSp>
      <p:sp>
        <p:nvSpPr>
          <p:cNvPr id="8" name="Freeform 8"/>
          <p:cNvSpPr/>
          <p:nvPr/>
        </p:nvSpPr>
        <p:spPr>
          <a:xfrm>
            <a:off x="4686306" y="0"/>
            <a:ext cx="17293335" cy="13093958"/>
          </a:xfrm>
          <a:custGeom>
            <a:avLst/>
            <a:gdLst/>
            <a:ahLst/>
            <a:cxnLst/>
            <a:rect l="l" t="t" r="r" b="b"/>
            <a:pathLst>
              <a:path w="17293335" h="13093958">
                <a:moveTo>
                  <a:pt x="0" y="0"/>
                </a:moveTo>
                <a:lnTo>
                  <a:pt x="17293334" y="0"/>
                </a:lnTo>
                <a:lnTo>
                  <a:pt x="17293334" y="13093958"/>
                </a:lnTo>
                <a:lnTo>
                  <a:pt x="0" y="13093958"/>
                </a:lnTo>
                <a:lnTo>
                  <a:pt x="0" y="0"/>
                </a:lnTo>
                <a:close/>
              </a:path>
            </a:pathLst>
          </a:custGeom>
          <a:blipFill>
            <a:blip r:embed="rId2">
              <a:alphaModFix amt="43999"/>
            </a:blip>
            <a:stretch>
              <a:fillRect t="-21806" r="-1580" b="-12351"/>
            </a:stretch>
          </a:blipFill>
        </p:spPr>
        <p:txBody>
          <a:bodyPr/>
          <a:lstStyle/>
          <a:p>
            <a:endParaRPr lang="pt-BR"/>
          </a:p>
        </p:txBody>
      </p:sp>
      <p:sp>
        <p:nvSpPr>
          <p:cNvPr id="9" name="Freeform 9"/>
          <p:cNvSpPr/>
          <p:nvPr/>
        </p:nvSpPr>
        <p:spPr>
          <a:xfrm>
            <a:off x="6247698" y="923307"/>
            <a:ext cx="11301259" cy="3588150"/>
          </a:xfrm>
          <a:custGeom>
            <a:avLst/>
            <a:gdLst/>
            <a:ahLst/>
            <a:cxnLst/>
            <a:rect l="l" t="t" r="r" b="b"/>
            <a:pathLst>
              <a:path w="11301259" h="3588150">
                <a:moveTo>
                  <a:pt x="0" y="0"/>
                </a:moveTo>
                <a:lnTo>
                  <a:pt x="11301259" y="0"/>
                </a:lnTo>
                <a:lnTo>
                  <a:pt x="11301259" y="3588150"/>
                </a:lnTo>
                <a:lnTo>
                  <a:pt x="0" y="3588150"/>
                </a:lnTo>
                <a:lnTo>
                  <a:pt x="0" y="0"/>
                </a:lnTo>
                <a:close/>
              </a:path>
            </a:pathLst>
          </a:custGeom>
          <a:blipFill>
            <a:blip r:embed="rId3"/>
            <a:stretch>
              <a:fillRect/>
            </a:stretch>
          </a:blipFill>
        </p:spPr>
        <p:txBody>
          <a:bodyPr/>
          <a:lstStyle/>
          <a:p>
            <a:endParaRPr lang="pt-BR"/>
          </a:p>
        </p:txBody>
      </p:sp>
      <p:sp>
        <p:nvSpPr>
          <p:cNvPr id="10" name="TextBox 10"/>
          <p:cNvSpPr txBox="1"/>
          <p:nvPr/>
        </p:nvSpPr>
        <p:spPr>
          <a:xfrm>
            <a:off x="763293" y="4079408"/>
            <a:ext cx="5214239" cy="778372"/>
          </a:xfrm>
          <a:prstGeom prst="rect">
            <a:avLst/>
          </a:prstGeom>
        </p:spPr>
        <p:txBody>
          <a:bodyPr lIns="0" tIns="0" rIns="0" bIns="0" rtlCol="0" anchor="t">
            <a:spAutoFit/>
          </a:bodyPr>
          <a:lstStyle/>
          <a:p>
            <a:pPr algn="l">
              <a:lnSpc>
                <a:spcPts val="6447"/>
              </a:lnSpc>
            </a:pPr>
            <a:r>
              <a:rPr lang="en-US" sz="4605">
                <a:solidFill>
                  <a:srgbClr val="000000"/>
                </a:solidFill>
                <a:latin typeface="League Spartan"/>
                <a:ea typeface="League Spartan"/>
                <a:cs typeface="League Spartan"/>
                <a:sym typeface="League Spartan"/>
              </a:rPr>
              <a:t>Fluxos</a:t>
            </a:r>
          </a:p>
        </p:txBody>
      </p:sp>
      <p:sp>
        <p:nvSpPr>
          <p:cNvPr id="11" name="TextBox 11"/>
          <p:cNvSpPr txBox="1"/>
          <p:nvPr/>
        </p:nvSpPr>
        <p:spPr>
          <a:xfrm>
            <a:off x="763293" y="5095875"/>
            <a:ext cx="3410199" cy="3926268"/>
          </a:xfrm>
          <a:prstGeom prst="rect">
            <a:avLst/>
          </a:prstGeom>
        </p:spPr>
        <p:txBody>
          <a:bodyPr lIns="0" tIns="0" rIns="0" bIns="0" rtlCol="0" anchor="t">
            <a:spAutoFit/>
          </a:bodyPr>
          <a:lstStyle/>
          <a:p>
            <a:pPr algn="just">
              <a:lnSpc>
                <a:spcPts val="2800"/>
              </a:lnSpc>
            </a:pPr>
            <a:r>
              <a:rPr lang="en-US" sz="2000" dirty="0">
                <a:solidFill>
                  <a:srgbClr val="000000"/>
                </a:solidFill>
                <a:latin typeface="Canva Sans"/>
                <a:ea typeface="Canva Sans"/>
                <a:cs typeface="Canva Sans"/>
                <a:sym typeface="Canva Sans"/>
              </a:rPr>
              <a:t>A </a:t>
            </a:r>
            <a:r>
              <a:rPr lang="en-US" sz="2000" dirty="0" err="1">
                <a:solidFill>
                  <a:srgbClr val="000000"/>
                </a:solidFill>
                <a:latin typeface="Canva Sans"/>
                <a:ea typeface="Canva Sans"/>
                <a:cs typeface="Canva Sans"/>
                <a:sym typeface="Canva Sans"/>
              </a:rPr>
              <a:t>partir</a:t>
            </a:r>
            <a:r>
              <a:rPr lang="en-US" sz="2000" dirty="0">
                <a:solidFill>
                  <a:srgbClr val="000000"/>
                </a:solidFill>
                <a:latin typeface="Canva Sans"/>
                <a:ea typeface="Canva Sans"/>
                <a:cs typeface="Canva Sans"/>
                <a:sym typeface="Canva Sans"/>
              </a:rPr>
              <a:t> da </a:t>
            </a:r>
            <a:r>
              <a:rPr lang="en-US" sz="2000" dirty="0" err="1">
                <a:solidFill>
                  <a:srgbClr val="000000"/>
                </a:solidFill>
                <a:latin typeface="Canva Sans"/>
                <a:ea typeface="Canva Sans"/>
                <a:cs typeface="Canva Sans"/>
                <a:sym typeface="Canva Sans"/>
              </a:rPr>
              <a:t>escolha</a:t>
            </a:r>
            <a:r>
              <a:rPr lang="en-US" sz="2000" dirty="0">
                <a:solidFill>
                  <a:srgbClr val="000000"/>
                </a:solidFill>
                <a:latin typeface="Canva Sans"/>
                <a:ea typeface="Canva Sans"/>
                <a:cs typeface="Canva Sans"/>
                <a:sym typeface="Canva Sans"/>
              </a:rPr>
              <a:t> do </a:t>
            </a:r>
            <a:r>
              <a:rPr lang="en-US" sz="2000" dirty="0" err="1">
                <a:solidFill>
                  <a:srgbClr val="000000"/>
                </a:solidFill>
                <a:latin typeface="Canva Sans"/>
                <a:ea typeface="Canva Sans"/>
                <a:cs typeface="Canva Sans"/>
                <a:sym typeface="Canva Sans"/>
              </a:rPr>
              <a:t>usuário</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optando</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por</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modelo</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padrão</a:t>
            </a:r>
            <a:r>
              <a:rPr lang="en-US" sz="2000" dirty="0">
                <a:solidFill>
                  <a:srgbClr val="000000"/>
                </a:solidFill>
                <a:latin typeface="Canva Sans"/>
                <a:ea typeface="Canva Sans"/>
                <a:cs typeface="Canva Sans"/>
                <a:sym typeface="Canva Sans"/>
              </a:rPr>
              <a:t> (EDA) </a:t>
            </a:r>
            <a:r>
              <a:rPr lang="en-US" sz="2000" dirty="0" err="1">
                <a:solidFill>
                  <a:srgbClr val="000000"/>
                </a:solidFill>
                <a:latin typeface="Canva Sans"/>
                <a:ea typeface="Canva Sans"/>
                <a:cs typeface="Canva Sans"/>
                <a:sym typeface="Canva Sans"/>
              </a:rPr>
              <a:t>ou</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análises</a:t>
            </a:r>
            <a:r>
              <a:rPr lang="en-US" sz="2000" dirty="0">
                <a:solidFill>
                  <a:srgbClr val="000000"/>
                </a:solidFill>
                <a:latin typeface="Canva Sans"/>
                <a:ea typeface="Canva Sans"/>
                <a:cs typeface="Canva Sans"/>
                <a:sym typeface="Canva Sans"/>
              </a:rPr>
              <a:t> </a:t>
            </a:r>
            <a:r>
              <a:rPr lang="en-US" sz="2000" dirty="0" err="1">
                <a:solidFill>
                  <a:srgbClr val="000000"/>
                </a:solidFill>
                <a:latin typeface="Canva Sans"/>
                <a:ea typeface="Canva Sans"/>
                <a:cs typeface="Canva Sans"/>
                <a:sym typeface="Canva Sans"/>
              </a:rPr>
              <a:t>preditivas</a:t>
            </a:r>
            <a:r>
              <a:rPr lang="en-US" sz="2000" dirty="0">
                <a:solidFill>
                  <a:srgbClr val="000000"/>
                </a:solidFill>
                <a:latin typeface="Canva Sans"/>
                <a:ea typeface="Canva Sans"/>
                <a:cs typeface="Canva Sans"/>
                <a:sym typeface="Canva Sans"/>
              </a:rPr>
              <a:t>, o </a:t>
            </a:r>
            <a:r>
              <a:rPr lang="en-US" sz="2000" dirty="0" err="1">
                <a:solidFill>
                  <a:srgbClr val="000000"/>
                </a:solidFill>
                <a:latin typeface="Canva Sans"/>
                <a:ea typeface="Canva Sans"/>
                <a:cs typeface="Canva Sans"/>
                <a:sym typeface="Canva Sans"/>
              </a:rPr>
              <a:t>fluxo</a:t>
            </a:r>
            <a:r>
              <a:rPr lang="en-US" sz="2000" dirty="0">
                <a:solidFill>
                  <a:srgbClr val="000000"/>
                </a:solidFill>
                <a:latin typeface="Canva Sans"/>
                <a:ea typeface="Canva Sans"/>
                <a:cs typeface="Canva Sans"/>
                <a:sym typeface="Canva Sans"/>
              </a:rPr>
              <a:t> é </a:t>
            </a:r>
            <a:r>
              <a:rPr lang="en-US" sz="2000" dirty="0" err="1">
                <a:solidFill>
                  <a:srgbClr val="000000"/>
                </a:solidFill>
                <a:latin typeface="Canva Sans"/>
                <a:ea typeface="Canva Sans"/>
                <a:cs typeface="Canva Sans"/>
                <a:sym typeface="Canva Sans"/>
              </a:rPr>
              <a:t>bifurcado</a:t>
            </a:r>
            <a:r>
              <a:rPr lang="en-US" sz="2000" dirty="0">
                <a:solidFill>
                  <a:srgbClr val="000000"/>
                </a:solidFill>
                <a:latin typeface="Canva Sans"/>
                <a:ea typeface="Canva Sans"/>
                <a:cs typeface="Canva Sans"/>
                <a:sym typeface="Canva Sans"/>
              </a:rPr>
              <a:t> logo no </a:t>
            </a:r>
            <a:r>
              <a:rPr lang="en-US" sz="2000" dirty="0" err="1">
                <a:solidFill>
                  <a:srgbClr val="000000"/>
                </a:solidFill>
                <a:latin typeface="Canva Sans"/>
                <a:ea typeface="Canva Sans"/>
                <a:cs typeface="Canva Sans"/>
                <a:sym typeface="Canva Sans"/>
              </a:rPr>
              <a:t>começo</a:t>
            </a:r>
            <a:r>
              <a:rPr lang="en-US" sz="2000" dirty="0">
                <a:solidFill>
                  <a:srgbClr val="000000"/>
                </a:solidFill>
                <a:latin typeface="Canva Sans"/>
                <a:ea typeface="Canva Sans"/>
                <a:cs typeface="Canva Sans"/>
                <a:sym typeface="Canva Sans"/>
              </a:rPr>
              <a:t>.</a:t>
            </a:r>
          </a:p>
          <a:p>
            <a:pPr algn="l">
              <a:lnSpc>
                <a:spcPts val="2800"/>
              </a:lnSpc>
            </a:pPr>
            <a:endParaRPr lang="en-US" sz="2000" dirty="0">
              <a:solidFill>
                <a:srgbClr val="000000"/>
              </a:solidFill>
              <a:latin typeface="Canva Sans"/>
              <a:ea typeface="Canva Sans"/>
              <a:cs typeface="Canva Sans"/>
              <a:sym typeface="Canva Sans"/>
            </a:endParaRPr>
          </a:p>
          <a:p>
            <a:pPr algn="l">
              <a:lnSpc>
                <a:spcPts val="2800"/>
              </a:lnSpc>
            </a:pPr>
            <a:endParaRPr lang="en-US" sz="2000" dirty="0">
              <a:solidFill>
                <a:srgbClr val="000000"/>
              </a:solidFill>
              <a:latin typeface="Canva Sans"/>
              <a:ea typeface="Canva Sans"/>
              <a:cs typeface="Canva Sans"/>
              <a:sym typeface="Canva Sans"/>
            </a:endParaRPr>
          </a:p>
          <a:p>
            <a:pPr algn="l">
              <a:lnSpc>
                <a:spcPts val="2800"/>
              </a:lnSpc>
            </a:pPr>
            <a:endParaRPr lang="en-US" sz="2000" dirty="0">
              <a:solidFill>
                <a:srgbClr val="000000"/>
              </a:solidFill>
              <a:latin typeface="Canva Sans"/>
              <a:ea typeface="Canva Sans"/>
              <a:cs typeface="Canva Sans"/>
              <a:sym typeface="Canva Sans"/>
            </a:endParaRPr>
          </a:p>
          <a:p>
            <a:pPr algn="l">
              <a:lnSpc>
                <a:spcPts val="2800"/>
              </a:lnSpc>
            </a:pPr>
            <a:endParaRPr lang="en-US" sz="2000" dirty="0">
              <a:solidFill>
                <a:srgbClr val="000000"/>
              </a:solidFill>
              <a:latin typeface="Canva Sans"/>
              <a:ea typeface="Canva Sans"/>
              <a:cs typeface="Canva Sans"/>
              <a:sym typeface="Canva Sans"/>
            </a:endParaRPr>
          </a:p>
          <a:p>
            <a:pPr algn="l">
              <a:lnSpc>
                <a:spcPts val="2800"/>
              </a:lnSpc>
            </a:pPr>
            <a:endParaRPr lang="en-US" sz="2000" dirty="0">
              <a:solidFill>
                <a:srgbClr val="000000"/>
              </a:solidFill>
              <a:latin typeface="Canva Sans"/>
              <a:ea typeface="Canva Sans"/>
              <a:cs typeface="Canva Sans"/>
              <a:sym typeface="Canva Sans"/>
            </a:endParaRPr>
          </a:p>
        </p:txBody>
      </p:sp>
      <p:sp>
        <p:nvSpPr>
          <p:cNvPr id="12" name="TextBox 12"/>
          <p:cNvSpPr txBox="1"/>
          <p:nvPr/>
        </p:nvSpPr>
        <p:spPr>
          <a:xfrm>
            <a:off x="11751345" y="4960620"/>
            <a:ext cx="5507955" cy="4001134"/>
          </a:xfrm>
          <a:prstGeom prst="rect">
            <a:avLst/>
          </a:prstGeom>
        </p:spPr>
        <p:txBody>
          <a:bodyPr lIns="0" tIns="0" rIns="0" bIns="0" rtlCol="0" anchor="t">
            <a:spAutoFit/>
          </a:bodyPr>
          <a:lstStyle/>
          <a:p>
            <a:pPr algn="l">
              <a:lnSpc>
                <a:spcPts val="1540"/>
              </a:lnSpc>
            </a:pPr>
            <a:r>
              <a:rPr lang="en-US" sz="1100" b="1" dirty="0">
                <a:solidFill>
                  <a:srgbClr val="000000"/>
                </a:solidFill>
                <a:latin typeface="Montserrat Bold"/>
                <a:ea typeface="Montserrat Bold"/>
                <a:cs typeface="Montserrat Bold"/>
                <a:sym typeface="Montserrat Bold"/>
              </a:rPr>
              <a:t>FLUXO DE ANÄLISES PREDITIVAS</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Webhook</a:t>
            </a:r>
            <a:r>
              <a:rPr lang="en-US" sz="1100" dirty="0">
                <a:solidFill>
                  <a:srgbClr val="000000"/>
                </a:solidFill>
                <a:latin typeface="Montserrat"/>
                <a:ea typeface="Montserrat"/>
                <a:cs typeface="Montserrat"/>
                <a:sym typeface="Montserrat"/>
              </a:rPr>
              <a:t> (entrada) - </a:t>
            </a:r>
            <a:r>
              <a:rPr lang="en-US" sz="1100" dirty="0" err="1">
                <a:solidFill>
                  <a:srgbClr val="000000"/>
                </a:solidFill>
                <a:latin typeface="Montserrat"/>
                <a:ea typeface="Montserrat"/>
                <a:cs typeface="Montserrat"/>
                <a:sym typeface="Montserrat"/>
              </a:rPr>
              <a:t>recebe</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parâmetros</a:t>
            </a:r>
            <a:r>
              <a:rPr lang="en-US" sz="1100" dirty="0">
                <a:solidFill>
                  <a:srgbClr val="000000"/>
                </a:solidFill>
                <a:latin typeface="Montserrat"/>
                <a:ea typeface="Montserrat"/>
                <a:cs typeface="Montserrat"/>
                <a:sym typeface="Montserrat"/>
              </a:rPr>
              <a:t> do </a:t>
            </a:r>
            <a:r>
              <a:rPr lang="en-US" sz="1100" dirty="0" err="1">
                <a:solidFill>
                  <a:srgbClr val="000000"/>
                </a:solidFill>
                <a:latin typeface="Montserrat"/>
                <a:ea typeface="Montserrat"/>
                <a:cs typeface="Montserrat"/>
                <a:sym typeface="Montserrat"/>
              </a:rPr>
              <a:t>formulário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pergunta</a:t>
            </a:r>
            <a:r>
              <a:rPr lang="en-US" sz="1100" dirty="0">
                <a:solidFill>
                  <a:srgbClr val="000000"/>
                </a:solidFill>
                <a:latin typeface="Montserrat"/>
                <a:ea typeface="Montserrat"/>
                <a:cs typeface="Montserrat"/>
                <a:sym typeface="Montserrat"/>
              </a:rPr>
              <a:t>, UF, </a:t>
            </a:r>
            <a:r>
              <a:rPr lang="en-US" sz="1100" dirty="0" err="1">
                <a:solidFill>
                  <a:srgbClr val="000000"/>
                </a:solidFill>
                <a:latin typeface="Montserrat"/>
                <a:ea typeface="Montserrat"/>
                <a:cs typeface="Montserrat"/>
                <a:sym typeface="Montserrat"/>
              </a:rPr>
              <a:t>datas</a:t>
            </a:r>
            <a:r>
              <a:rPr lang="en-US" sz="1100" dirty="0">
                <a:solidFill>
                  <a:srgbClr val="000000"/>
                </a:solidFill>
                <a:latin typeface="Montserrat"/>
                <a:ea typeface="Montserrat"/>
                <a:cs typeface="Montserrat"/>
                <a:sym typeface="Montserrat"/>
              </a:rPr>
              <a:t>, modo) e </a:t>
            </a:r>
            <a:r>
              <a:rPr lang="en-US" sz="1100" dirty="0" err="1">
                <a:solidFill>
                  <a:srgbClr val="000000"/>
                </a:solidFill>
                <a:latin typeface="Montserrat"/>
                <a:ea typeface="Montserrat"/>
                <a:cs typeface="Montserrat"/>
                <a:sym typeface="Montserrat"/>
              </a:rPr>
              <a:t>inicia</a:t>
            </a:r>
            <a:r>
              <a:rPr lang="en-US" sz="1100" dirty="0">
                <a:solidFill>
                  <a:srgbClr val="000000"/>
                </a:solidFill>
                <a:latin typeface="Montserrat"/>
                <a:ea typeface="Montserrat"/>
                <a:cs typeface="Montserrat"/>
                <a:sym typeface="Montserrat"/>
              </a:rPr>
              <a:t> a </a:t>
            </a:r>
            <a:r>
              <a:rPr lang="en-US" sz="1100" dirty="0" err="1">
                <a:solidFill>
                  <a:srgbClr val="000000"/>
                </a:solidFill>
                <a:latin typeface="Montserrat"/>
                <a:ea typeface="Montserrat"/>
                <a:cs typeface="Montserrat"/>
                <a:sym typeface="Montserrat"/>
              </a:rPr>
              <a:t>execução</a:t>
            </a:r>
            <a:r>
              <a:rPr lang="en-US" sz="1100" dirty="0">
                <a:solidFill>
                  <a:srgbClr val="000000"/>
                </a:solidFill>
                <a:latin typeface="Montserrat"/>
                <a:ea typeface="Montserrat"/>
                <a:cs typeface="Montserrat"/>
                <a:sym typeface="Montserrat"/>
              </a:rPr>
              <a:t>.</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Normalize Inputs</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padroniza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os</a:t>
            </a:r>
            <a:r>
              <a:rPr lang="en-US" sz="1100" dirty="0">
                <a:solidFill>
                  <a:srgbClr val="000000"/>
                </a:solidFill>
                <a:latin typeface="Montserrat"/>
                <a:ea typeface="Montserrat"/>
                <a:cs typeface="Montserrat"/>
                <a:sym typeface="Montserrat"/>
              </a:rPr>
              <a:t> campos e </a:t>
            </a:r>
            <a:r>
              <a:rPr lang="en-US" sz="1100" dirty="0" err="1">
                <a:solidFill>
                  <a:srgbClr val="000000"/>
                </a:solidFill>
                <a:latin typeface="Montserrat"/>
                <a:ea typeface="Montserrat"/>
                <a:cs typeface="Montserrat"/>
                <a:sym typeface="Montserrat"/>
              </a:rPr>
              <a:t>deriva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is_predictive</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pred_params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métrica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granularidade</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horizonte</a:t>
            </a:r>
            <a:r>
              <a:rPr lang="en-US" sz="1100" dirty="0">
                <a:solidFill>
                  <a:srgbClr val="000000"/>
                </a:solidFill>
                <a:latin typeface="Montserrat"/>
                <a:ea typeface="Montserrat"/>
                <a:cs typeface="Montserrat"/>
                <a:sym typeface="Montserrat"/>
              </a:rPr>
              <a:t>, etc.).</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Router / IF</a:t>
            </a:r>
            <a:r>
              <a:rPr lang="en-US" sz="1100" dirty="0">
                <a:solidFill>
                  <a:srgbClr val="000000"/>
                </a:solidFill>
                <a:latin typeface="Montserrat"/>
                <a:ea typeface="Montserrat"/>
                <a:cs typeface="Montserrat"/>
                <a:sym typeface="Montserrat"/>
              </a:rPr>
              <a:t> (Modo = </a:t>
            </a:r>
            <a:r>
              <a:rPr lang="en-US" sz="1100" dirty="0" err="1">
                <a:solidFill>
                  <a:srgbClr val="000000"/>
                </a:solidFill>
                <a:latin typeface="Montserrat"/>
                <a:ea typeface="Montserrat"/>
                <a:cs typeface="Montserrat"/>
                <a:sym typeface="Montserrat"/>
              </a:rPr>
              <a:t>Preditivo</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desvia</a:t>
            </a:r>
            <a:r>
              <a:rPr lang="en-US" sz="1100" dirty="0">
                <a:solidFill>
                  <a:srgbClr val="000000"/>
                </a:solidFill>
                <a:latin typeface="Montserrat"/>
                <a:ea typeface="Montserrat"/>
                <a:cs typeface="Montserrat"/>
                <a:sym typeface="Montserrat"/>
              </a:rPr>
              <a:t> para a </a:t>
            </a:r>
            <a:r>
              <a:rPr lang="en-US" sz="1100" dirty="0" err="1">
                <a:solidFill>
                  <a:srgbClr val="000000"/>
                </a:solidFill>
                <a:latin typeface="Montserrat"/>
                <a:ea typeface="Montserrat"/>
                <a:cs typeface="Montserrat"/>
                <a:sym typeface="Montserrat"/>
              </a:rPr>
              <a:t>rota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preditiva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quando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is_predictive</a:t>
            </a:r>
            <a:r>
              <a:rPr lang="en-US" sz="1100" dirty="0">
                <a:solidFill>
                  <a:srgbClr val="000000"/>
                </a:solidFill>
                <a:latin typeface="Montserrat"/>
                <a:ea typeface="Montserrat"/>
                <a:cs typeface="Montserrat"/>
                <a:sym typeface="Montserrat"/>
              </a:rPr>
              <a:t> = true.</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Prepare Time Series (SQL) </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extrai</a:t>
            </a:r>
            <a:r>
              <a:rPr lang="en-US" sz="1100" dirty="0">
                <a:solidFill>
                  <a:srgbClr val="000000"/>
                </a:solidFill>
                <a:latin typeface="Montserrat"/>
                <a:ea typeface="Montserrat"/>
                <a:cs typeface="Montserrat"/>
                <a:sym typeface="Montserrat"/>
              </a:rPr>
              <a:t> e </a:t>
            </a:r>
            <a:r>
              <a:rPr lang="en-US" sz="1100" dirty="0" err="1">
                <a:solidFill>
                  <a:srgbClr val="000000"/>
                </a:solidFill>
                <a:latin typeface="Montserrat"/>
                <a:ea typeface="Montserrat"/>
                <a:cs typeface="Montserrat"/>
                <a:sym typeface="Montserrat"/>
              </a:rPr>
              <a:t>agrega</a:t>
            </a:r>
            <a:r>
              <a:rPr lang="en-US" sz="1100" dirty="0">
                <a:solidFill>
                  <a:srgbClr val="000000"/>
                </a:solidFill>
                <a:latin typeface="Montserrat"/>
                <a:ea typeface="Montserrat"/>
                <a:cs typeface="Montserrat"/>
                <a:sym typeface="Montserrat"/>
              </a:rPr>
              <a:t> a </a:t>
            </a:r>
            <a:r>
              <a:rPr lang="en-US" sz="1100" dirty="0" err="1">
                <a:solidFill>
                  <a:srgbClr val="000000"/>
                </a:solidFill>
                <a:latin typeface="Montserrat"/>
                <a:ea typeface="Montserrat"/>
                <a:cs typeface="Montserrat"/>
                <a:sym typeface="Montserrat"/>
              </a:rPr>
              <a:t>série</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histórica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conforme</a:t>
            </a:r>
            <a:r>
              <a:rPr lang="en-US" sz="1100" dirty="0">
                <a:solidFill>
                  <a:srgbClr val="000000"/>
                </a:solidFill>
                <a:latin typeface="Montserrat"/>
                <a:ea typeface="Montserrat"/>
                <a:cs typeface="Montserrat"/>
                <a:sym typeface="Montserrat"/>
              </a:rPr>
              <a:t> UF, </a:t>
            </a:r>
            <a:r>
              <a:rPr lang="en-US" sz="1100" dirty="0" err="1">
                <a:solidFill>
                  <a:srgbClr val="000000"/>
                </a:solidFill>
                <a:latin typeface="Montserrat"/>
                <a:ea typeface="Montserrat"/>
                <a:cs typeface="Montserrat"/>
                <a:sym typeface="Montserrat"/>
              </a:rPr>
              <a:t>período</a:t>
            </a:r>
            <a:r>
              <a:rPr lang="en-US" sz="1100" dirty="0">
                <a:solidFill>
                  <a:srgbClr val="000000"/>
                </a:solidFill>
                <a:latin typeface="Montserrat"/>
                <a:ea typeface="Montserrat"/>
                <a:cs typeface="Montserrat"/>
                <a:sym typeface="Montserrat"/>
              </a:rPr>
              <a:t> e </a:t>
            </a:r>
            <a:r>
              <a:rPr lang="en-US" sz="1100" dirty="0" err="1">
                <a:solidFill>
                  <a:srgbClr val="000000"/>
                </a:solidFill>
                <a:latin typeface="Montserrat"/>
                <a:ea typeface="Montserrat"/>
                <a:cs typeface="Montserrat"/>
                <a:sym typeface="Montserrat"/>
              </a:rPr>
              <a:t>granularidade</a:t>
            </a:r>
            <a:r>
              <a:rPr lang="en-US" sz="1100" dirty="0">
                <a:solidFill>
                  <a:srgbClr val="000000"/>
                </a:solidFill>
                <a:latin typeface="Montserrat"/>
                <a:ea typeface="Montserrat"/>
                <a:cs typeface="Montserrat"/>
                <a:sym typeface="Montserrat"/>
              </a:rPr>
              <a:t>.</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Validate Series (Code)</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confere</a:t>
            </a:r>
            <a:r>
              <a:rPr lang="en-US" sz="1100" dirty="0">
                <a:solidFill>
                  <a:srgbClr val="000000"/>
                </a:solidFill>
                <a:latin typeface="Montserrat"/>
                <a:ea typeface="Montserrat"/>
                <a:cs typeface="Montserrat"/>
                <a:sym typeface="Montserrat"/>
              </a:rPr>
              <a:t> se a </a:t>
            </a:r>
            <a:r>
              <a:rPr lang="en-US" sz="1100" dirty="0" err="1">
                <a:solidFill>
                  <a:srgbClr val="000000"/>
                </a:solidFill>
                <a:latin typeface="Montserrat"/>
                <a:ea typeface="Montserrat"/>
                <a:cs typeface="Montserrat"/>
                <a:sym typeface="Montserrat"/>
              </a:rPr>
              <a:t>série</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tem</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pontos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suficientes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em</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caso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negativo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monta</a:t>
            </a:r>
            <a:r>
              <a:rPr lang="en-US" sz="1100" dirty="0">
                <a:solidFill>
                  <a:srgbClr val="000000"/>
                </a:solidFill>
                <a:latin typeface="Montserrat"/>
                <a:ea typeface="Montserrat"/>
                <a:cs typeface="Montserrat"/>
                <a:sym typeface="Montserrat"/>
              </a:rPr>
              <a:t> payload </a:t>
            </a:r>
            <a:r>
              <a:rPr lang="en-US" sz="1100" dirty="0" err="1">
                <a:solidFill>
                  <a:srgbClr val="000000"/>
                </a:solidFill>
                <a:latin typeface="Montserrat"/>
                <a:ea typeface="Montserrat"/>
                <a:cs typeface="Montserrat"/>
                <a:sym typeface="Montserrat"/>
              </a:rPr>
              <a:t>explicativo</a:t>
            </a:r>
            <a:r>
              <a:rPr lang="en-US" sz="1100" dirty="0">
                <a:solidFill>
                  <a:srgbClr val="000000"/>
                </a:solidFill>
                <a:latin typeface="Montserrat"/>
                <a:ea typeface="Montserrat"/>
                <a:cs typeface="Montserrat"/>
                <a:sym typeface="Montserrat"/>
              </a:rPr>
              <a:t>.</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Forecast (Model Selector)</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escolhe</a:t>
            </a:r>
            <a:r>
              <a:rPr lang="en-US" sz="1100" dirty="0">
                <a:solidFill>
                  <a:srgbClr val="000000"/>
                </a:solidFill>
                <a:latin typeface="Montserrat"/>
                <a:ea typeface="Montserrat"/>
                <a:cs typeface="Montserrat"/>
                <a:sym typeface="Montserrat"/>
              </a:rPr>
              <a:t> o </a:t>
            </a:r>
            <a:r>
              <a:rPr lang="en-US" sz="1100" dirty="0" err="1">
                <a:solidFill>
                  <a:srgbClr val="000000"/>
                </a:solidFill>
                <a:latin typeface="Montserrat"/>
                <a:ea typeface="Montserrat"/>
                <a:cs typeface="Montserrat"/>
                <a:sym typeface="Montserrat"/>
              </a:rPr>
              <a:t>algoritmo</a:t>
            </a:r>
            <a:r>
              <a:rPr lang="en-US" sz="1100" dirty="0">
                <a:solidFill>
                  <a:srgbClr val="000000"/>
                </a:solidFill>
                <a:latin typeface="Montserrat"/>
                <a:ea typeface="Montserrat"/>
                <a:cs typeface="Montserrat"/>
                <a:sym typeface="Montserrat"/>
              </a:rPr>
              <a:t> (auto/prophet/</a:t>
            </a:r>
            <a:r>
              <a:rPr lang="en-US" sz="1100" dirty="0" err="1">
                <a:solidFill>
                  <a:srgbClr val="000000"/>
                </a:solidFill>
                <a:latin typeface="Montserrat"/>
                <a:ea typeface="Montserrat"/>
                <a:cs typeface="Montserrat"/>
                <a:sym typeface="Montserrat"/>
              </a:rPr>
              <a:t>arima</a:t>
            </a:r>
            <a:r>
              <a:rPr lang="en-US" sz="1100" dirty="0">
                <a:solidFill>
                  <a:srgbClr val="000000"/>
                </a:solidFill>
                <a:latin typeface="Montserrat"/>
                <a:ea typeface="Montserrat"/>
                <a:cs typeface="Montserrat"/>
                <a:sym typeface="Montserrat"/>
              </a:rPr>
              <a:t>/etc.) e </a:t>
            </a:r>
            <a:r>
              <a:rPr lang="en-US" sz="1100" dirty="0" err="1">
                <a:solidFill>
                  <a:srgbClr val="000000"/>
                </a:solidFill>
                <a:latin typeface="Montserrat"/>
                <a:ea typeface="Montserrat"/>
                <a:cs typeface="Montserrat"/>
                <a:sym typeface="Montserrat"/>
              </a:rPr>
              <a:t>calcula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previsão</a:t>
            </a:r>
            <a:r>
              <a:rPr lang="en-US" sz="1100" dirty="0">
                <a:solidFill>
                  <a:srgbClr val="000000"/>
                </a:solidFill>
                <a:latin typeface="Montserrat"/>
                <a:ea typeface="Montserrat"/>
                <a:cs typeface="Montserrat"/>
                <a:sym typeface="Montserrat"/>
              </a:rPr>
              <a:t> e </a:t>
            </a:r>
            <a:r>
              <a:rPr lang="en-US" sz="1100" dirty="0" err="1">
                <a:solidFill>
                  <a:srgbClr val="000000"/>
                </a:solidFill>
                <a:latin typeface="Montserrat"/>
                <a:ea typeface="Montserrat"/>
                <a:cs typeface="Montserrat"/>
                <a:sym typeface="Montserrat"/>
              </a:rPr>
              <a:t>bandas</a:t>
            </a:r>
            <a:r>
              <a:rPr lang="en-US" sz="1100" dirty="0">
                <a:solidFill>
                  <a:srgbClr val="000000"/>
                </a:solidFill>
                <a:latin typeface="Montserrat"/>
                <a:ea typeface="Montserrat"/>
                <a:cs typeface="Montserrat"/>
                <a:sym typeface="Montserrat"/>
              </a:rPr>
              <a:t> de </a:t>
            </a:r>
            <a:r>
              <a:rPr lang="en-US" sz="1100" dirty="0" err="1">
                <a:solidFill>
                  <a:srgbClr val="000000"/>
                </a:solidFill>
                <a:latin typeface="Montserrat"/>
                <a:ea typeface="Montserrat"/>
                <a:cs typeface="Montserrat"/>
                <a:sym typeface="Montserrat"/>
              </a:rPr>
              <a:t>confiança</a:t>
            </a:r>
            <a:r>
              <a:rPr lang="en-US" sz="1100" dirty="0">
                <a:solidFill>
                  <a:srgbClr val="000000"/>
                </a:solidFill>
                <a:latin typeface="Montserrat"/>
                <a:ea typeface="Montserrat"/>
                <a:cs typeface="Montserrat"/>
                <a:sym typeface="Montserrat"/>
              </a:rPr>
              <a:t>.</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OpenAI – Forecast Insight -</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gera</a:t>
            </a:r>
            <a:r>
              <a:rPr lang="en-US" sz="1100" dirty="0">
                <a:solidFill>
                  <a:srgbClr val="000000"/>
                </a:solidFill>
                <a:latin typeface="Montserrat"/>
                <a:ea typeface="Montserrat"/>
                <a:cs typeface="Montserrat"/>
                <a:sym typeface="Montserrat"/>
              </a:rPr>
              <a:t> um </a:t>
            </a:r>
            <a:r>
              <a:rPr lang="en-US" sz="1100" dirty="0" err="1">
                <a:solidFill>
                  <a:srgbClr val="000000"/>
                </a:solidFill>
                <a:latin typeface="Montserrat"/>
                <a:ea typeface="Montserrat"/>
                <a:cs typeface="Montserrat"/>
                <a:sym typeface="Montserrat"/>
              </a:rPr>
              <a:t>resumo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em</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linguagem</a:t>
            </a:r>
            <a:r>
              <a:rPr lang="en-US" sz="1100" dirty="0">
                <a:solidFill>
                  <a:srgbClr val="000000"/>
                </a:solidFill>
                <a:latin typeface="Montserrat"/>
                <a:ea typeface="Montserrat"/>
                <a:cs typeface="Montserrat"/>
                <a:sym typeface="Montserrat"/>
              </a:rPr>
              <a:t> natural com </a:t>
            </a:r>
            <a:r>
              <a:rPr lang="en-US" sz="1100" dirty="0" err="1">
                <a:solidFill>
                  <a:srgbClr val="000000"/>
                </a:solidFill>
                <a:latin typeface="Montserrat"/>
                <a:ea typeface="Montserrat"/>
                <a:cs typeface="Montserrat"/>
                <a:sym typeface="Montserrat"/>
              </a:rPr>
              <a:t>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principais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achados</a:t>
            </a:r>
            <a:r>
              <a:rPr lang="en-US" sz="1100" dirty="0">
                <a:solidFill>
                  <a:srgbClr val="000000"/>
                </a:solidFill>
                <a:latin typeface="Montserrat"/>
                <a:ea typeface="Montserrat"/>
                <a:cs typeface="Montserrat"/>
                <a:sym typeface="Montserrat"/>
              </a:rPr>
              <a:t>.</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Build Payload (Code</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organiza</a:t>
            </a:r>
            <a:r>
              <a:rPr lang="en-US" sz="1100" dirty="0">
                <a:solidFill>
                  <a:srgbClr val="000000"/>
                </a:solidFill>
                <a:latin typeface="Montserrat"/>
                <a:ea typeface="Montserrat"/>
                <a:cs typeface="Montserrat"/>
                <a:sym typeface="Montserrat"/>
              </a:rPr>
              <a:t> series, bands, </a:t>
            </a:r>
            <a:r>
              <a:rPr lang="en-US" sz="1100" dirty="0" err="1">
                <a:solidFill>
                  <a:srgbClr val="000000"/>
                </a:solidFill>
                <a:latin typeface="Montserrat"/>
                <a:ea typeface="Montserrat"/>
                <a:cs typeface="Montserrat"/>
                <a:sym typeface="Montserrat"/>
              </a:rPr>
              <a:t>kpi</a:t>
            </a:r>
            <a:r>
              <a:rPr lang="en-US" sz="1100" dirty="0">
                <a:solidFill>
                  <a:srgbClr val="000000"/>
                </a:solidFill>
                <a:latin typeface="Montserrat"/>
                <a:ea typeface="Montserrat"/>
                <a:cs typeface="Montserrat"/>
                <a:sym typeface="Montserrat"/>
              </a:rPr>
              <a:t>, table e insight no </a:t>
            </a:r>
            <a:r>
              <a:rPr lang="en-US" sz="1100" dirty="0" err="1">
                <a:solidFill>
                  <a:srgbClr val="000000"/>
                </a:solidFill>
                <a:latin typeface="Montserrat"/>
                <a:ea typeface="Montserrat"/>
                <a:cs typeface="Montserrat"/>
                <a:sym typeface="Montserrat"/>
              </a:rPr>
              <a:t>formato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único</a:t>
            </a:r>
            <a:r>
              <a:rPr lang="en-US" sz="1100" dirty="0">
                <a:solidFill>
                  <a:srgbClr val="000000"/>
                </a:solidFill>
                <a:latin typeface="Montserrat"/>
                <a:ea typeface="Montserrat"/>
                <a:cs typeface="Montserrat"/>
                <a:sym typeface="Montserrat"/>
              </a:rPr>
              <a:t> da UI.</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Render HTML (Build HTML)</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injeta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window.__PAYLOAD</a:t>
            </a:r>
            <a:r>
              <a:rPr lang="en-US" sz="1100" dirty="0">
                <a:solidFill>
                  <a:srgbClr val="000000"/>
                </a:solidFill>
                <a:latin typeface="Montserrat"/>
                <a:ea typeface="Montserrat"/>
                <a:cs typeface="Montserrat"/>
                <a:sym typeface="Montserrat"/>
              </a:rPr>
              <a:t>__ no template (Chart.js + KPIs + </a:t>
            </a:r>
            <a:r>
              <a:rPr lang="en-US" sz="1100" dirty="0" err="1">
                <a:solidFill>
                  <a:srgbClr val="000000"/>
                </a:solidFill>
                <a:latin typeface="Montserrat"/>
                <a:ea typeface="Montserrat"/>
                <a:cs typeface="Montserrat"/>
                <a:sym typeface="Montserrat"/>
              </a:rPr>
              <a:t>tabela</a:t>
            </a:r>
            <a:r>
              <a:rPr lang="en-US" sz="1100" dirty="0">
                <a:solidFill>
                  <a:srgbClr val="000000"/>
                </a:solidFill>
                <a:latin typeface="Montserrat"/>
                <a:ea typeface="Montserrat"/>
                <a:cs typeface="Montserrat"/>
                <a:sym typeface="Montserrat"/>
              </a:rPr>
              <a:t>).</a:t>
            </a:r>
          </a:p>
          <a:p>
            <a:pPr marL="237497" lvl="1" indent="-118749" algn="l">
              <a:lnSpc>
                <a:spcPts val="1540"/>
              </a:lnSpc>
              <a:buFont typeface="Arial"/>
              <a:buChar char="•"/>
            </a:pPr>
            <a:r>
              <a:rPr lang="en-US" sz="1100" b="1" dirty="0">
                <a:solidFill>
                  <a:srgbClr val="000000"/>
                </a:solidFill>
                <a:latin typeface="Montserrat Bold"/>
                <a:ea typeface="Montserrat Bold"/>
                <a:cs typeface="Montserrat Bold"/>
                <a:sym typeface="Montserrat Bold"/>
              </a:rPr>
              <a:t>Respond to Webhook (Last Node)</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retorna</a:t>
            </a:r>
            <a:r>
              <a:rPr lang="en-US" sz="1100" dirty="0">
                <a:solidFill>
                  <a:srgbClr val="000000"/>
                </a:solidFill>
                <a:latin typeface="Montserrat"/>
                <a:ea typeface="Montserrat"/>
                <a:cs typeface="Montserrat"/>
                <a:sym typeface="Montserrat"/>
              </a:rPr>
              <a:t> o HTML final para o </a:t>
            </a:r>
            <a:r>
              <a:rPr lang="en-US" sz="1100" dirty="0" err="1">
                <a:solidFill>
                  <a:srgbClr val="000000"/>
                </a:solidFill>
                <a:latin typeface="Montserrat"/>
                <a:ea typeface="Montserrat"/>
                <a:cs typeface="Montserrat"/>
                <a:sym typeface="Montserrat"/>
              </a:rPr>
              <a:t>navegador</a:t>
            </a:r>
            <a:r>
              <a:rPr lang="en-US" sz="1100" dirty="0">
                <a:solidFill>
                  <a:srgbClr val="000000"/>
                </a:solidFill>
                <a:latin typeface="Montserrat"/>
                <a:ea typeface="Montserrat"/>
                <a:cs typeface="Montserrat"/>
                <a:sym typeface="Montserrat"/>
              </a:rPr>
              <a:t>/</a:t>
            </a:r>
            <a:r>
              <a:rPr lang="en-US" sz="1100" dirty="0" err="1">
                <a:solidFill>
                  <a:srgbClr val="000000"/>
                </a:solidFill>
                <a:latin typeface="Montserrat"/>
                <a:ea typeface="Montserrat"/>
                <a:cs typeface="Montserrat"/>
                <a:sym typeface="Montserrat"/>
              </a:rPr>
              <a:t>cliente</a:t>
            </a:r>
            <a:r>
              <a:rPr lang="en-US" sz="1100" dirty="0">
                <a:solidFill>
                  <a:srgbClr val="000000"/>
                </a:solidFill>
                <a:latin typeface="Montserrat"/>
                <a:ea typeface="Montserrat"/>
                <a:cs typeface="Montserrat"/>
                <a:sym typeface="Montserrat"/>
              </a:rPr>
              <a:t>.</a:t>
            </a:r>
          </a:p>
        </p:txBody>
      </p:sp>
      <p:sp>
        <p:nvSpPr>
          <p:cNvPr id="13" name="TextBox 13"/>
          <p:cNvSpPr txBox="1"/>
          <p:nvPr/>
        </p:nvSpPr>
        <p:spPr>
          <a:xfrm>
            <a:off x="6247698" y="4960620"/>
            <a:ext cx="4630201" cy="4191635"/>
          </a:xfrm>
          <a:prstGeom prst="rect">
            <a:avLst/>
          </a:prstGeom>
        </p:spPr>
        <p:txBody>
          <a:bodyPr lIns="0" tIns="0" rIns="0" bIns="0" rtlCol="0" anchor="t">
            <a:spAutoFit/>
          </a:bodyPr>
          <a:lstStyle/>
          <a:p>
            <a:pPr algn="l">
              <a:lnSpc>
                <a:spcPts val="1540"/>
              </a:lnSpc>
            </a:pPr>
            <a:r>
              <a:rPr lang="en-US" sz="1100" b="1" dirty="0">
                <a:solidFill>
                  <a:srgbClr val="000000"/>
                </a:solidFill>
                <a:latin typeface="Montserrat Bold"/>
                <a:ea typeface="Montserrat Bold"/>
                <a:cs typeface="Montserrat Bold"/>
                <a:sym typeface="Montserrat Bold"/>
              </a:rPr>
              <a:t>FLUXO DE ANÄLISES EDA (</a:t>
            </a:r>
            <a:r>
              <a:rPr lang="en-US" sz="1100" b="1" dirty="0" err="1">
                <a:solidFill>
                  <a:srgbClr val="000000"/>
                </a:solidFill>
                <a:latin typeface="Montserrat Bold"/>
                <a:ea typeface="Montserrat Bold"/>
                <a:cs typeface="Montserrat Bold"/>
                <a:sym typeface="Montserrat Bold"/>
              </a:rPr>
              <a:t>Padrão</a:t>
            </a:r>
            <a:r>
              <a:rPr lang="en-US" sz="1100" b="1" dirty="0">
                <a:solidFill>
                  <a:srgbClr val="000000"/>
                </a:solidFill>
                <a:latin typeface="Montserrat Bold"/>
                <a:ea typeface="Montserrat Bold"/>
                <a:cs typeface="Montserrat Bold"/>
                <a:sym typeface="Montserrat Bold"/>
              </a:rPr>
              <a:t>)</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Webhook </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recebe</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os</a:t>
            </a:r>
            <a:r>
              <a:rPr lang="en-US" sz="1100" dirty="0">
                <a:solidFill>
                  <a:srgbClr val="000000"/>
                </a:solidFill>
                <a:latin typeface="Montserrat"/>
                <a:ea typeface="Montserrat"/>
                <a:cs typeface="Montserrat"/>
                <a:sym typeface="Montserrat"/>
              </a:rPr>
              <a:t> campos do </a:t>
            </a:r>
            <a:r>
              <a:rPr lang="en-US" sz="1100" dirty="0" err="1">
                <a:solidFill>
                  <a:srgbClr val="000000"/>
                </a:solidFill>
                <a:latin typeface="Montserrat"/>
                <a:ea typeface="Montserrat"/>
                <a:cs typeface="Montserrat"/>
                <a:sym typeface="Montserrat"/>
              </a:rPr>
              <a:t>formulário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pergunta</a:t>
            </a:r>
            <a:r>
              <a:rPr lang="en-US" sz="1100" dirty="0">
                <a:solidFill>
                  <a:srgbClr val="000000"/>
                </a:solidFill>
                <a:latin typeface="Montserrat"/>
                <a:ea typeface="Montserrat"/>
                <a:cs typeface="Montserrat"/>
                <a:sym typeface="Montserrat"/>
              </a:rPr>
              <a:t>, UF, </a:t>
            </a:r>
            <a:r>
              <a:rPr lang="en-US" sz="1100" dirty="0" err="1">
                <a:solidFill>
                  <a:srgbClr val="000000"/>
                </a:solidFill>
                <a:latin typeface="Montserrat"/>
                <a:ea typeface="Montserrat"/>
                <a:cs typeface="Montserrat"/>
                <a:sym typeface="Montserrat"/>
              </a:rPr>
              <a:t>datas</a:t>
            </a:r>
            <a:r>
              <a:rPr lang="en-US" sz="1100" dirty="0">
                <a:solidFill>
                  <a:srgbClr val="000000"/>
                </a:solidFill>
                <a:latin typeface="Montserrat"/>
                <a:ea typeface="Montserrat"/>
                <a:cs typeface="Montserrat"/>
                <a:sym typeface="Montserrat"/>
              </a:rPr>
              <a:t>, viz) e </a:t>
            </a:r>
            <a:r>
              <a:rPr lang="en-US" sz="1100" dirty="0" err="1">
                <a:solidFill>
                  <a:srgbClr val="000000"/>
                </a:solidFill>
                <a:latin typeface="Montserrat"/>
                <a:ea typeface="Montserrat"/>
                <a:cs typeface="Montserrat"/>
                <a:sym typeface="Montserrat"/>
              </a:rPr>
              <a:t>dispara</a:t>
            </a:r>
            <a:r>
              <a:rPr lang="en-US" sz="1100" dirty="0">
                <a:solidFill>
                  <a:srgbClr val="000000"/>
                </a:solidFill>
                <a:latin typeface="Montserrat"/>
                <a:ea typeface="Montserrat"/>
                <a:cs typeface="Montserrat"/>
                <a:sym typeface="Montserrat"/>
              </a:rPr>
              <a:t> o </a:t>
            </a:r>
            <a:r>
              <a:rPr lang="en-US" sz="1100" dirty="0" err="1">
                <a:solidFill>
                  <a:srgbClr val="000000"/>
                </a:solidFill>
                <a:latin typeface="Montserrat"/>
                <a:ea typeface="Montserrat"/>
                <a:cs typeface="Montserrat"/>
                <a:sym typeface="Montserrat"/>
              </a:rPr>
              <a:t>fluxo</a:t>
            </a:r>
            <a:r>
              <a:rPr lang="en-US" sz="1100" dirty="0">
                <a:solidFill>
                  <a:srgbClr val="000000"/>
                </a:solidFill>
                <a:latin typeface="Montserrat"/>
                <a:ea typeface="Montserrat"/>
                <a:cs typeface="Montserrat"/>
                <a:sym typeface="Montserrat"/>
              </a:rPr>
              <a:t>.</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Normalize Inputs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padroniza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parâmetros</a:t>
            </a:r>
            <a:r>
              <a:rPr lang="en-US" sz="1100" dirty="0">
                <a:solidFill>
                  <a:srgbClr val="000000"/>
                </a:solidFill>
                <a:latin typeface="Montserrat"/>
                <a:ea typeface="Montserrat"/>
                <a:cs typeface="Montserrat"/>
                <a:sym typeface="Montserrat"/>
              </a:rPr>
              <a:t> (UF, </a:t>
            </a:r>
            <a:r>
              <a:rPr lang="en-US" sz="1100" dirty="0" err="1">
                <a:solidFill>
                  <a:srgbClr val="000000"/>
                </a:solidFill>
                <a:latin typeface="Montserrat"/>
                <a:ea typeface="Montserrat"/>
                <a:cs typeface="Montserrat"/>
                <a:sym typeface="Montserrat"/>
              </a:rPr>
              <a:t>data_inicio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data_fim</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user_viz</a:t>
            </a:r>
            <a:r>
              <a:rPr lang="en-US" sz="1100" dirty="0">
                <a:solidFill>
                  <a:srgbClr val="000000"/>
                </a:solidFill>
                <a:latin typeface="Montserrat"/>
                <a:ea typeface="Montserrat"/>
                <a:cs typeface="Montserrat"/>
                <a:sym typeface="Montserrat"/>
              </a:rPr>
              <a:t>) e </a:t>
            </a:r>
            <a:r>
              <a:rPr lang="en-US" sz="1100" dirty="0" err="1">
                <a:solidFill>
                  <a:srgbClr val="000000"/>
                </a:solidFill>
                <a:latin typeface="Montserrat"/>
                <a:ea typeface="Montserrat"/>
                <a:cs typeface="Montserrat"/>
                <a:sym typeface="Montserrat"/>
              </a:rPr>
              <a:t>prepara</a:t>
            </a:r>
            <a:r>
              <a:rPr lang="en-US" sz="1100" dirty="0">
                <a:solidFill>
                  <a:srgbClr val="000000"/>
                </a:solidFill>
                <a:latin typeface="Montserrat"/>
                <a:ea typeface="Montserrat"/>
                <a:cs typeface="Montserrat"/>
                <a:sym typeface="Montserrat"/>
              </a:rPr>
              <a:t> o payload </a:t>
            </a:r>
            <a:r>
              <a:rPr lang="en-US" sz="1100" dirty="0" err="1">
                <a:solidFill>
                  <a:srgbClr val="000000"/>
                </a:solidFill>
                <a:latin typeface="Montserrat"/>
                <a:ea typeface="Montserrat"/>
                <a:cs typeface="Montserrat"/>
                <a:sym typeface="Montserrat"/>
              </a:rPr>
              <a:t>básico</a:t>
            </a:r>
            <a:r>
              <a:rPr lang="en-US" sz="1100" dirty="0">
                <a:solidFill>
                  <a:srgbClr val="000000"/>
                </a:solidFill>
                <a:latin typeface="Montserrat"/>
                <a:ea typeface="Montserrat"/>
                <a:cs typeface="Montserrat"/>
                <a:sym typeface="Montserrat"/>
              </a:rPr>
              <a:t>.</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Planner (LLM)</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interpreta</a:t>
            </a:r>
            <a:r>
              <a:rPr lang="en-US" sz="1100" dirty="0">
                <a:solidFill>
                  <a:srgbClr val="000000"/>
                </a:solidFill>
                <a:latin typeface="Montserrat"/>
                <a:ea typeface="Montserrat"/>
                <a:cs typeface="Montserrat"/>
                <a:sym typeface="Montserrat"/>
              </a:rPr>
              <a:t> a </a:t>
            </a:r>
            <a:r>
              <a:rPr lang="en-US" sz="1100" dirty="0" err="1">
                <a:solidFill>
                  <a:srgbClr val="000000"/>
                </a:solidFill>
                <a:latin typeface="Montserrat"/>
                <a:ea typeface="Montserrat"/>
                <a:cs typeface="Montserrat"/>
                <a:sym typeface="Montserrat"/>
              </a:rPr>
              <a:t>pergunta</a:t>
            </a:r>
            <a:r>
              <a:rPr lang="en-US" sz="1100" dirty="0">
                <a:solidFill>
                  <a:srgbClr val="000000"/>
                </a:solidFill>
                <a:latin typeface="Montserrat"/>
                <a:ea typeface="Montserrat"/>
                <a:cs typeface="Montserrat"/>
                <a:sym typeface="Montserrat"/>
              </a:rPr>
              <a:t> e </a:t>
            </a:r>
            <a:r>
              <a:rPr lang="en-US" sz="1100" dirty="0" err="1">
                <a:solidFill>
                  <a:srgbClr val="000000"/>
                </a:solidFill>
                <a:latin typeface="Montserrat"/>
                <a:ea typeface="Montserrat"/>
                <a:cs typeface="Montserrat"/>
                <a:sym typeface="Montserrat"/>
              </a:rPr>
              <a:t>propõe</a:t>
            </a:r>
            <a:r>
              <a:rPr lang="en-US" sz="1100" dirty="0">
                <a:solidFill>
                  <a:srgbClr val="000000"/>
                </a:solidFill>
                <a:latin typeface="Montserrat"/>
                <a:ea typeface="Montserrat"/>
                <a:cs typeface="Montserrat"/>
                <a:sym typeface="Montserrat"/>
              </a:rPr>
              <a:t> um plan (intent, </a:t>
            </a:r>
            <a:r>
              <a:rPr lang="en-US" sz="1100" dirty="0" err="1">
                <a:solidFill>
                  <a:srgbClr val="000000"/>
                </a:solidFill>
                <a:latin typeface="Montserrat"/>
                <a:ea typeface="Montserrat"/>
                <a:cs typeface="Montserrat"/>
                <a:sym typeface="Montserrat"/>
              </a:rPr>
              <a:t>group_by</a:t>
            </a:r>
            <a:r>
              <a:rPr lang="en-US" sz="1100" dirty="0">
                <a:solidFill>
                  <a:srgbClr val="000000"/>
                </a:solidFill>
                <a:latin typeface="Montserrat"/>
                <a:ea typeface="Montserrat"/>
                <a:cs typeface="Montserrat"/>
                <a:sym typeface="Montserrat"/>
              </a:rPr>
              <a:t>, metrics, viz, </a:t>
            </a:r>
            <a:r>
              <a:rPr lang="en-US" sz="1100" dirty="0" err="1">
                <a:solidFill>
                  <a:srgbClr val="000000"/>
                </a:solidFill>
                <a:latin typeface="Montserrat"/>
                <a:ea typeface="Montserrat"/>
                <a:cs typeface="Montserrat"/>
                <a:sym typeface="Montserrat"/>
              </a:rPr>
              <a:t>filtros</a:t>
            </a:r>
            <a:r>
              <a:rPr lang="en-US" sz="1100" dirty="0">
                <a:solidFill>
                  <a:srgbClr val="000000"/>
                </a:solidFill>
                <a:latin typeface="Montserrat"/>
                <a:ea typeface="Montserrat"/>
                <a:cs typeface="Montserrat"/>
                <a:sym typeface="Montserrat"/>
              </a:rPr>
              <a:t>).</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Validate Plan</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higieniza</a:t>
            </a:r>
            <a:r>
              <a:rPr lang="en-US" sz="1100" dirty="0">
                <a:solidFill>
                  <a:srgbClr val="000000"/>
                </a:solidFill>
                <a:latin typeface="Montserrat"/>
                <a:ea typeface="Montserrat"/>
                <a:cs typeface="Montserrat"/>
                <a:sym typeface="Montserrat"/>
              </a:rPr>
              <a:t>/</a:t>
            </a:r>
            <a:r>
              <a:rPr lang="en-US" sz="1100" dirty="0" err="1">
                <a:solidFill>
                  <a:srgbClr val="000000"/>
                </a:solidFill>
                <a:latin typeface="Montserrat"/>
                <a:ea typeface="Montserrat"/>
                <a:cs typeface="Montserrat"/>
                <a:sym typeface="Montserrat"/>
              </a:rPr>
              <a:t>normaliza</a:t>
            </a:r>
            <a:r>
              <a:rPr lang="en-US" sz="1100" dirty="0">
                <a:solidFill>
                  <a:srgbClr val="000000"/>
                </a:solidFill>
                <a:latin typeface="Montserrat"/>
                <a:ea typeface="Montserrat"/>
                <a:cs typeface="Montserrat"/>
                <a:sym typeface="Montserrat"/>
              </a:rPr>
              <a:t> o plan e </a:t>
            </a:r>
            <a:r>
              <a:rPr lang="en-US" sz="1100" dirty="0" err="1">
                <a:solidFill>
                  <a:srgbClr val="000000"/>
                </a:solidFill>
                <a:latin typeface="Montserrat"/>
                <a:ea typeface="Montserrat"/>
                <a:cs typeface="Montserrat"/>
                <a:sym typeface="Montserrat"/>
              </a:rPr>
              <a:t>injeta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data_inicio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data_fim</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uf</a:t>
            </a:r>
            <a:r>
              <a:rPr lang="en-US" sz="1100" dirty="0">
                <a:solidFill>
                  <a:srgbClr val="000000"/>
                </a:solidFill>
                <a:latin typeface="Montserrat"/>
                <a:ea typeface="Montserrat"/>
                <a:cs typeface="Montserrat"/>
                <a:sym typeface="Montserrat"/>
              </a:rPr>
              <a:t> e </a:t>
            </a:r>
            <a:r>
              <a:rPr lang="en-US" sz="1100" dirty="0" err="1">
                <a:solidFill>
                  <a:srgbClr val="000000"/>
                </a:solidFill>
                <a:latin typeface="Montserrat"/>
                <a:ea typeface="Montserrat"/>
                <a:cs typeface="Montserrat"/>
                <a:sym typeface="Montserrat"/>
              </a:rPr>
              <a:t>user_viz</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vindos</a:t>
            </a:r>
            <a:r>
              <a:rPr lang="en-US" sz="1100" dirty="0">
                <a:solidFill>
                  <a:srgbClr val="000000"/>
                </a:solidFill>
                <a:latin typeface="Montserrat"/>
                <a:ea typeface="Montserrat"/>
                <a:cs typeface="Montserrat"/>
                <a:sym typeface="Montserrat"/>
              </a:rPr>
              <a:t> do Normalize.</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Build SQL (Code)</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traduz</a:t>
            </a:r>
            <a:r>
              <a:rPr lang="en-US" sz="1100" dirty="0">
                <a:solidFill>
                  <a:srgbClr val="000000"/>
                </a:solidFill>
                <a:latin typeface="Montserrat"/>
                <a:ea typeface="Montserrat"/>
                <a:cs typeface="Montserrat"/>
                <a:sym typeface="Montserrat"/>
              </a:rPr>
              <a:t> o plan para SQL (</a:t>
            </a:r>
            <a:r>
              <a:rPr lang="en-US" sz="1100" dirty="0" err="1">
                <a:solidFill>
                  <a:srgbClr val="000000"/>
                </a:solidFill>
                <a:latin typeface="Montserrat"/>
                <a:ea typeface="Montserrat"/>
                <a:cs typeface="Montserrat"/>
                <a:sym typeface="Montserrat"/>
              </a:rPr>
              <a:t>seleções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agregações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filtros</a:t>
            </a:r>
            <a:r>
              <a:rPr lang="en-US" sz="1100" dirty="0">
                <a:solidFill>
                  <a:srgbClr val="000000"/>
                </a:solidFill>
                <a:latin typeface="Montserrat"/>
                <a:ea typeface="Montserrat"/>
                <a:cs typeface="Montserrat"/>
                <a:sym typeface="Montserrat"/>
              </a:rPr>
              <a:t> e </a:t>
            </a:r>
            <a:r>
              <a:rPr lang="en-US" sz="1100" dirty="0" err="1">
                <a:solidFill>
                  <a:srgbClr val="000000"/>
                </a:solidFill>
                <a:latin typeface="Montserrat"/>
                <a:ea typeface="Montserrat"/>
                <a:cs typeface="Montserrat"/>
                <a:sym typeface="Montserrat"/>
              </a:rPr>
              <a:t>ordenações</a:t>
            </a:r>
            <a:r>
              <a:rPr lang="en-US" sz="1100" dirty="0">
                <a:solidFill>
                  <a:srgbClr val="000000"/>
                </a:solidFill>
                <a:latin typeface="Montserrat"/>
                <a:ea typeface="Montserrat"/>
                <a:cs typeface="Montserrat"/>
                <a:sym typeface="Montserrat"/>
              </a:rPr>
              <a:t>).</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Execute SQL</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roda</a:t>
            </a:r>
            <a:r>
              <a:rPr lang="en-US" sz="1100" dirty="0">
                <a:solidFill>
                  <a:srgbClr val="000000"/>
                </a:solidFill>
                <a:latin typeface="Montserrat"/>
                <a:ea typeface="Montserrat"/>
                <a:cs typeface="Montserrat"/>
                <a:sym typeface="Montserrat"/>
              </a:rPr>
              <a:t> a query no dataset de NFs e </a:t>
            </a:r>
            <a:r>
              <a:rPr lang="en-US" sz="1100" dirty="0" err="1">
                <a:solidFill>
                  <a:srgbClr val="000000"/>
                </a:solidFill>
                <a:latin typeface="Montserrat"/>
                <a:ea typeface="Montserrat"/>
                <a:cs typeface="Montserrat"/>
                <a:sym typeface="Montserrat"/>
              </a:rPr>
              <a:t>retorna</a:t>
            </a:r>
            <a:r>
              <a:rPr lang="en-US" sz="1100" dirty="0">
                <a:solidFill>
                  <a:srgbClr val="000000"/>
                </a:solidFill>
                <a:latin typeface="Montserrat"/>
                <a:ea typeface="Montserrat"/>
                <a:cs typeface="Montserrat"/>
                <a:sym typeface="Montserrat"/>
              </a:rPr>
              <a:t> as </a:t>
            </a:r>
            <a:r>
              <a:rPr lang="en-US" sz="1100" dirty="0" err="1">
                <a:solidFill>
                  <a:srgbClr val="000000"/>
                </a:solidFill>
                <a:latin typeface="Montserrat"/>
                <a:ea typeface="Montserrat"/>
                <a:cs typeface="Montserrat"/>
                <a:sym typeface="Montserrat"/>
              </a:rPr>
              <a:t>linhas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agregadas</a:t>
            </a:r>
            <a:r>
              <a:rPr lang="en-US" sz="1100" dirty="0">
                <a:solidFill>
                  <a:srgbClr val="000000"/>
                </a:solidFill>
                <a:latin typeface="Montserrat"/>
                <a:ea typeface="Montserrat"/>
                <a:cs typeface="Montserrat"/>
                <a:sym typeface="Montserrat"/>
              </a:rPr>
              <a:t>.</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Post-Process (Code)</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calcula</a:t>
            </a:r>
            <a:r>
              <a:rPr lang="en-US" sz="1100" dirty="0">
                <a:solidFill>
                  <a:srgbClr val="000000"/>
                </a:solidFill>
                <a:latin typeface="Montserrat"/>
                <a:ea typeface="Montserrat"/>
                <a:cs typeface="Montserrat"/>
                <a:sym typeface="Montserrat"/>
              </a:rPr>
              <a:t> campos </a:t>
            </a:r>
            <a:r>
              <a:rPr lang="en-US" sz="1100" dirty="0" err="1">
                <a:solidFill>
                  <a:srgbClr val="000000"/>
                </a:solidFill>
                <a:latin typeface="Montserrat"/>
                <a:ea typeface="Montserrat"/>
                <a:cs typeface="Montserrat"/>
                <a:sym typeface="Montserrat"/>
              </a:rPr>
              <a:t>derivados</a:t>
            </a:r>
            <a:r>
              <a:rPr lang="en-US" sz="1100" dirty="0">
                <a:solidFill>
                  <a:srgbClr val="000000"/>
                </a:solidFill>
                <a:latin typeface="Montserrat"/>
                <a:ea typeface="Montserrat"/>
                <a:cs typeface="Montserrat"/>
                <a:sym typeface="Montserrat"/>
              </a:rPr>
              <a:t> (ex.: </a:t>
            </a:r>
            <a:r>
              <a:rPr lang="en-US" sz="1100" dirty="0" err="1">
                <a:solidFill>
                  <a:srgbClr val="000000"/>
                </a:solidFill>
                <a:latin typeface="Montserrat"/>
                <a:ea typeface="Montserrat"/>
                <a:cs typeface="Montserrat"/>
                <a:sym typeface="Montserrat"/>
              </a:rPr>
              <a:t>ticket_médio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formata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números</a:t>
            </a:r>
            <a:r>
              <a:rPr lang="en-US" sz="1100" dirty="0">
                <a:solidFill>
                  <a:srgbClr val="000000"/>
                </a:solidFill>
                <a:latin typeface="Montserrat"/>
                <a:ea typeface="Montserrat"/>
                <a:cs typeface="Montserrat"/>
                <a:sym typeface="Montserrat"/>
              </a:rPr>
              <a:t> e </a:t>
            </a:r>
            <a:r>
              <a:rPr lang="en-US" sz="1100" dirty="0" err="1">
                <a:solidFill>
                  <a:srgbClr val="000000"/>
                </a:solidFill>
                <a:latin typeface="Montserrat"/>
                <a:ea typeface="Montserrat"/>
                <a:cs typeface="Montserrat"/>
                <a:sym typeface="Montserrat"/>
              </a:rPr>
              <a:t>limita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registros</a:t>
            </a:r>
            <a:r>
              <a:rPr lang="en-US" sz="1100" dirty="0">
                <a:solidFill>
                  <a:srgbClr val="000000"/>
                </a:solidFill>
                <a:latin typeface="Montserrat"/>
                <a:ea typeface="Montserrat"/>
                <a:cs typeface="Montserrat"/>
                <a:sym typeface="Montserrat"/>
              </a:rPr>
              <a:t>.</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OpenAI </a:t>
            </a:r>
            <a:r>
              <a:rPr lang="en-US" sz="1100" dirty="0">
                <a:solidFill>
                  <a:srgbClr val="000000"/>
                </a:solidFill>
                <a:latin typeface="Montserrat"/>
                <a:ea typeface="Montserrat"/>
                <a:cs typeface="Montserrat"/>
                <a:sym typeface="Montserrat"/>
              </a:rPr>
              <a:t>– Insight- </a:t>
            </a:r>
            <a:r>
              <a:rPr lang="en-US" sz="1100" dirty="0" err="1">
                <a:solidFill>
                  <a:srgbClr val="000000"/>
                </a:solidFill>
                <a:latin typeface="Montserrat"/>
                <a:ea typeface="Montserrat"/>
                <a:cs typeface="Montserrat"/>
                <a:sym typeface="Montserrat"/>
              </a:rPr>
              <a:t>gera</a:t>
            </a:r>
            <a:r>
              <a:rPr lang="en-US" sz="1100" dirty="0">
                <a:solidFill>
                  <a:srgbClr val="000000"/>
                </a:solidFill>
                <a:latin typeface="Montserrat"/>
                <a:ea typeface="Montserrat"/>
                <a:cs typeface="Montserrat"/>
                <a:sym typeface="Montserrat"/>
              </a:rPr>
              <a:t> um </a:t>
            </a:r>
            <a:r>
              <a:rPr lang="en-US" sz="1100" dirty="0" err="1">
                <a:solidFill>
                  <a:srgbClr val="000000"/>
                </a:solidFill>
                <a:latin typeface="Montserrat"/>
                <a:ea typeface="Montserrat"/>
                <a:cs typeface="Montserrat"/>
                <a:sym typeface="Montserrat"/>
              </a:rPr>
              <a:t>parágrafo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curto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interpretando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resultados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tendências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destaques</a:t>
            </a:r>
            <a:r>
              <a:rPr lang="en-US" sz="1100" dirty="0">
                <a:solidFill>
                  <a:srgbClr val="000000"/>
                </a:solidFill>
                <a:latin typeface="Montserrat"/>
                <a:ea typeface="Montserrat"/>
                <a:cs typeface="Montserrat"/>
                <a:sym typeface="Montserrat"/>
              </a:rPr>
              <a:t>).</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Build HTML</a:t>
            </a:r>
            <a:r>
              <a:rPr lang="en-US" sz="1100" dirty="0">
                <a:solidFill>
                  <a:srgbClr val="000000"/>
                </a:solidFill>
                <a:latin typeface="Montserrat"/>
                <a:ea typeface="Montserrat"/>
                <a:cs typeface="Montserrat"/>
                <a:sym typeface="Montserrat"/>
              </a:rPr>
              <a:t> - </a:t>
            </a:r>
            <a:r>
              <a:rPr lang="en-US" sz="1100" dirty="0" err="1">
                <a:solidFill>
                  <a:srgbClr val="000000"/>
                </a:solidFill>
                <a:latin typeface="Montserrat"/>
                <a:ea typeface="Montserrat"/>
                <a:cs typeface="Montserrat"/>
                <a:sym typeface="Montserrat"/>
              </a:rPr>
              <a:t>monta</a:t>
            </a:r>
            <a:r>
              <a:rPr lang="en-US" sz="1100" dirty="0">
                <a:solidFill>
                  <a:srgbClr val="000000"/>
                </a:solidFill>
                <a:latin typeface="Montserrat"/>
                <a:ea typeface="Montserrat"/>
                <a:cs typeface="Montserrat"/>
                <a:sym typeface="Montserrat"/>
              </a:rPr>
              <a:t> o HTML da UI </a:t>
            </a:r>
            <a:r>
              <a:rPr lang="en-US" sz="1100" dirty="0" err="1">
                <a:solidFill>
                  <a:srgbClr val="000000"/>
                </a:solidFill>
                <a:latin typeface="Montserrat"/>
                <a:ea typeface="Montserrat"/>
                <a:cs typeface="Montserrat"/>
                <a:sym typeface="Montserrat"/>
              </a:rPr>
              <a:t>padrão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título</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filtros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usados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tabela</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gráficos</a:t>
            </a:r>
            <a:r>
              <a:rPr lang="en-US" sz="1100" dirty="0">
                <a:solidFill>
                  <a:srgbClr val="000000"/>
                </a:solidFill>
                <a:latin typeface="Montserrat"/>
                <a:ea typeface="Montserrat"/>
                <a:cs typeface="Montserrat"/>
                <a:sym typeface="Montserrat"/>
              </a:rPr>
              <a:t> </a:t>
            </a:r>
            <a:r>
              <a:rPr lang="en-US" sz="1100" dirty="0" err="1">
                <a:solidFill>
                  <a:srgbClr val="000000"/>
                </a:solidFill>
                <a:latin typeface="Montserrat"/>
                <a:ea typeface="Montserrat"/>
                <a:cs typeface="Montserrat"/>
                <a:sym typeface="Montserrat"/>
              </a:rPr>
              <a:t>conforme</a:t>
            </a:r>
            <a:r>
              <a:rPr lang="en-US" sz="1100" dirty="0">
                <a:solidFill>
                  <a:srgbClr val="000000"/>
                </a:solidFill>
                <a:latin typeface="Montserrat"/>
                <a:ea typeface="Montserrat"/>
                <a:cs typeface="Montserrat"/>
                <a:sym typeface="Montserrat"/>
              </a:rPr>
              <a:t> viz).</a:t>
            </a:r>
          </a:p>
          <a:p>
            <a:pPr marL="237491" lvl="1" indent="-118745" algn="l">
              <a:lnSpc>
                <a:spcPts val="1540"/>
              </a:lnSpc>
              <a:spcBef>
                <a:spcPct val="0"/>
              </a:spcBef>
              <a:buFont typeface="Arial"/>
              <a:buChar char="•"/>
            </a:pPr>
            <a:r>
              <a:rPr lang="en-US" sz="1100" b="1" dirty="0">
                <a:solidFill>
                  <a:srgbClr val="000000"/>
                </a:solidFill>
                <a:latin typeface="Montserrat Bold"/>
                <a:ea typeface="Montserrat Bold"/>
                <a:cs typeface="Montserrat Bold"/>
                <a:sym typeface="Montserrat Bold"/>
              </a:rPr>
              <a:t>Respond to Webhook</a:t>
            </a:r>
            <a:r>
              <a:rPr lang="en-US" sz="1100" dirty="0">
                <a:solidFill>
                  <a:srgbClr val="000000"/>
                </a:solidFill>
                <a:latin typeface="Montserrat"/>
                <a:ea typeface="Montserrat"/>
                <a:cs typeface="Montserrat"/>
                <a:sym typeface="Montserrat"/>
              </a:rPr>
              <a:t> (Immediately) - devolve o HTML </a:t>
            </a:r>
            <a:r>
              <a:rPr lang="en-US" sz="1100" dirty="0" err="1">
                <a:solidFill>
                  <a:srgbClr val="000000"/>
                </a:solidFill>
                <a:latin typeface="Montserrat"/>
                <a:ea typeface="Montserrat"/>
                <a:cs typeface="Montserrat"/>
                <a:sym typeface="Montserrat"/>
              </a:rPr>
              <a:t>renderizável</a:t>
            </a:r>
            <a:r>
              <a:rPr lang="en-US" sz="1100" dirty="0">
                <a:solidFill>
                  <a:srgbClr val="000000"/>
                </a:solidFill>
                <a:latin typeface="Montserrat"/>
                <a:ea typeface="Montserrat"/>
                <a:cs typeface="Montserrat"/>
                <a:sym typeface="Montserrat"/>
              </a:rPr>
              <a:t> para o </a:t>
            </a:r>
            <a:r>
              <a:rPr lang="en-US" sz="1100" dirty="0" err="1">
                <a:solidFill>
                  <a:srgbClr val="000000"/>
                </a:solidFill>
                <a:latin typeface="Montserrat"/>
                <a:ea typeface="Montserrat"/>
                <a:cs typeface="Montserrat"/>
                <a:sym typeface="Montserrat"/>
              </a:rPr>
              <a:t>navegador</a:t>
            </a:r>
            <a:r>
              <a:rPr lang="en-US" sz="1100" dirty="0">
                <a:solidFill>
                  <a:srgbClr val="000000"/>
                </a:solidFill>
                <a:latin typeface="Montserrat"/>
                <a:ea typeface="Montserrat"/>
                <a:cs typeface="Montserrat"/>
                <a:sym typeface="Montserrat"/>
              </a:rPr>
              <a:t>/</a:t>
            </a:r>
            <a:r>
              <a:rPr lang="en-US" sz="1100" dirty="0" err="1">
                <a:solidFill>
                  <a:srgbClr val="000000"/>
                </a:solidFill>
                <a:latin typeface="Montserrat"/>
                <a:ea typeface="Montserrat"/>
                <a:cs typeface="Montserrat"/>
                <a:sym typeface="Montserrat"/>
              </a:rPr>
              <a:t>cliente</a:t>
            </a:r>
            <a:r>
              <a:rPr lang="en-US" sz="1100" dirty="0">
                <a:solidFill>
                  <a:srgbClr val="000000"/>
                </a:solidFill>
                <a:latin typeface="Montserrat"/>
                <a:ea typeface="Montserrat"/>
                <a:cs typeface="Montserrat"/>
                <a:sym typeface="Montserrat"/>
              </a:rPr>
              <a:t>.</a:t>
            </a:r>
          </a:p>
          <a:p>
            <a:pPr algn="l">
              <a:lnSpc>
                <a:spcPts val="1540"/>
              </a:lnSpc>
              <a:spcBef>
                <a:spcPct val="0"/>
              </a:spcBef>
            </a:pPr>
            <a:endParaRPr lang="en-US" sz="1100" dirty="0">
              <a:solidFill>
                <a:srgbClr val="000000"/>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78442" y="-163675"/>
            <a:ext cx="15841946" cy="10709601"/>
            <a:chOff x="0" y="0"/>
            <a:chExt cx="4172364" cy="2820636"/>
          </a:xfrm>
        </p:grpSpPr>
        <p:sp>
          <p:nvSpPr>
            <p:cNvPr id="3" name="Freeform 3"/>
            <p:cNvSpPr/>
            <p:nvPr/>
          </p:nvSpPr>
          <p:spPr>
            <a:xfrm>
              <a:off x="0" y="0"/>
              <a:ext cx="4172364" cy="2820636"/>
            </a:xfrm>
            <a:custGeom>
              <a:avLst/>
              <a:gdLst/>
              <a:ahLst/>
              <a:cxnLst/>
              <a:rect l="l" t="t" r="r" b="b"/>
              <a:pathLst>
                <a:path w="4172364" h="2820636">
                  <a:moveTo>
                    <a:pt x="0" y="0"/>
                  </a:moveTo>
                  <a:lnTo>
                    <a:pt x="4172364" y="0"/>
                  </a:lnTo>
                  <a:lnTo>
                    <a:pt x="4172364" y="2820636"/>
                  </a:lnTo>
                  <a:lnTo>
                    <a:pt x="0" y="2820636"/>
                  </a:lnTo>
                  <a:close/>
                </a:path>
              </a:pathLst>
            </a:custGeom>
            <a:solidFill>
              <a:srgbClr val="FFCD46"/>
            </a:solidFill>
          </p:spPr>
          <p:txBody>
            <a:bodyPr/>
            <a:lstStyle/>
            <a:p>
              <a:endParaRPr lang="pt-BR"/>
            </a:p>
          </p:txBody>
        </p:sp>
        <p:sp>
          <p:nvSpPr>
            <p:cNvPr id="4" name="TextBox 4"/>
            <p:cNvSpPr txBox="1"/>
            <p:nvPr/>
          </p:nvSpPr>
          <p:spPr>
            <a:xfrm>
              <a:off x="0" y="-47625"/>
              <a:ext cx="4172364" cy="2868261"/>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5181125" y="-5745784"/>
            <a:ext cx="9354617" cy="93546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D2B4"/>
            </a:solidFill>
          </p:spPr>
          <p:txBody>
            <a:bodyPr/>
            <a:lstStyle/>
            <a:p>
              <a:endParaRPr lang="pt-BR"/>
            </a:p>
          </p:txBody>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6380"/>
                </a:lnSpc>
              </a:pPr>
              <a:endParaRPr/>
            </a:p>
          </p:txBody>
        </p:sp>
      </p:grpSp>
      <p:sp>
        <p:nvSpPr>
          <p:cNvPr id="8" name="Freeform 8"/>
          <p:cNvSpPr/>
          <p:nvPr/>
        </p:nvSpPr>
        <p:spPr>
          <a:xfrm>
            <a:off x="5678442" y="-163675"/>
            <a:ext cx="15130042" cy="13093958"/>
          </a:xfrm>
          <a:custGeom>
            <a:avLst/>
            <a:gdLst/>
            <a:ahLst/>
            <a:cxnLst/>
            <a:rect l="l" t="t" r="r" b="b"/>
            <a:pathLst>
              <a:path w="15130042" h="13093958">
                <a:moveTo>
                  <a:pt x="0" y="0"/>
                </a:moveTo>
                <a:lnTo>
                  <a:pt x="15130043" y="0"/>
                </a:lnTo>
                <a:lnTo>
                  <a:pt x="15130043" y="13093958"/>
                </a:lnTo>
                <a:lnTo>
                  <a:pt x="0" y="13093958"/>
                </a:lnTo>
                <a:lnTo>
                  <a:pt x="0" y="0"/>
                </a:lnTo>
                <a:close/>
              </a:path>
            </a:pathLst>
          </a:custGeom>
          <a:blipFill>
            <a:blip r:embed="rId2">
              <a:alphaModFix amt="43999"/>
            </a:blip>
            <a:stretch>
              <a:fillRect l="-5357" t="-16189" r="-1664" b="-7473"/>
            </a:stretch>
          </a:blipFill>
        </p:spPr>
        <p:txBody>
          <a:bodyPr/>
          <a:lstStyle/>
          <a:p>
            <a:endParaRPr lang="pt-BR"/>
          </a:p>
        </p:txBody>
      </p:sp>
      <p:sp>
        <p:nvSpPr>
          <p:cNvPr id="9" name="TextBox 9"/>
          <p:cNvSpPr txBox="1"/>
          <p:nvPr/>
        </p:nvSpPr>
        <p:spPr>
          <a:xfrm>
            <a:off x="763293" y="4079408"/>
            <a:ext cx="5214239" cy="1587997"/>
          </a:xfrm>
          <a:prstGeom prst="rect">
            <a:avLst/>
          </a:prstGeom>
        </p:spPr>
        <p:txBody>
          <a:bodyPr lIns="0" tIns="0" rIns="0" bIns="0" rtlCol="0" anchor="t">
            <a:spAutoFit/>
          </a:bodyPr>
          <a:lstStyle/>
          <a:p>
            <a:pPr algn="l">
              <a:lnSpc>
                <a:spcPts val="6447"/>
              </a:lnSpc>
            </a:pPr>
            <a:r>
              <a:rPr lang="en-US" sz="4605">
                <a:solidFill>
                  <a:srgbClr val="000000"/>
                </a:solidFill>
                <a:latin typeface="League Spartan"/>
                <a:ea typeface="League Spartan"/>
                <a:cs typeface="League Spartan"/>
                <a:sym typeface="League Spartan"/>
              </a:rPr>
              <a:t>Roadmap e Limitações</a:t>
            </a:r>
          </a:p>
        </p:txBody>
      </p:sp>
      <p:sp>
        <p:nvSpPr>
          <p:cNvPr id="10" name="TextBox 10"/>
          <p:cNvSpPr txBox="1"/>
          <p:nvPr/>
        </p:nvSpPr>
        <p:spPr>
          <a:xfrm>
            <a:off x="6334926" y="882183"/>
            <a:ext cx="10386919" cy="3362459"/>
          </a:xfrm>
          <a:prstGeom prst="rect">
            <a:avLst/>
          </a:prstGeom>
        </p:spPr>
        <p:txBody>
          <a:bodyPr lIns="0" tIns="0" rIns="0" bIns="0" rtlCol="0" anchor="t">
            <a:spAutoFit/>
          </a:bodyPr>
          <a:lstStyle/>
          <a:p>
            <a:pPr algn="l">
              <a:lnSpc>
                <a:spcPts val="2380"/>
              </a:lnSpc>
              <a:spcBef>
                <a:spcPct val="0"/>
              </a:spcBef>
            </a:pPr>
            <a:r>
              <a:rPr lang="en-US" sz="1700" b="1" dirty="0">
                <a:solidFill>
                  <a:srgbClr val="000000"/>
                </a:solidFill>
                <a:latin typeface="Montserrat Bold"/>
                <a:ea typeface="Montserrat Bold"/>
                <a:cs typeface="Montserrat Bold"/>
                <a:sym typeface="Montserrat Bold"/>
              </a:rPr>
              <a:t>Roadmap de </a:t>
            </a:r>
            <a:r>
              <a:rPr lang="en-US" sz="1700" b="1" dirty="0" err="1">
                <a:solidFill>
                  <a:srgbClr val="000000"/>
                </a:solidFill>
                <a:latin typeface="Montserrat Bold"/>
                <a:ea typeface="Montserrat Bold"/>
                <a:cs typeface="Montserrat Bold"/>
                <a:sym typeface="Montserrat Bold"/>
              </a:rPr>
              <a:t>evolução</a:t>
            </a:r>
            <a:endParaRPr lang="en-US" sz="1700" b="1" dirty="0">
              <a:solidFill>
                <a:srgbClr val="000000"/>
              </a:solidFill>
              <a:latin typeface="Montserrat Bold"/>
              <a:ea typeface="Montserrat Bold"/>
              <a:cs typeface="Montserrat Bold"/>
              <a:sym typeface="Montserrat Bold"/>
            </a:endParaRPr>
          </a:p>
          <a:p>
            <a:pPr algn="just">
              <a:lnSpc>
                <a:spcPts val="2380"/>
              </a:lnSpc>
              <a:spcBef>
                <a:spcPct val="0"/>
              </a:spcBef>
            </a:pPr>
            <a:r>
              <a:rPr lang="en-US" sz="1700" dirty="0">
                <a:solidFill>
                  <a:srgbClr val="000000"/>
                </a:solidFill>
                <a:latin typeface="Montserrat"/>
                <a:ea typeface="Montserrat"/>
                <a:cs typeface="Montserrat"/>
                <a:sym typeface="Montserrat"/>
              </a:rPr>
              <a:t>Dados: </a:t>
            </a:r>
            <a:r>
              <a:rPr lang="en-US" sz="1700" dirty="0" err="1">
                <a:solidFill>
                  <a:srgbClr val="000000"/>
                </a:solidFill>
                <a:latin typeface="Montserrat"/>
                <a:ea typeface="Montserrat"/>
                <a:cs typeface="Montserrat"/>
                <a:sym typeface="Montserrat"/>
              </a:rPr>
              <a:t>ampliar</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faixa</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histórica</a:t>
            </a:r>
            <a:r>
              <a:rPr lang="en-US" sz="1700" dirty="0">
                <a:solidFill>
                  <a:srgbClr val="000000"/>
                </a:solidFill>
                <a:latin typeface="Montserrat"/>
                <a:ea typeface="Montserrat"/>
                <a:cs typeface="Montserrat"/>
                <a:sym typeface="Montserrat"/>
              </a:rPr>
              <a:t> (≥ 12–24 meses), </a:t>
            </a:r>
            <a:r>
              <a:rPr lang="en-US" sz="1700" dirty="0" err="1">
                <a:solidFill>
                  <a:srgbClr val="000000"/>
                </a:solidFill>
                <a:latin typeface="Montserrat"/>
                <a:ea typeface="Montserrat"/>
                <a:cs typeface="Montserrat"/>
                <a:sym typeface="Montserrat"/>
              </a:rPr>
              <a:t>normalizar</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itens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como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inteiro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adicionar</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dimensões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produto</a:t>
            </a:r>
            <a:r>
              <a:rPr lang="en-US" sz="1700" dirty="0">
                <a:solidFill>
                  <a:srgbClr val="000000"/>
                </a:solidFill>
                <a:latin typeface="Montserrat"/>
                <a:ea typeface="Montserrat"/>
                <a:cs typeface="Montserrat"/>
                <a:sym typeface="Montserrat"/>
              </a:rPr>
              <a:t>, canal, CFOP, CST).</a:t>
            </a:r>
          </a:p>
          <a:p>
            <a:pPr algn="l">
              <a:lnSpc>
                <a:spcPts val="2380"/>
              </a:lnSpc>
              <a:spcBef>
                <a:spcPct val="0"/>
              </a:spcBef>
            </a:pPr>
            <a:endParaRPr lang="en-US" sz="1700" dirty="0">
              <a:solidFill>
                <a:srgbClr val="000000"/>
              </a:solidFill>
              <a:latin typeface="Montserrat"/>
              <a:ea typeface="Montserrat"/>
              <a:cs typeface="Montserrat"/>
              <a:sym typeface="Montserrat"/>
            </a:endParaRPr>
          </a:p>
          <a:p>
            <a:pPr algn="just">
              <a:lnSpc>
                <a:spcPts val="2380"/>
              </a:lnSpc>
              <a:spcBef>
                <a:spcPct val="0"/>
              </a:spcBef>
            </a:pPr>
            <a:r>
              <a:rPr lang="en-US" sz="1700" dirty="0" err="1">
                <a:solidFill>
                  <a:srgbClr val="000000"/>
                </a:solidFill>
                <a:latin typeface="Montserrat"/>
                <a:ea typeface="Montserrat"/>
                <a:cs typeface="Montserrat"/>
                <a:sym typeface="Montserrat"/>
              </a:rPr>
              <a:t>Preditivo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habilitar</a:t>
            </a:r>
            <a:r>
              <a:rPr lang="en-US" sz="1700" dirty="0">
                <a:solidFill>
                  <a:srgbClr val="000000"/>
                </a:solidFill>
                <a:latin typeface="Montserrat"/>
                <a:ea typeface="Montserrat"/>
                <a:cs typeface="Montserrat"/>
                <a:sym typeface="Montserrat"/>
              </a:rPr>
              <a:t> Prophet/ARIMA/</a:t>
            </a:r>
            <a:r>
              <a:rPr lang="en-US" sz="1700" dirty="0" err="1">
                <a:solidFill>
                  <a:srgbClr val="000000"/>
                </a:solidFill>
                <a:latin typeface="Montserrat"/>
                <a:ea typeface="Montserrat"/>
                <a:cs typeface="Montserrat"/>
                <a:sym typeface="Montserrat"/>
              </a:rPr>
              <a:t>XGBoost</a:t>
            </a:r>
            <a:r>
              <a:rPr lang="en-US" sz="1700" dirty="0">
                <a:solidFill>
                  <a:srgbClr val="000000"/>
                </a:solidFill>
                <a:latin typeface="Montserrat"/>
                <a:ea typeface="Montserrat"/>
                <a:cs typeface="Montserrat"/>
                <a:sym typeface="Montserrat"/>
              </a:rPr>
              <a:t> com </a:t>
            </a:r>
            <a:r>
              <a:rPr lang="en-US" sz="1700" dirty="0" err="1">
                <a:solidFill>
                  <a:srgbClr val="000000"/>
                </a:solidFill>
                <a:latin typeface="Montserrat"/>
                <a:ea typeface="Montserrat"/>
                <a:cs typeface="Montserrat"/>
                <a:sym typeface="Montserrat"/>
              </a:rPr>
              <a:t>granularidade</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configurável</a:t>
            </a:r>
            <a:r>
              <a:rPr lang="en-US" sz="1700" dirty="0">
                <a:solidFill>
                  <a:srgbClr val="000000"/>
                </a:solidFill>
                <a:latin typeface="Montserrat"/>
                <a:ea typeface="Montserrat"/>
                <a:cs typeface="Montserrat"/>
                <a:sym typeface="Montserrat"/>
              </a:rPr>
              <a:t> e </a:t>
            </a:r>
            <a:r>
              <a:rPr lang="en-US" sz="1700" dirty="0" err="1">
                <a:solidFill>
                  <a:srgbClr val="000000"/>
                </a:solidFill>
                <a:latin typeface="Montserrat"/>
                <a:ea typeface="Montserrat"/>
                <a:cs typeface="Montserrat"/>
                <a:sym typeface="Montserrat"/>
              </a:rPr>
              <a:t>bandas</a:t>
            </a:r>
            <a:r>
              <a:rPr lang="en-US" sz="1700" dirty="0">
                <a:solidFill>
                  <a:srgbClr val="000000"/>
                </a:solidFill>
                <a:latin typeface="Montserrat"/>
                <a:ea typeface="Montserrat"/>
                <a:cs typeface="Montserrat"/>
                <a:sym typeface="Montserrat"/>
              </a:rPr>
              <a:t> de </a:t>
            </a:r>
            <a:r>
              <a:rPr lang="en-US" sz="1700" dirty="0" err="1">
                <a:solidFill>
                  <a:srgbClr val="000000"/>
                </a:solidFill>
                <a:latin typeface="Montserrat"/>
                <a:ea typeface="Montserrat"/>
                <a:cs typeface="Montserrat"/>
                <a:sym typeface="Montserrat"/>
              </a:rPr>
              <a:t>confiança</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preservar</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rota</a:t>
            </a:r>
            <a:r>
              <a:rPr lang="en-US" sz="1700" dirty="0">
                <a:solidFill>
                  <a:srgbClr val="000000"/>
                </a:solidFill>
                <a:latin typeface="Montserrat"/>
                <a:ea typeface="Montserrat"/>
                <a:cs typeface="Montserrat"/>
                <a:sym typeface="Montserrat"/>
              </a:rPr>
              <a:t> do </a:t>
            </a:r>
            <a:r>
              <a:rPr lang="en-US" sz="1700" dirty="0" err="1">
                <a:solidFill>
                  <a:srgbClr val="000000"/>
                </a:solidFill>
                <a:latin typeface="Montserrat"/>
                <a:ea typeface="Montserrat"/>
                <a:cs typeface="Montserrat"/>
                <a:sym typeface="Montserrat"/>
              </a:rPr>
              <a:t>fluxo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padrão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já</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previsto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na</a:t>
            </a:r>
            <a:r>
              <a:rPr lang="en-US" sz="1700" dirty="0">
                <a:solidFill>
                  <a:srgbClr val="000000"/>
                </a:solidFill>
                <a:latin typeface="Montserrat"/>
                <a:ea typeface="Montserrat"/>
                <a:cs typeface="Montserrat"/>
                <a:sym typeface="Montserrat"/>
              </a:rPr>
              <a:t> UI).</a:t>
            </a:r>
          </a:p>
          <a:p>
            <a:pPr algn="just">
              <a:lnSpc>
                <a:spcPts val="2380"/>
              </a:lnSpc>
              <a:spcBef>
                <a:spcPct val="0"/>
              </a:spcBef>
            </a:pPr>
            <a:endParaRPr lang="en-US" sz="1700" dirty="0">
              <a:solidFill>
                <a:srgbClr val="000000"/>
              </a:solidFill>
              <a:latin typeface="Montserrat"/>
              <a:ea typeface="Montserrat"/>
              <a:cs typeface="Montserrat"/>
              <a:sym typeface="Montserrat"/>
            </a:endParaRPr>
          </a:p>
          <a:p>
            <a:pPr algn="just">
              <a:lnSpc>
                <a:spcPts val="2380"/>
              </a:lnSpc>
              <a:spcBef>
                <a:spcPct val="0"/>
              </a:spcBef>
            </a:pPr>
            <a:r>
              <a:rPr lang="en-US" sz="1700" dirty="0">
                <a:solidFill>
                  <a:srgbClr val="000000"/>
                </a:solidFill>
                <a:latin typeface="Montserrat"/>
                <a:ea typeface="Montserrat"/>
                <a:cs typeface="Montserrat"/>
                <a:sym typeface="Montserrat"/>
              </a:rPr>
              <a:t>Insights LLM: </a:t>
            </a:r>
            <a:r>
              <a:rPr lang="en-US" sz="1700" dirty="0" err="1">
                <a:solidFill>
                  <a:srgbClr val="000000"/>
                </a:solidFill>
                <a:latin typeface="Montserrat"/>
                <a:ea typeface="Montserrat"/>
                <a:cs typeface="Montserrat"/>
                <a:sym typeface="Montserrat"/>
              </a:rPr>
              <a:t>reinstalar</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nó</a:t>
            </a:r>
            <a:r>
              <a:rPr lang="en-US" sz="1700" dirty="0">
                <a:solidFill>
                  <a:srgbClr val="000000"/>
                </a:solidFill>
                <a:latin typeface="Montserrat"/>
                <a:ea typeface="Montserrat"/>
                <a:cs typeface="Montserrat"/>
                <a:sym typeface="Montserrat"/>
              </a:rPr>
              <a:t> de </a:t>
            </a:r>
            <a:r>
              <a:rPr lang="en-US" sz="1700" dirty="0" err="1">
                <a:solidFill>
                  <a:srgbClr val="000000"/>
                </a:solidFill>
                <a:latin typeface="Montserrat"/>
                <a:ea typeface="Montserrat"/>
                <a:cs typeface="Montserrat"/>
                <a:sym typeface="Montserrat"/>
              </a:rPr>
              <a:t>Conclusões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baseado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em</a:t>
            </a:r>
            <a:r>
              <a:rPr lang="en-US" sz="1700" dirty="0">
                <a:solidFill>
                  <a:srgbClr val="000000"/>
                </a:solidFill>
                <a:latin typeface="Montserrat"/>
                <a:ea typeface="Montserrat"/>
                <a:cs typeface="Montserrat"/>
                <a:sym typeface="Montserrat"/>
              </a:rPr>
              <a:t> histórico de </a:t>
            </a:r>
            <a:r>
              <a:rPr lang="en-US" sz="1700" dirty="0" err="1">
                <a:solidFill>
                  <a:srgbClr val="000000"/>
                </a:solidFill>
                <a:latin typeface="Montserrat"/>
                <a:ea typeface="Montserrat"/>
                <a:cs typeface="Montserrat"/>
                <a:sym typeface="Montserrat"/>
              </a:rPr>
              <a:t>perguntas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consta</a:t>
            </a:r>
            <a:r>
              <a:rPr lang="en-US" sz="1700" dirty="0">
                <a:solidFill>
                  <a:srgbClr val="000000"/>
                </a:solidFill>
                <a:latin typeface="Montserrat"/>
                <a:ea typeface="Montserrat"/>
                <a:cs typeface="Montserrat"/>
                <a:sym typeface="Montserrat"/>
              </a:rPr>
              <a:t> no </a:t>
            </a:r>
            <a:r>
              <a:rPr lang="en-US" sz="1700" dirty="0" err="1">
                <a:solidFill>
                  <a:srgbClr val="000000"/>
                </a:solidFill>
                <a:latin typeface="Montserrat"/>
                <a:ea typeface="Montserrat"/>
                <a:cs typeface="Montserrat"/>
                <a:sym typeface="Montserrat"/>
              </a:rPr>
              <a:t>trabalho</a:t>
            </a:r>
            <a:r>
              <a:rPr lang="en-US" sz="1700" dirty="0">
                <a:solidFill>
                  <a:srgbClr val="000000"/>
                </a:solidFill>
                <a:latin typeface="Montserrat"/>
                <a:ea typeface="Montserrat"/>
                <a:cs typeface="Montserrat"/>
                <a:sym typeface="Montserrat"/>
              </a:rPr>
              <a:t> anterior).</a:t>
            </a:r>
          </a:p>
          <a:p>
            <a:pPr algn="just">
              <a:lnSpc>
                <a:spcPts val="2380"/>
              </a:lnSpc>
              <a:spcBef>
                <a:spcPct val="0"/>
              </a:spcBef>
            </a:pPr>
            <a:endParaRPr lang="en-US" sz="1700" dirty="0">
              <a:solidFill>
                <a:srgbClr val="000000"/>
              </a:solidFill>
              <a:latin typeface="Montserrat"/>
              <a:ea typeface="Montserrat"/>
              <a:cs typeface="Montserrat"/>
              <a:sym typeface="Montserrat"/>
            </a:endParaRPr>
          </a:p>
          <a:p>
            <a:pPr algn="just">
              <a:lnSpc>
                <a:spcPts val="2380"/>
              </a:lnSpc>
              <a:spcBef>
                <a:spcPct val="0"/>
              </a:spcBef>
            </a:pPr>
            <a:r>
              <a:rPr lang="en-US" sz="1700" dirty="0" err="1">
                <a:solidFill>
                  <a:srgbClr val="000000"/>
                </a:solidFill>
                <a:latin typeface="Montserrat"/>
                <a:ea typeface="Montserrat"/>
                <a:cs typeface="Montserrat"/>
                <a:sym typeface="Montserrat"/>
              </a:rPr>
              <a:t>Acesso</a:t>
            </a:r>
            <a:r>
              <a:rPr lang="en-US" sz="1700" dirty="0">
                <a:solidFill>
                  <a:srgbClr val="000000"/>
                </a:solidFill>
                <a:latin typeface="Montserrat"/>
                <a:ea typeface="Montserrat"/>
                <a:cs typeface="Montserrat"/>
                <a:sym typeface="Montserrat"/>
              </a:rPr>
              <a:t> à bases </a:t>
            </a:r>
            <a:r>
              <a:rPr lang="en-US" sz="1700" dirty="0" err="1">
                <a:solidFill>
                  <a:srgbClr val="000000"/>
                </a:solidFill>
                <a:latin typeface="Montserrat"/>
                <a:ea typeface="Montserrat"/>
                <a:cs typeface="Montserrat"/>
                <a:sym typeface="Montserrat"/>
              </a:rPr>
              <a:t>externas</a:t>
            </a:r>
            <a:r>
              <a:rPr lang="en-US" sz="1700" dirty="0">
                <a:solidFill>
                  <a:srgbClr val="000000"/>
                </a:solidFill>
                <a:latin typeface="Montserrat"/>
                <a:ea typeface="Montserrat"/>
                <a:cs typeface="Montserrat"/>
                <a:sym typeface="Montserrat"/>
              </a:rPr>
              <a:t> com </a:t>
            </a:r>
            <a:r>
              <a:rPr lang="en-US" sz="1700" dirty="0" err="1">
                <a:solidFill>
                  <a:srgbClr val="000000"/>
                </a:solidFill>
                <a:latin typeface="Montserrat"/>
                <a:ea typeface="Montserrat"/>
                <a:cs typeface="Montserrat"/>
                <a:sym typeface="Montserrat"/>
              </a:rPr>
              <a:t>impostos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que</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incidiram</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nas</a:t>
            </a:r>
            <a:r>
              <a:rPr lang="en-US" sz="1700" dirty="0">
                <a:solidFill>
                  <a:srgbClr val="000000"/>
                </a:solidFill>
                <a:latin typeface="Montserrat"/>
                <a:ea typeface="Montserrat"/>
                <a:cs typeface="Montserrat"/>
                <a:sym typeface="Montserrat"/>
              </a:rPr>
              <a:t> NFs.</a:t>
            </a:r>
          </a:p>
        </p:txBody>
      </p:sp>
      <p:sp>
        <p:nvSpPr>
          <p:cNvPr id="11" name="TextBox 11"/>
          <p:cNvSpPr txBox="1"/>
          <p:nvPr/>
        </p:nvSpPr>
        <p:spPr>
          <a:xfrm>
            <a:off x="6334926" y="5014749"/>
            <a:ext cx="9475276" cy="3054682"/>
          </a:xfrm>
          <a:prstGeom prst="rect">
            <a:avLst/>
          </a:prstGeom>
        </p:spPr>
        <p:txBody>
          <a:bodyPr lIns="0" tIns="0" rIns="0" bIns="0" rtlCol="0" anchor="t">
            <a:spAutoFit/>
          </a:bodyPr>
          <a:lstStyle/>
          <a:p>
            <a:pPr algn="l">
              <a:lnSpc>
                <a:spcPts val="2380"/>
              </a:lnSpc>
              <a:spcBef>
                <a:spcPct val="0"/>
              </a:spcBef>
            </a:pPr>
            <a:r>
              <a:rPr lang="en-US" sz="1700" b="1" dirty="0">
                <a:solidFill>
                  <a:srgbClr val="000000"/>
                </a:solidFill>
                <a:latin typeface="Montserrat Bold"/>
                <a:ea typeface="Montserrat Bold"/>
                <a:cs typeface="Montserrat Bold"/>
                <a:sym typeface="Montserrat Bold"/>
              </a:rPr>
              <a:t>Dados e </a:t>
            </a:r>
            <a:r>
              <a:rPr lang="en-US" sz="1700" b="1" dirty="0" err="1">
                <a:solidFill>
                  <a:srgbClr val="000000"/>
                </a:solidFill>
                <a:latin typeface="Montserrat Bold"/>
                <a:ea typeface="Montserrat Bold"/>
                <a:cs typeface="Montserrat Bold"/>
                <a:sym typeface="Montserrat Bold"/>
              </a:rPr>
              <a:t>limitações</a:t>
            </a:r>
            <a:endParaRPr lang="en-US" sz="1700" b="1" dirty="0">
              <a:solidFill>
                <a:srgbClr val="000000"/>
              </a:solidFill>
              <a:latin typeface="Montserrat Bold"/>
              <a:ea typeface="Montserrat Bold"/>
              <a:cs typeface="Montserrat Bold"/>
              <a:sym typeface="Montserrat Bold"/>
            </a:endParaRPr>
          </a:p>
          <a:p>
            <a:pPr algn="just">
              <a:lnSpc>
                <a:spcPts val="2380"/>
              </a:lnSpc>
              <a:spcBef>
                <a:spcPct val="0"/>
              </a:spcBef>
            </a:pPr>
            <a:r>
              <a:rPr lang="en-US" sz="1700" dirty="0">
                <a:solidFill>
                  <a:srgbClr val="000000"/>
                </a:solidFill>
                <a:latin typeface="Montserrat"/>
                <a:ea typeface="Montserrat"/>
                <a:cs typeface="Montserrat"/>
                <a:sym typeface="Montserrat"/>
              </a:rPr>
              <a:t>A base </a:t>
            </a:r>
            <a:r>
              <a:rPr lang="en-US" sz="1700" dirty="0" err="1">
                <a:solidFill>
                  <a:srgbClr val="000000"/>
                </a:solidFill>
                <a:latin typeface="Montserrat"/>
                <a:ea typeface="Montserrat"/>
                <a:cs typeface="Montserrat"/>
                <a:sym typeface="Montserrat"/>
              </a:rPr>
              <a:t>disponível</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nesta</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entrega</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não</a:t>
            </a:r>
            <a:r>
              <a:rPr lang="en-US" sz="1700" dirty="0">
                <a:solidFill>
                  <a:srgbClr val="000000"/>
                </a:solidFill>
                <a:latin typeface="Montserrat"/>
                <a:ea typeface="Montserrat"/>
                <a:cs typeface="Montserrat"/>
                <a:sym typeface="Montserrat"/>
              </a:rPr>
              <a:t> é </a:t>
            </a:r>
            <a:r>
              <a:rPr lang="en-US" sz="1700" dirty="0" err="1">
                <a:solidFill>
                  <a:srgbClr val="000000"/>
                </a:solidFill>
                <a:latin typeface="Montserrat"/>
                <a:ea typeface="Montserrat"/>
                <a:cs typeface="Montserrat"/>
                <a:sym typeface="Montserrat"/>
              </a:rPr>
              <a:t>rica</a:t>
            </a:r>
            <a:r>
              <a:rPr lang="en-US" sz="1700" dirty="0">
                <a:solidFill>
                  <a:srgbClr val="000000"/>
                </a:solidFill>
                <a:latin typeface="Montserrat"/>
                <a:ea typeface="Montserrat"/>
                <a:cs typeface="Montserrat"/>
                <a:sym typeface="Montserrat"/>
              </a:rPr>
              <a:t>/</a:t>
            </a:r>
            <a:r>
              <a:rPr lang="en-US" sz="1700" dirty="0" err="1">
                <a:solidFill>
                  <a:srgbClr val="000000"/>
                </a:solidFill>
                <a:latin typeface="Montserrat"/>
                <a:ea typeface="Montserrat"/>
                <a:cs typeface="Montserrat"/>
                <a:sym typeface="Montserrat"/>
              </a:rPr>
              <a:t>contínua</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os</a:t>
            </a:r>
            <a:r>
              <a:rPr lang="en-US" sz="1700" dirty="0">
                <a:solidFill>
                  <a:srgbClr val="000000"/>
                </a:solidFill>
                <a:latin typeface="Montserrat"/>
                <a:ea typeface="Montserrat"/>
                <a:cs typeface="Montserrat"/>
                <a:sym typeface="Montserrat"/>
              </a:rPr>
              <a:t> dados </a:t>
            </a:r>
            <a:r>
              <a:rPr lang="en-US" sz="1700" dirty="0" err="1">
                <a:solidFill>
                  <a:srgbClr val="000000"/>
                </a:solidFill>
                <a:latin typeface="Montserrat"/>
                <a:ea typeface="Montserrat"/>
                <a:cs typeface="Montserrat"/>
                <a:sym typeface="Montserrat"/>
              </a:rPr>
              <a:t>mostrados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concentram</a:t>
            </a:r>
            <a:r>
              <a:rPr lang="en-US" sz="1700" dirty="0">
                <a:solidFill>
                  <a:srgbClr val="000000"/>
                </a:solidFill>
                <a:latin typeface="Montserrat"/>
                <a:ea typeface="Montserrat"/>
                <a:cs typeface="Montserrat"/>
                <a:sym typeface="Montserrat"/>
              </a:rPr>
              <a:t>-se </a:t>
            </a:r>
            <a:r>
              <a:rPr lang="en-US" sz="1700" dirty="0" err="1">
                <a:solidFill>
                  <a:srgbClr val="000000"/>
                </a:solidFill>
                <a:latin typeface="Montserrat"/>
                <a:ea typeface="Montserrat"/>
                <a:cs typeface="Montserrat"/>
                <a:sym typeface="Montserrat"/>
              </a:rPr>
              <a:t>praticamente</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em</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jan</a:t>
            </a:r>
            <a:r>
              <a:rPr lang="en-US" sz="1700" dirty="0">
                <a:solidFill>
                  <a:srgbClr val="000000"/>
                </a:solidFill>
                <a:latin typeface="Montserrat"/>
                <a:ea typeface="Montserrat"/>
                <a:cs typeface="Montserrat"/>
                <a:sym typeface="Montserrat"/>
              </a:rPr>
              <a:t>/2024 e </a:t>
            </a:r>
            <a:r>
              <a:rPr lang="en-US" sz="1700" dirty="0" err="1">
                <a:solidFill>
                  <a:srgbClr val="000000"/>
                </a:solidFill>
                <a:latin typeface="Montserrat"/>
                <a:ea typeface="Montserrat"/>
                <a:cs typeface="Montserrat"/>
                <a:sym typeface="Montserrat"/>
              </a:rPr>
              <a:t>mai</a:t>
            </a:r>
            <a:r>
              <a:rPr lang="en-US" sz="1700" dirty="0">
                <a:solidFill>
                  <a:srgbClr val="000000"/>
                </a:solidFill>
                <a:latin typeface="Montserrat"/>
                <a:ea typeface="Montserrat"/>
                <a:cs typeface="Montserrat"/>
                <a:sym typeface="Montserrat"/>
              </a:rPr>
              <a:t>/2025, </a:t>
            </a:r>
            <a:r>
              <a:rPr lang="en-US" sz="1700" dirty="0" err="1">
                <a:solidFill>
                  <a:srgbClr val="000000"/>
                </a:solidFill>
                <a:latin typeface="Montserrat"/>
                <a:ea typeface="Montserrat"/>
                <a:cs typeface="Montserrat"/>
                <a:sym typeface="Montserrat"/>
              </a:rPr>
              <a:t>apenas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dois</a:t>
            </a:r>
            <a:r>
              <a:rPr lang="en-US" sz="1700" dirty="0">
                <a:solidFill>
                  <a:srgbClr val="000000"/>
                </a:solidFill>
                <a:latin typeface="Montserrat"/>
                <a:ea typeface="Montserrat"/>
                <a:cs typeface="Montserrat"/>
                <a:sym typeface="Montserrat"/>
              </a:rPr>
              <a:t> meses, com </a:t>
            </a:r>
            <a:r>
              <a:rPr lang="en-US" sz="1700" dirty="0" err="1">
                <a:solidFill>
                  <a:srgbClr val="000000"/>
                </a:solidFill>
                <a:latin typeface="Montserrat"/>
                <a:ea typeface="Montserrat"/>
                <a:cs typeface="Montserrat"/>
                <a:sym typeface="Montserrat"/>
              </a:rPr>
              <a:t>salto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expressivo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na</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receita</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em</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maio</a:t>
            </a:r>
            <a:r>
              <a:rPr lang="en-US" sz="1700" dirty="0">
                <a:solidFill>
                  <a:srgbClr val="000000"/>
                </a:solidFill>
                <a:latin typeface="Montserrat"/>
                <a:ea typeface="Montserrat"/>
                <a:cs typeface="Montserrat"/>
                <a:sym typeface="Montserrat"/>
              </a:rPr>
              <a:t>/2025 (≈ R$ 3,06 bi). </a:t>
            </a:r>
            <a:r>
              <a:rPr lang="en-US" sz="1700" dirty="0" err="1">
                <a:solidFill>
                  <a:srgbClr val="000000"/>
                </a:solidFill>
                <a:latin typeface="Montserrat"/>
                <a:ea typeface="Montserrat"/>
                <a:cs typeface="Montserrat"/>
                <a:sym typeface="Montserrat"/>
              </a:rPr>
              <a:t>Isso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restringe</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robustez</a:t>
            </a:r>
            <a:r>
              <a:rPr lang="en-US" sz="1700" dirty="0">
                <a:solidFill>
                  <a:srgbClr val="000000"/>
                </a:solidFill>
                <a:latin typeface="Montserrat"/>
                <a:ea typeface="Montserrat"/>
                <a:cs typeface="Montserrat"/>
                <a:sym typeface="Montserrat"/>
              </a:rPr>
              <a:t> de </a:t>
            </a:r>
            <a:r>
              <a:rPr lang="en-US" sz="1700" dirty="0" err="1">
                <a:solidFill>
                  <a:srgbClr val="000000"/>
                </a:solidFill>
                <a:latin typeface="Montserrat"/>
                <a:ea typeface="Montserrat"/>
                <a:cs typeface="Montserrat"/>
                <a:sym typeface="Montserrat"/>
              </a:rPr>
              <a:t>tendências</a:t>
            </a:r>
            <a:r>
              <a:rPr lang="en-US" sz="1700" dirty="0">
                <a:solidFill>
                  <a:srgbClr val="000000"/>
                </a:solidFill>
                <a:latin typeface="Montserrat"/>
                <a:ea typeface="Montserrat"/>
                <a:cs typeface="Montserrat"/>
                <a:sym typeface="Montserrat"/>
              </a:rPr>
              <a:t>/</a:t>
            </a:r>
            <a:r>
              <a:rPr lang="en-US" sz="1700" dirty="0" err="1">
                <a:solidFill>
                  <a:srgbClr val="000000"/>
                </a:solidFill>
                <a:latin typeface="Montserrat"/>
                <a:ea typeface="Montserrat"/>
                <a:cs typeface="Montserrat"/>
                <a:sym typeface="Montserrat"/>
              </a:rPr>
              <a:t>diagnósticos</a:t>
            </a:r>
            <a:r>
              <a:rPr lang="en-US" sz="1700" dirty="0">
                <a:solidFill>
                  <a:srgbClr val="000000"/>
                </a:solidFill>
                <a:latin typeface="Montserrat"/>
                <a:ea typeface="Montserrat"/>
                <a:cs typeface="Montserrat"/>
                <a:sym typeface="Montserrat"/>
              </a:rPr>
              <a:t>.</a:t>
            </a:r>
          </a:p>
          <a:p>
            <a:pPr algn="l">
              <a:lnSpc>
                <a:spcPts val="2380"/>
              </a:lnSpc>
              <a:spcBef>
                <a:spcPct val="0"/>
              </a:spcBef>
            </a:pPr>
            <a:endParaRPr lang="en-US" sz="1700" dirty="0">
              <a:solidFill>
                <a:srgbClr val="000000"/>
              </a:solidFill>
              <a:latin typeface="Montserrat"/>
              <a:ea typeface="Montserrat"/>
              <a:cs typeface="Montserrat"/>
              <a:sym typeface="Montserrat"/>
            </a:endParaRPr>
          </a:p>
          <a:p>
            <a:pPr algn="l">
              <a:lnSpc>
                <a:spcPts val="2380"/>
              </a:lnSpc>
              <a:spcBef>
                <a:spcPct val="0"/>
              </a:spcBef>
            </a:pPr>
            <a:endParaRPr lang="en-US" sz="1700" dirty="0">
              <a:solidFill>
                <a:srgbClr val="000000"/>
              </a:solidFill>
              <a:latin typeface="Montserrat"/>
              <a:ea typeface="Montserrat"/>
              <a:cs typeface="Montserrat"/>
              <a:sym typeface="Montserrat"/>
            </a:endParaRPr>
          </a:p>
          <a:p>
            <a:pPr algn="just">
              <a:lnSpc>
                <a:spcPts val="2380"/>
              </a:lnSpc>
              <a:spcBef>
                <a:spcPct val="0"/>
              </a:spcBef>
            </a:pPr>
            <a:r>
              <a:rPr lang="en-US" sz="1700" b="1" dirty="0" err="1">
                <a:solidFill>
                  <a:srgbClr val="000000"/>
                </a:solidFill>
                <a:latin typeface="Montserrat Bold"/>
                <a:ea typeface="Montserrat Bold"/>
                <a:cs typeface="Montserrat Bold"/>
                <a:sym typeface="Montserrat Bold"/>
              </a:rPr>
              <a:t>Implicação</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séries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curtas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comprometem</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modelos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preditivos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horizontes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longos</a:t>
            </a:r>
            <a:r>
              <a:rPr lang="en-US" sz="1700" dirty="0">
                <a:solidFill>
                  <a:srgbClr val="000000"/>
                </a:solidFill>
                <a:latin typeface="Montserrat"/>
                <a:ea typeface="Montserrat"/>
                <a:cs typeface="Montserrat"/>
                <a:sym typeface="Montserrat"/>
              </a:rPr>
              <a:t> e </a:t>
            </a:r>
            <a:r>
              <a:rPr lang="en-US" sz="1700" dirty="0" err="1">
                <a:solidFill>
                  <a:srgbClr val="000000"/>
                </a:solidFill>
                <a:latin typeface="Montserrat"/>
                <a:ea typeface="Montserrat"/>
                <a:cs typeface="Montserrat"/>
                <a:sym typeface="Montserrat"/>
              </a:rPr>
              <a:t>bandas</a:t>
            </a:r>
            <a:r>
              <a:rPr lang="en-US" sz="1700" dirty="0">
                <a:solidFill>
                  <a:srgbClr val="000000"/>
                </a:solidFill>
                <a:latin typeface="Montserrat"/>
                <a:ea typeface="Montserrat"/>
                <a:cs typeface="Montserrat"/>
                <a:sym typeface="Montserrat"/>
              </a:rPr>
              <a:t> de </a:t>
            </a:r>
            <a:r>
              <a:rPr lang="en-US" sz="1700" dirty="0" err="1">
                <a:solidFill>
                  <a:srgbClr val="000000"/>
                </a:solidFill>
                <a:latin typeface="Montserrat"/>
                <a:ea typeface="Montserrat"/>
                <a:cs typeface="Montserrat"/>
                <a:sym typeface="Montserrat"/>
              </a:rPr>
              <a:t>confiança</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ficam</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artificiais</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Recomenda</a:t>
            </a:r>
            <a:r>
              <a:rPr lang="en-US" sz="1700" dirty="0">
                <a:solidFill>
                  <a:srgbClr val="000000"/>
                </a:solidFill>
                <a:latin typeface="Montserrat"/>
                <a:ea typeface="Montserrat"/>
                <a:cs typeface="Montserrat"/>
                <a:sym typeface="Montserrat"/>
              </a:rPr>
              <a:t>-se </a:t>
            </a:r>
            <a:r>
              <a:rPr lang="en-US" sz="1700" dirty="0" err="1">
                <a:solidFill>
                  <a:srgbClr val="000000"/>
                </a:solidFill>
                <a:latin typeface="Montserrat"/>
                <a:ea typeface="Montserrat"/>
                <a:cs typeface="Montserrat"/>
                <a:sym typeface="Montserrat"/>
              </a:rPr>
              <a:t>ampliar</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amostragem</a:t>
            </a:r>
            <a:r>
              <a:rPr lang="en-US" sz="1700" dirty="0">
                <a:solidFill>
                  <a:srgbClr val="000000"/>
                </a:solidFill>
                <a:latin typeface="Montserrat"/>
                <a:ea typeface="Montserrat"/>
                <a:cs typeface="Montserrat"/>
                <a:sym typeface="Montserrat"/>
              </a:rPr>
              <a:t> temporal e </a:t>
            </a:r>
            <a:r>
              <a:rPr lang="en-US" sz="1700" dirty="0" err="1">
                <a:solidFill>
                  <a:srgbClr val="000000"/>
                </a:solidFill>
                <a:latin typeface="Montserrat"/>
                <a:ea typeface="Montserrat"/>
                <a:cs typeface="Montserrat"/>
                <a:sym typeface="Montserrat"/>
              </a:rPr>
              <a:t>cobertura</a:t>
            </a:r>
            <a:r>
              <a:rPr lang="en-US" sz="1700" dirty="0">
                <a:solidFill>
                  <a:srgbClr val="000000"/>
                </a:solidFill>
                <a:latin typeface="Montserrat"/>
                <a:ea typeface="Montserrat"/>
                <a:cs typeface="Montserrat"/>
                <a:sym typeface="Montserrat"/>
              </a:rPr>
              <a:t> de UFs/CFOPs/</a:t>
            </a:r>
            <a:r>
              <a:rPr lang="en-US" sz="1700" dirty="0" err="1">
                <a:solidFill>
                  <a:srgbClr val="000000"/>
                </a:solidFill>
                <a:latin typeface="Montserrat"/>
                <a:ea typeface="Montserrat"/>
                <a:cs typeface="Montserrat"/>
                <a:sym typeface="Montserrat"/>
              </a:rPr>
              <a:t>itens</a:t>
            </a:r>
            <a:r>
              <a:rPr lang="en-US" sz="1700" dirty="0">
                <a:solidFill>
                  <a:srgbClr val="000000"/>
                </a:solidFill>
                <a:latin typeface="Montserrat"/>
                <a:ea typeface="Montserrat"/>
                <a:cs typeface="Montserrat"/>
                <a:sym typeface="Montserrat"/>
              </a:rPr>
              <a:t>. Com </a:t>
            </a:r>
            <a:r>
              <a:rPr lang="en-US" sz="1700" dirty="0" err="1">
                <a:solidFill>
                  <a:srgbClr val="000000"/>
                </a:solidFill>
                <a:latin typeface="Montserrat"/>
                <a:ea typeface="Montserrat"/>
                <a:cs typeface="Montserrat"/>
                <a:sym typeface="Montserrat"/>
              </a:rPr>
              <a:t>está</a:t>
            </a:r>
            <a:r>
              <a:rPr lang="en-US" sz="1700" dirty="0">
                <a:solidFill>
                  <a:srgbClr val="000000"/>
                </a:solidFill>
                <a:latin typeface="Montserrat"/>
                <a:ea typeface="Montserrat"/>
                <a:cs typeface="Montserrat"/>
                <a:sym typeface="Montserrat"/>
              </a:rPr>
              <a:t> base, é </a:t>
            </a:r>
            <a:r>
              <a:rPr lang="en-US" sz="1700" dirty="0" err="1">
                <a:solidFill>
                  <a:srgbClr val="000000"/>
                </a:solidFill>
                <a:latin typeface="Montserrat"/>
                <a:ea typeface="Montserrat"/>
                <a:cs typeface="Montserrat"/>
                <a:sym typeface="Montserrat"/>
              </a:rPr>
              <a:t>recomendável</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testar</a:t>
            </a:r>
            <a:r>
              <a:rPr lang="en-US" sz="1700" dirty="0">
                <a:solidFill>
                  <a:srgbClr val="000000"/>
                </a:solidFill>
                <a:latin typeface="Montserrat"/>
                <a:ea typeface="Montserrat"/>
                <a:cs typeface="Montserrat"/>
                <a:sym typeface="Montserrat"/>
              </a:rPr>
              <a:t> a </a:t>
            </a:r>
            <a:r>
              <a:rPr lang="en-US" sz="1700" dirty="0" err="1">
                <a:solidFill>
                  <a:srgbClr val="000000"/>
                </a:solidFill>
                <a:latin typeface="Montserrat"/>
                <a:ea typeface="Montserrat"/>
                <a:cs typeface="Montserrat"/>
                <a:sym typeface="Montserrat"/>
              </a:rPr>
              <a:t>granularidade</a:t>
            </a:r>
            <a:r>
              <a:rPr lang="en-US" sz="1700" dirty="0">
                <a:solidFill>
                  <a:srgbClr val="000000"/>
                </a:solidFill>
                <a:latin typeface="Montserrat"/>
                <a:ea typeface="Montserrat"/>
                <a:cs typeface="Montserrat"/>
                <a:sym typeface="Montserrat"/>
              </a:rPr>
              <a:t> </a:t>
            </a:r>
            <a:r>
              <a:rPr lang="en-US" sz="1700" dirty="0" err="1">
                <a:solidFill>
                  <a:srgbClr val="000000"/>
                </a:solidFill>
                <a:latin typeface="Montserrat"/>
                <a:ea typeface="Montserrat"/>
                <a:cs typeface="Montserrat"/>
                <a:sym typeface="Montserrat"/>
              </a:rPr>
              <a:t>diária</a:t>
            </a:r>
            <a:r>
              <a:rPr lang="en-US" sz="1700" dirty="0">
                <a:solidFill>
                  <a:srgbClr val="000000"/>
                </a:solidFill>
                <a:latin typeface="Montserrat"/>
                <a:ea typeface="Montserrat"/>
                <a:cs typeface="Montserrat"/>
                <a:sym typeface="Montserrat"/>
              </a:rPr>
              <a:t> do </a:t>
            </a:r>
            <a:r>
              <a:rPr lang="en-US" sz="1700" dirty="0" err="1">
                <a:solidFill>
                  <a:srgbClr val="000000"/>
                </a:solidFill>
                <a:latin typeface="Montserrat"/>
                <a:ea typeface="Montserrat"/>
                <a:cs typeface="Montserrat"/>
                <a:sym typeface="Montserrat"/>
              </a:rPr>
              <a:t>mês</a:t>
            </a:r>
            <a:r>
              <a:rPr lang="en-US" sz="1700" dirty="0">
                <a:solidFill>
                  <a:srgbClr val="000000"/>
                </a:solidFill>
                <a:latin typeface="Montserrat"/>
                <a:ea typeface="Montserrat"/>
                <a:cs typeface="Montserrat"/>
                <a:sym typeface="Montserrat"/>
              </a:rPr>
              <a:t> de </a:t>
            </a:r>
            <a:r>
              <a:rPr lang="en-US" sz="1700" dirty="0" err="1">
                <a:solidFill>
                  <a:srgbClr val="000000"/>
                </a:solidFill>
                <a:latin typeface="Montserrat"/>
                <a:ea typeface="Montserrat"/>
                <a:cs typeface="Montserrat"/>
                <a:sym typeface="Montserrat"/>
              </a:rPr>
              <a:t>maio</a:t>
            </a:r>
            <a:r>
              <a:rPr lang="en-US" sz="1700" dirty="0">
                <a:solidFill>
                  <a:srgbClr val="000000"/>
                </a:solidFill>
                <a:latin typeface="Montserrat"/>
                <a:ea typeface="Montserrat"/>
                <a:cs typeface="Montserrat"/>
                <a:sym typeface="Montserrat"/>
              </a:rPr>
              <a:t> de 2025.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78442" y="-163675"/>
            <a:ext cx="15841946" cy="10709601"/>
            <a:chOff x="0" y="0"/>
            <a:chExt cx="4172364" cy="2820636"/>
          </a:xfrm>
        </p:grpSpPr>
        <p:sp>
          <p:nvSpPr>
            <p:cNvPr id="3" name="Freeform 3"/>
            <p:cNvSpPr/>
            <p:nvPr/>
          </p:nvSpPr>
          <p:spPr>
            <a:xfrm>
              <a:off x="0" y="0"/>
              <a:ext cx="4172364" cy="2820636"/>
            </a:xfrm>
            <a:custGeom>
              <a:avLst/>
              <a:gdLst/>
              <a:ahLst/>
              <a:cxnLst/>
              <a:rect l="l" t="t" r="r" b="b"/>
              <a:pathLst>
                <a:path w="4172364" h="2820636">
                  <a:moveTo>
                    <a:pt x="0" y="0"/>
                  </a:moveTo>
                  <a:lnTo>
                    <a:pt x="4172364" y="0"/>
                  </a:lnTo>
                  <a:lnTo>
                    <a:pt x="4172364" y="2820636"/>
                  </a:lnTo>
                  <a:lnTo>
                    <a:pt x="0" y="2820636"/>
                  </a:lnTo>
                  <a:close/>
                </a:path>
              </a:pathLst>
            </a:custGeom>
            <a:solidFill>
              <a:srgbClr val="FFCD46"/>
            </a:solidFill>
          </p:spPr>
          <p:txBody>
            <a:bodyPr/>
            <a:lstStyle/>
            <a:p>
              <a:endParaRPr lang="pt-BR"/>
            </a:p>
          </p:txBody>
        </p:sp>
        <p:sp>
          <p:nvSpPr>
            <p:cNvPr id="4" name="TextBox 4"/>
            <p:cNvSpPr txBox="1"/>
            <p:nvPr/>
          </p:nvSpPr>
          <p:spPr>
            <a:xfrm>
              <a:off x="0" y="-47625"/>
              <a:ext cx="4172364" cy="2868261"/>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5181125" y="-5745784"/>
            <a:ext cx="9354617" cy="93546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D2B4"/>
            </a:solidFill>
          </p:spPr>
          <p:txBody>
            <a:bodyPr/>
            <a:lstStyle/>
            <a:p>
              <a:endParaRPr lang="pt-BR"/>
            </a:p>
          </p:txBody>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6380"/>
                </a:lnSpc>
              </a:pPr>
              <a:endParaRPr/>
            </a:p>
          </p:txBody>
        </p:sp>
      </p:grpSp>
      <p:sp>
        <p:nvSpPr>
          <p:cNvPr id="8" name="Freeform 8"/>
          <p:cNvSpPr/>
          <p:nvPr/>
        </p:nvSpPr>
        <p:spPr>
          <a:xfrm>
            <a:off x="5678442" y="-163675"/>
            <a:ext cx="15130042" cy="13093958"/>
          </a:xfrm>
          <a:custGeom>
            <a:avLst/>
            <a:gdLst/>
            <a:ahLst/>
            <a:cxnLst/>
            <a:rect l="l" t="t" r="r" b="b"/>
            <a:pathLst>
              <a:path w="15130042" h="13093958">
                <a:moveTo>
                  <a:pt x="0" y="0"/>
                </a:moveTo>
                <a:lnTo>
                  <a:pt x="15130043" y="0"/>
                </a:lnTo>
                <a:lnTo>
                  <a:pt x="15130043" y="13093958"/>
                </a:lnTo>
                <a:lnTo>
                  <a:pt x="0" y="13093958"/>
                </a:lnTo>
                <a:lnTo>
                  <a:pt x="0" y="0"/>
                </a:lnTo>
                <a:close/>
              </a:path>
            </a:pathLst>
          </a:custGeom>
          <a:blipFill>
            <a:blip r:embed="rId2">
              <a:alphaModFix amt="43999"/>
            </a:blip>
            <a:stretch>
              <a:fillRect l="-5357" t="-16189" r="-1664" b="-7473"/>
            </a:stretch>
          </a:blipFill>
        </p:spPr>
        <p:txBody>
          <a:bodyPr/>
          <a:lstStyle/>
          <a:p>
            <a:endParaRPr lang="pt-BR"/>
          </a:p>
        </p:txBody>
      </p:sp>
      <p:sp>
        <p:nvSpPr>
          <p:cNvPr id="9" name="TextBox 9"/>
          <p:cNvSpPr txBox="1"/>
          <p:nvPr/>
        </p:nvSpPr>
        <p:spPr>
          <a:xfrm>
            <a:off x="763293" y="4079408"/>
            <a:ext cx="5214239" cy="778372"/>
          </a:xfrm>
          <a:prstGeom prst="rect">
            <a:avLst/>
          </a:prstGeom>
        </p:spPr>
        <p:txBody>
          <a:bodyPr lIns="0" tIns="0" rIns="0" bIns="0" rtlCol="0" anchor="t">
            <a:spAutoFit/>
          </a:bodyPr>
          <a:lstStyle/>
          <a:p>
            <a:pPr algn="l">
              <a:lnSpc>
                <a:spcPts val="6447"/>
              </a:lnSpc>
            </a:pPr>
            <a:r>
              <a:rPr lang="en-US" sz="4605">
                <a:solidFill>
                  <a:srgbClr val="000000"/>
                </a:solidFill>
                <a:latin typeface="League Spartan"/>
                <a:ea typeface="League Spartan"/>
                <a:cs typeface="League Spartan"/>
                <a:sym typeface="League Spartan"/>
              </a:rPr>
              <a:t>Conclusão</a:t>
            </a:r>
          </a:p>
        </p:txBody>
      </p:sp>
      <p:sp>
        <p:nvSpPr>
          <p:cNvPr id="10" name="TextBox 10"/>
          <p:cNvSpPr txBox="1"/>
          <p:nvPr/>
        </p:nvSpPr>
        <p:spPr>
          <a:xfrm>
            <a:off x="8298464" y="2545110"/>
            <a:ext cx="6493099" cy="5635261"/>
          </a:xfrm>
          <a:prstGeom prst="rect">
            <a:avLst/>
          </a:prstGeom>
        </p:spPr>
        <p:txBody>
          <a:bodyPr lIns="0" tIns="0" rIns="0" bIns="0" rtlCol="0" anchor="t">
            <a:spAutoFit/>
          </a:bodyPr>
          <a:lstStyle/>
          <a:p>
            <a:pPr algn="l">
              <a:lnSpc>
                <a:spcPts val="3359"/>
              </a:lnSpc>
              <a:spcBef>
                <a:spcPct val="0"/>
              </a:spcBef>
            </a:pPr>
            <a:endParaRPr dirty="0"/>
          </a:p>
          <a:p>
            <a:pPr algn="just">
              <a:lnSpc>
                <a:spcPts val="3359"/>
              </a:lnSpc>
              <a:spcBef>
                <a:spcPct val="0"/>
              </a:spcBef>
            </a:pPr>
            <a:r>
              <a:rPr lang="en-US" sz="2400" dirty="0">
                <a:solidFill>
                  <a:srgbClr val="000000"/>
                </a:solidFill>
                <a:latin typeface="Montserrat"/>
                <a:ea typeface="Montserrat"/>
                <a:cs typeface="Montserrat"/>
                <a:sym typeface="Montserrat"/>
              </a:rPr>
              <a:t>O </a:t>
            </a:r>
            <a:r>
              <a:rPr lang="en-US" sz="2400" b="1" dirty="0">
                <a:solidFill>
                  <a:srgbClr val="000000"/>
                </a:solidFill>
                <a:latin typeface="Montserrat"/>
                <a:ea typeface="Montserrat"/>
                <a:cs typeface="Montserrat"/>
                <a:sym typeface="Montserrat"/>
              </a:rPr>
              <a:t>GAIA – </a:t>
            </a:r>
            <a:r>
              <a:rPr lang="en-US" sz="2400" b="1" dirty="0" err="1">
                <a:solidFill>
                  <a:srgbClr val="000000"/>
                </a:solidFill>
                <a:latin typeface="Montserrat"/>
                <a:ea typeface="Montserrat"/>
                <a:cs typeface="Montserrat"/>
                <a:sym typeface="Montserrat"/>
              </a:rPr>
              <a:t>Agentes</a:t>
            </a:r>
            <a:r>
              <a:rPr lang="en-US" sz="2400" b="1" dirty="0">
                <a:solidFill>
                  <a:srgbClr val="000000"/>
                </a:solidFill>
                <a:latin typeface="Montserrat"/>
                <a:ea typeface="Montserrat"/>
                <a:cs typeface="Montserrat"/>
                <a:sym typeface="Montserrat"/>
              </a:rPr>
              <a:t> EDA</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cumpre</a:t>
            </a:r>
            <a:r>
              <a:rPr lang="en-US" sz="2400" dirty="0">
                <a:solidFill>
                  <a:srgbClr val="000000"/>
                </a:solidFill>
                <a:latin typeface="Montserrat"/>
                <a:ea typeface="Montserrat"/>
                <a:cs typeface="Montserrat"/>
                <a:sym typeface="Montserrat"/>
              </a:rPr>
              <a:t> o </a:t>
            </a:r>
            <a:r>
              <a:rPr lang="en-US" sz="2400" dirty="0" err="1">
                <a:solidFill>
                  <a:srgbClr val="000000"/>
                </a:solidFill>
                <a:latin typeface="Montserrat"/>
                <a:ea typeface="Montserrat"/>
                <a:cs typeface="Montserrat"/>
                <a:sym typeface="Montserrat"/>
              </a:rPr>
              <a:t>papel</a:t>
            </a:r>
            <a:r>
              <a:rPr lang="en-US" sz="2400" dirty="0">
                <a:solidFill>
                  <a:srgbClr val="000000"/>
                </a:solidFill>
                <a:latin typeface="Montserrat"/>
                <a:ea typeface="Montserrat"/>
                <a:cs typeface="Montserrat"/>
                <a:sym typeface="Montserrat"/>
              </a:rPr>
              <a:t> de </a:t>
            </a:r>
            <a:r>
              <a:rPr lang="en-US" sz="2400" dirty="0" err="1">
                <a:solidFill>
                  <a:srgbClr val="000000"/>
                </a:solidFill>
                <a:latin typeface="Montserrat"/>
                <a:ea typeface="Montserrat"/>
                <a:cs typeface="Montserrat"/>
                <a:sym typeface="Montserrat"/>
              </a:rPr>
              <a:t>assistente</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analítico</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agrega</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métricas-chave</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apresenta</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gráficos</a:t>
            </a:r>
            <a:r>
              <a:rPr lang="en-US" sz="2400" dirty="0">
                <a:solidFill>
                  <a:srgbClr val="000000"/>
                </a:solidFill>
                <a:latin typeface="Montserrat"/>
                <a:ea typeface="Montserrat"/>
                <a:cs typeface="Montserrat"/>
                <a:sym typeface="Montserrat"/>
              </a:rPr>
              <a:t> de </a:t>
            </a:r>
            <a:r>
              <a:rPr lang="en-US" sz="2400" dirty="0" err="1">
                <a:solidFill>
                  <a:srgbClr val="000000"/>
                </a:solidFill>
                <a:latin typeface="Montserrat"/>
                <a:ea typeface="Montserrat"/>
                <a:cs typeface="Montserrat"/>
                <a:sym typeface="Montserrat"/>
              </a:rPr>
              <a:t>séries</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temporais</a:t>
            </a:r>
            <a:r>
              <a:rPr lang="en-US" sz="2400" dirty="0">
                <a:solidFill>
                  <a:srgbClr val="000000"/>
                </a:solidFill>
                <a:latin typeface="Montserrat"/>
                <a:ea typeface="Montserrat"/>
                <a:cs typeface="Montserrat"/>
                <a:sym typeface="Montserrat"/>
              </a:rPr>
              <a:t> com </a:t>
            </a:r>
            <a:r>
              <a:rPr lang="en-US" sz="2400" dirty="0" err="1">
                <a:solidFill>
                  <a:srgbClr val="000000"/>
                </a:solidFill>
                <a:latin typeface="Montserrat"/>
                <a:ea typeface="Montserrat"/>
                <a:cs typeface="Montserrat"/>
                <a:sym typeface="Montserrat"/>
              </a:rPr>
              <a:t>tendências</a:t>
            </a:r>
            <a:r>
              <a:rPr lang="en-US" sz="2400" dirty="0">
                <a:solidFill>
                  <a:srgbClr val="000000"/>
                </a:solidFill>
                <a:latin typeface="Montserrat"/>
                <a:ea typeface="Montserrat"/>
                <a:cs typeface="Montserrat"/>
                <a:sym typeface="Montserrat"/>
              </a:rPr>
              <a:t> e </a:t>
            </a:r>
            <a:r>
              <a:rPr lang="en-US" sz="2400" dirty="0" err="1">
                <a:solidFill>
                  <a:srgbClr val="000000"/>
                </a:solidFill>
                <a:latin typeface="Montserrat"/>
                <a:ea typeface="Montserrat"/>
                <a:cs typeface="Montserrat"/>
                <a:sym typeface="Montserrat"/>
              </a:rPr>
              <a:t>segmentações</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por</a:t>
            </a:r>
            <a:r>
              <a:rPr lang="en-US" sz="2400" dirty="0">
                <a:solidFill>
                  <a:srgbClr val="000000"/>
                </a:solidFill>
                <a:latin typeface="Montserrat"/>
                <a:ea typeface="Montserrat"/>
                <a:cs typeface="Montserrat"/>
                <a:sym typeface="Montserrat"/>
              </a:rPr>
              <a:t> UF/tempo/</a:t>
            </a:r>
            <a:r>
              <a:rPr lang="en-US" sz="2400" dirty="0" err="1">
                <a:solidFill>
                  <a:srgbClr val="000000"/>
                </a:solidFill>
                <a:latin typeface="Montserrat"/>
                <a:ea typeface="Montserrat"/>
                <a:cs typeface="Montserrat"/>
                <a:sym typeface="Montserrat"/>
              </a:rPr>
              <a:t>entidades</a:t>
            </a:r>
            <a:r>
              <a:rPr lang="en-US" sz="2400" dirty="0">
                <a:solidFill>
                  <a:srgbClr val="000000"/>
                </a:solidFill>
                <a:latin typeface="Montserrat"/>
                <a:ea typeface="Montserrat"/>
                <a:cs typeface="Montserrat"/>
                <a:sym typeface="Montserrat"/>
              </a:rPr>
              <a:t> e </a:t>
            </a:r>
            <a:r>
              <a:rPr lang="en-US" sz="2400" dirty="0" err="1">
                <a:solidFill>
                  <a:srgbClr val="000000"/>
                </a:solidFill>
                <a:latin typeface="Montserrat"/>
                <a:ea typeface="Montserrat"/>
                <a:cs typeface="Montserrat"/>
                <a:sym typeface="Montserrat"/>
              </a:rPr>
              <a:t>prepara</a:t>
            </a:r>
            <a:r>
              <a:rPr lang="en-US" sz="2400" dirty="0">
                <a:solidFill>
                  <a:srgbClr val="000000"/>
                </a:solidFill>
                <a:latin typeface="Montserrat"/>
                <a:ea typeface="Montserrat"/>
                <a:cs typeface="Montserrat"/>
                <a:sym typeface="Montserrat"/>
              </a:rPr>
              <a:t> o </a:t>
            </a:r>
            <a:r>
              <a:rPr lang="en-US" sz="2400" dirty="0" err="1">
                <a:solidFill>
                  <a:srgbClr val="000000"/>
                </a:solidFill>
                <a:latin typeface="Montserrat"/>
                <a:ea typeface="Montserrat"/>
                <a:cs typeface="Montserrat"/>
                <a:sym typeface="Montserrat"/>
              </a:rPr>
              <a:t>terreno</a:t>
            </a:r>
            <a:r>
              <a:rPr lang="en-US" sz="2400" dirty="0">
                <a:solidFill>
                  <a:srgbClr val="000000"/>
                </a:solidFill>
                <a:latin typeface="Montserrat"/>
                <a:ea typeface="Montserrat"/>
                <a:cs typeface="Montserrat"/>
                <a:sym typeface="Montserrat"/>
              </a:rPr>
              <a:t> para </a:t>
            </a:r>
            <a:r>
              <a:rPr lang="en-US" sz="2400" dirty="0" err="1">
                <a:solidFill>
                  <a:srgbClr val="000000"/>
                </a:solidFill>
                <a:latin typeface="Montserrat"/>
                <a:ea typeface="Montserrat"/>
                <a:cs typeface="Montserrat"/>
                <a:sym typeface="Montserrat"/>
              </a:rPr>
              <a:t>previsões</a:t>
            </a:r>
            <a:r>
              <a:rPr lang="en-US" sz="2400" dirty="0">
                <a:solidFill>
                  <a:srgbClr val="000000"/>
                </a:solidFill>
                <a:latin typeface="Montserrat"/>
                <a:ea typeface="Montserrat"/>
                <a:cs typeface="Montserrat"/>
                <a:sym typeface="Montserrat"/>
              </a:rPr>
              <a:t> e insights </a:t>
            </a:r>
            <a:r>
              <a:rPr lang="en-US" sz="2400" dirty="0" err="1">
                <a:solidFill>
                  <a:srgbClr val="000000"/>
                </a:solidFill>
                <a:latin typeface="Montserrat"/>
                <a:ea typeface="Montserrat"/>
                <a:cs typeface="Montserrat"/>
                <a:sym typeface="Montserrat"/>
              </a:rPr>
              <a:t>gerados</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por</a:t>
            </a:r>
            <a:r>
              <a:rPr lang="en-US" sz="2400" dirty="0">
                <a:solidFill>
                  <a:srgbClr val="000000"/>
                </a:solidFill>
                <a:latin typeface="Montserrat"/>
                <a:ea typeface="Montserrat"/>
                <a:cs typeface="Montserrat"/>
                <a:sym typeface="Montserrat"/>
              </a:rPr>
              <a:t> LLM. </a:t>
            </a:r>
          </a:p>
          <a:p>
            <a:pPr algn="l">
              <a:lnSpc>
                <a:spcPts val="3359"/>
              </a:lnSpc>
              <a:spcBef>
                <a:spcPct val="0"/>
              </a:spcBef>
            </a:pPr>
            <a:endParaRPr lang="en-US" sz="2400" dirty="0">
              <a:solidFill>
                <a:srgbClr val="000000"/>
              </a:solidFill>
              <a:latin typeface="Montserrat"/>
              <a:ea typeface="Montserrat"/>
              <a:cs typeface="Montserrat"/>
              <a:sym typeface="Montserrat"/>
            </a:endParaRPr>
          </a:p>
          <a:p>
            <a:pPr algn="l">
              <a:lnSpc>
                <a:spcPts val="3359"/>
              </a:lnSpc>
              <a:spcBef>
                <a:spcPct val="0"/>
              </a:spcBef>
            </a:pPr>
            <a:r>
              <a:rPr lang="en-US" sz="2400" dirty="0" err="1">
                <a:solidFill>
                  <a:srgbClr val="000000"/>
                </a:solidFill>
                <a:latin typeface="Montserrat"/>
                <a:ea typeface="Montserrat"/>
                <a:cs typeface="Montserrat"/>
                <a:sym typeface="Montserrat"/>
              </a:rPr>
              <a:t>Portanto</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cumpre</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seu</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objetivo</a:t>
            </a:r>
            <a:r>
              <a:rPr lang="en-US" sz="2400" dirty="0">
                <a:solidFill>
                  <a:srgbClr val="000000"/>
                </a:solidFill>
                <a:latin typeface="Montserrat"/>
                <a:ea typeface="Montserrat"/>
                <a:cs typeface="Montserrat"/>
                <a:sym typeface="Montserrat"/>
              </a:rPr>
              <a:t> de auxiliar </a:t>
            </a:r>
            <a:r>
              <a:rPr lang="en-US" sz="2400" dirty="0" err="1">
                <a:solidFill>
                  <a:srgbClr val="000000"/>
                </a:solidFill>
                <a:latin typeface="Montserrat"/>
                <a:ea typeface="Montserrat"/>
                <a:cs typeface="Montserrat"/>
                <a:sym typeface="Montserrat"/>
              </a:rPr>
              <a:t>executivos</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em</a:t>
            </a:r>
            <a:r>
              <a:rPr lang="en-US" sz="2400" dirty="0">
                <a:solidFill>
                  <a:srgbClr val="000000"/>
                </a:solidFill>
                <a:latin typeface="Montserrat"/>
                <a:ea typeface="Montserrat"/>
                <a:cs typeface="Montserrat"/>
                <a:sym typeface="Montserrat"/>
              </a:rPr>
              <a:t> </a:t>
            </a:r>
            <a:r>
              <a:rPr lang="en-US" sz="2400" dirty="0" err="1">
                <a:solidFill>
                  <a:srgbClr val="000000"/>
                </a:solidFill>
                <a:latin typeface="Montserrat"/>
                <a:ea typeface="Montserrat"/>
                <a:cs typeface="Montserrat"/>
                <a:sym typeface="Montserrat"/>
              </a:rPr>
              <a:t>tomadas</a:t>
            </a:r>
            <a:r>
              <a:rPr lang="en-US" sz="2400" dirty="0">
                <a:solidFill>
                  <a:srgbClr val="000000"/>
                </a:solidFill>
                <a:latin typeface="Montserrat"/>
                <a:ea typeface="Montserrat"/>
                <a:cs typeface="Montserrat"/>
                <a:sym typeface="Montserrat"/>
              </a:rPr>
              <a:t> de </a:t>
            </a:r>
            <a:r>
              <a:rPr lang="en-US" sz="2400" dirty="0" err="1">
                <a:solidFill>
                  <a:srgbClr val="000000"/>
                </a:solidFill>
                <a:latin typeface="Montserrat"/>
                <a:ea typeface="Montserrat"/>
                <a:cs typeface="Montserrat"/>
                <a:sym typeface="Montserrat"/>
              </a:rPr>
              <a:t>decisão</a:t>
            </a:r>
            <a:r>
              <a:rPr lang="en-US" sz="2400" dirty="0">
                <a:solidFill>
                  <a:srgbClr val="000000"/>
                </a:solidFill>
                <a:latin typeface="Montserrat"/>
                <a:ea typeface="Montserrat"/>
                <a:cs typeface="Montserrat"/>
                <a:sym typeface="Montserrat"/>
              </a:rPr>
              <a:t>.</a:t>
            </a:r>
          </a:p>
          <a:p>
            <a:pPr algn="l">
              <a:lnSpc>
                <a:spcPts val="3359"/>
              </a:lnSpc>
              <a:spcBef>
                <a:spcPct val="0"/>
              </a:spcBef>
            </a:pPr>
            <a:endParaRPr lang="en-US" sz="2400" dirty="0">
              <a:solidFill>
                <a:srgbClr val="000000"/>
              </a:solidFill>
              <a:latin typeface="Montserrat"/>
              <a:ea typeface="Montserrat"/>
              <a:cs typeface="Montserrat"/>
              <a:sym typeface="Montserrat"/>
            </a:endParaRPr>
          </a:p>
          <a:p>
            <a:pPr algn="l">
              <a:lnSpc>
                <a:spcPts val="3359"/>
              </a:lnSpc>
              <a:spcBef>
                <a:spcPct val="0"/>
              </a:spcBef>
            </a:pPr>
            <a:endParaRPr lang="en-US" sz="2400" dirty="0">
              <a:solidFill>
                <a:srgbClr val="000000"/>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1637" y="9670966"/>
            <a:ext cx="19210236" cy="2133178"/>
            <a:chOff x="0" y="0"/>
            <a:chExt cx="4944459" cy="549051"/>
          </a:xfrm>
        </p:grpSpPr>
        <p:sp>
          <p:nvSpPr>
            <p:cNvPr id="3" name="Freeform 3"/>
            <p:cNvSpPr/>
            <p:nvPr/>
          </p:nvSpPr>
          <p:spPr>
            <a:xfrm>
              <a:off x="0" y="0"/>
              <a:ext cx="4944459" cy="549052"/>
            </a:xfrm>
            <a:custGeom>
              <a:avLst/>
              <a:gdLst/>
              <a:ahLst/>
              <a:cxnLst/>
              <a:rect l="l" t="t" r="r" b="b"/>
              <a:pathLst>
                <a:path w="4944459" h="549052">
                  <a:moveTo>
                    <a:pt x="10075" y="0"/>
                  </a:moveTo>
                  <a:lnTo>
                    <a:pt x="4934384" y="0"/>
                  </a:lnTo>
                  <a:cubicBezTo>
                    <a:pt x="4939948" y="0"/>
                    <a:pt x="4944459" y="4511"/>
                    <a:pt x="4944459" y="10075"/>
                  </a:cubicBezTo>
                  <a:lnTo>
                    <a:pt x="4944459" y="538976"/>
                  </a:lnTo>
                  <a:cubicBezTo>
                    <a:pt x="4944459" y="544541"/>
                    <a:pt x="4939948" y="549052"/>
                    <a:pt x="4934384" y="549052"/>
                  </a:cubicBezTo>
                  <a:lnTo>
                    <a:pt x="10075" y="549052"/>
                  </a:lnTo>
                  <a:cubicBezTo>
                    <a:pt x="7403" y="549052"/>
                    <a:pt x="4840" y="547990"/>
                    <a:pt x="2951" y="546101"/>
                  </a:cubicBezTo>
                  <a:cubicBezTo>
                    <a:pt x="1061" y="544211"/>
                    <a:pt x="0" y="541648"/>
                    <a:pt x="0" y="538976"/>
                  </a:cubicBezTo>
                  <a:lnTo>
                    <a:pt x="0" y="10075"/>
                  </a:lnTo>
                  <a:cubicBezTo>
                    <a:pt x="0" y="4511"/>
                    <a:pt x="4511" y="0"/>
                    <a:pt x="10075" y="0"/>
                  </a:cubicBezTo>
                  <a:close/>
                </a:path>
              </a:pathLst>
            </a:custGeom>
            <a:gradFill rotWithShape="1">
              <a:gsLst>
                <a:gs pos="0">
                  <a:srgbClr val="19D2B4">
                    <a:alpha val="100000"/>
                  </a:srgbClr>
                </a:gs>
                <a:gs pos="50000">
                  <a:srgbClr val="006E8D">
                    <a:alpha val="100000"/>
                  </a:srgbClr>
                </a:gs>
                <a:gs pos="100000">
                  <a:srgbClr val="006E8D">
                    <a:alpha val="100000"/>
                  </a:srgbClr>
                </a:gs>
              </a:gsLst>
              <a:lin ang="0"/>
            </a:gradFill>
          </p:spPr>
          <p:txBody>
            <a:bodyPr/>
            <a:lstStyle/>
            <a:p>
              <a:endParaRPr lang="pt-BR"/>
            </a:p>
          </p:txBody>
        </p:sp>
        <p:sp>
          <p:nvSpPr>
            <p:cNvPr id="4" name="TextBox 4"/>
            <p:cNvSpPr txBox="1"/>
            <p:nvPr/>
          </p:nvSpPr>
          <p:spPr>
            <a:xfrm>
              <a:off x="0" y="-38100"/>
              <a:ext cx="4944459" cy="587151"/>
            </a:xfrm>
            <a:prstGeom prst="rect">
              <a:avLst/>
            </a:prstGeom>
          </p:spPr>
          <p:txBody>
            <a:bodyPr lIns="51982" tIns="51982" rIns="51982" bIns="51982" rtlCol="0" anchor="ctr"/>
            <a:lstStyle/>
            <a:p>
              <a:pPr algn="ctr">
                <a:lnSpc>
                  <a:spcPts val="3499"/>
                </a:lnSpc>
              </a:pPr>
              <a:endParaRPr/>
            </a:p>
          </p:txBody>
        </p:sp>
      </p:grpSp>
      <p:grpSp>
        <p:nvGrpSpPr>
          <p:cNvPr id="5" name="Group 5"/>
          <p:cNvGrpSpPr/>
          <p:nvPr/>
        </p:nvGrpSpPr>
        <p:grpSpPr>
          <a:xfrm>
            <a:off x="-163997" y="0"/>
            <a:ext cx="18675629" cy="2133178"/>
            <a:chOff x="0" y="0"/>
            <a:chExt cx="4806858" cy="549051"/>
          </a:xfrm>
        </p:grpSpPr>
        <p:sp>
          <p:nvSpPr>
            <p:cNvPr id="6" name="Freeform 6"/>
            <p:cNvSpPr/>
            <p:nvPr/>
          </p:nvSpPr>
          <p:spPr>
            <a:xfrm>
              <a:off x="0" y="0"/>
              <a:ext cx="4806858" cy="549052"/>
            </a:xfrm>
            <a:custGeom>
              <a:avLst/>
              <a:gdLst/>
              <a:ahLst/>
              <a:cxnLst/>
              <a:rect l="l" t="t" r="r" b="b"/>
              <a:pathLst>
                <a:path w="4806858" h="549052">
                  <a:moveTo>
                    <a:pt x="10364" y="0"/>
                  </a:moveTo>
                  <a:lnTo>
                    <a:pt x="4796494" y="0"/>
                  </a:lnTo>
                  <a:cubicBezTo>
                    <a:pt x="4802218" y="0"/>
                    <a:pt x="4806858" y="4640"/>
                    <a:pt x="4806858" y="10364"/>
                  </a:cubicBezTo>
                  <a:lnTo>
                    <a:pt x="4806858" y="538688"/>
                  </a:lnTo>
                  <a:cubicBezTo>
                    <a:pt x="4806858" y="544412"/>
                    <a:pt x="4802218" y="549052"/>
                    <a:pt x="4796494" y="549052"/>
                  </a:cubicBezTo>
                  <a:lnTo>
                    <a:pt x="10364" y="549052"/>
                  </a:lnTo>
                  <a:cubicBezTo>
                    <a:pt x="4640" y="549052"/>
                    <a:pt x="0" y="544412"/>
                    <a:pt x="0" y="538688"/>
                  </a:cubicBezTo>
                  <a:lnTo>
                    <a:pt x="0" y="10364"/>
                  </a:lnTo>
                  <a:cubicBezTo>
                    <a:pt x="0" y="4640"/>
                    <a:pt x="4640" y="0"/>
                    <a:pt x="10364" y="0"/>
                  </a:cubicBezTo>
                  <a:close/>
                </a:path>
              </a:pathLst>
            </a:custGeom>
            <a:solidFill>
              <a:srgbClr val="19D2B4"/>
            </a:solidFill>
          </p:spPr>
          <p:txBody>
            <a:bodyPr/>
            <a:lstStyle/>
            <a:p>
              <a:endParaRPr lang="pt-BR"/>
            </a:p>
          </p:txBody>
        </p:sp>
        <p:sp>
          <p:nvSpPr>
            <p:cNvPr id="7" name="TextBox 7"/>
            <p:cNvSpPr txBox="1"/>
            <p:nvPr/>
          </p:nvSpPr>
          <p:spPr>
            <a:xfrm>
              <a:off x="0" y="-38100"/>
              <a:ext cx="4806858" cy="587151"/>
            </a:xfrm>
            <a:prstGeom prst="rect">
              <a:avLst/>
            </a:prstGeom>
          </p:spPr>
          <p:txBody>
            <a:bodyPr lIns="51982" tIns="51982" rIns="51982" bIns="51982" rtlCol="0" anchor="ctr"/>
            <a:lstStyle/>
            <a:p>
              <a:pPr algn="ctr">
                <a:lnSpc>
                  <a:spcPts val="3499"/>
                </a:lnSpc>
              </a:pPr>
              <a:endParaRPr/>
            </a:p>
          </p:txBody>
        </p:sp>
      </p:grpSp>
      <p:grpSp>
        <p:nvGrpSpPr>
          <p:cNvPr id="8" name="Group 8"/>
          <p:cNvGrpSpPr/>
          <p:nvPr/>
        </p:nvGrpSpPr>
        <p:grpSpPr>
          <a:xfrm>
            <a:off x="9408992" y="3410412"/>
            <a:ext cx="2951868" cy="295186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775" t="-1692" r="-11599" b="-13394"/>
              </a:stretch>
            </a:blipFill>
          </p:spPr>
          <p:txBody>
            <a:bodyPr/>
            <a:lstStyle/>
            <a:p>
              <a:endParaRPr lang="pt-BR"/>
            </a:p>
          </p:txBody>
        </p:sp>
      </p:grpSp>
      <p:grpSp>
        <p:nvGrpSpPr>
          <p:cNvPr id="10" name="Group 10"/>
          <p:cNvGrpSpPr/>
          <p:nvPr/>
        </p:nvGrpSpPr>
        <p:grpSpPr>
          <a:xfrm>
            <a:off x="1239122" y="3360494"/>
            <a:ext cx="2951868" cy="295186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pt-BR"/>
            </a:p>
          </p:txBody>
        </p:sp>
      </p:grpSp>
      <p:sp>
        <p:nvSpPr>
          <p:cNvPr id="12" name="TextBox 12"/>
          <p:cNvSpPr txBox="1"/>
          <p:nvPr/>
        </p:nvSpPr>
        <p:spPr>
          <a:xfrm>
            <a:off x="1894834" y="5950412"/>
            <a:ext cx="2847805" cy="361950"/>
          </a:xfrm>
          <a:prstGeom prst="rect">
            <a:avLst/>
          </a:prstGeom>
        </p:spPr>
        <p:txBody>
          <a:bodyPr lIns="0" tIns="0" rIns="0" bIns="0" rtlCol="0" anchor="t">
            <a:spAutoFit/>
          </a:bodyPr>
          <a:lstStyle/>
          <a:p>
            <a:pPr algn="ctr">
              <a:lnSpc>
                <a:spcPts val="2999"/>
              </a:lnSpc>
              <a:spcBef>
                <a:spcPct val="0"/>
              </a:spcBef>
            </a:pPr>
            <a:endParaRPr/>
          </a:p>
        </p:txBody>
      </p:sp>
      <p:sp>
        <p:nvSpPr>
          <p:cNvPr id="13" name="TextBox 13"/>
          <p:cNvSpPr txBox="1"/>
          <p:nvPr/>
        </p:nvSpPr>
        <p:spPr>
          <a:xfrm rot="-19875">
            <a:off x="1031702" y="617519"/>
            <a:ext cx="5989220" cy="1169912"/>
          </a:xfrm>
          <a:prstGeom prst="rect">
            <a:avLst/>
          </a:prstGeom>
        </p:spPr>
        <p:txBody>
          <a:bodyPr lIns="0" tIns="0" rIns="0" bIns="0" rtlCol="0" anchor="t">
            <a:spAutoFit/>
          </a:bodyPr>
          <a:lstStyle/>
          <a:p>
            <a:pPr algn="l">
              <a:lnSpc>
                <a:spcPts val="7016"/>
              </a:lnSpc>
            </a:pPr>
            <a:r>
              <a:rPr lang="en-US" sz="5356">
                <a:solidFill>
                  <a:srgbClr val="000000"/>
                </a:solidFill>
                <a:latin typeface="League Spartan"/>
                <a:ea typeface="League Spartan"/>
                <a:cs typeface="League Spartan"/>
                <a:sym typeface="League Spartan"/>
              </a:rPr>
              <a:t>Nosso time Gaia </a:t>
            </a:r>
          </a:p>
          <a:p>
            <a:pPr algn="l">
              <a:lnSpc>
                <a:spcPts val="2227"/>
              </a:lnSpc>
            </a:pPr>
            <a:endParaRPr lang="en-US" sz="5356">
              <a:solidFill>
                <a:srgbClr val="000000"/>
              </a:solidFill>
              <a:latin typeface="League Spartan"/>
              <a:ea typeface="League Spartan"/>
              <a:cs typeface="League Spartan"/>
              <a:sym typeface="League Spartan"/>
            </a:endParaRPr>
          </a:p>
        </p:txBody>
      </p:sp>
      <p:sp>
        <p:nvSpPr>
          <p:cNvPr id="14" name="TextBox 14"/>
          <p:cNvSpPr txBox="1"/>
          <p:nvPr/>
        </p:nvSpPr>
        <p:spPr>
          <a:xfrm>
            <a:off x="12663589" y="3431754"/>
            <a:ext cx="4385289" cy="5832475"/>
          </a:xfrm>
          <a:prstGeom prst="rect">
            <a:avLst/>
          </a:prstGeom>
        </p:spPr>
        <p:txBody>
          <a:bodyPr lIns="0" tIns="0" rIns="0" bIns="0" rtlCol="0" anchor="t">
            <a:spAutoFit/>
          </a:bodyPr>
          <a:lstStyle/>
          <a:p>
            <a:pPr algn="l">
              <a:lnSpc>
                <a:spcPts val="2600"/>
              </a:lnSpc>
            </a:pPr>
            <a:r>
              <a:rPr lang="en-US" sz="2000" b="1">
                <a:solidFill>
                  <a:srgbClr val="000000"/>
                </a:solidFill>
                <a:latin typeface="Canva Sans Bold"/>
                <a:ea typeface="Canva Sans Bold"/>
                <a:cs typeface="Canva Sans Bold"/>
                <a:sym typeface="Canva Sans Bold"/>
              </a:rPr>
              <a:t>Frances Malta Tanure</a:t>
            </a:r>
          </a:p>
          <a:p>
            <a:pPr algn="l">
              <a:lnSpc>
                <a:spcPts val="2600"/>
              </a:lnSpc>
            </a:pPr>
            <a:endParaRPr lang="en-US" sz="2000" b="1">
              <a:solidFill>
                <a:srgbClr val="000000"/>
              </a:solidFill>
              <a:latin typeface="Canva Sans Bold"/>
              <a:ea typeface="Canva Sans Bold"/>
              <a:cs typeface="Canva Sans Bold"/>
              <a:sym typeface="Canva Sans Bold"/>
            </a:endParaRPr>
          </a:p>
          <a:p>
            <a:pPr algn="l">
              <a:lnSpc>
                <a:spcPts val="2600"/>
              </a:lnSpc>
            </a:pPr>
            <a:r>
              <a:rPr lang="en-US" sz="2000">
                <a:solidFill>
                  <a:srgbClr val="000000"/>
                </a:solidFill>
                <a:latin typeface="Canva Sans"/>
                <a:ea typeface="Canva Sans"/>
                <a:cs typeface="Canva Sans"/>
                <a:sym typeface="Canva Sans"/>
              </a:rPr>
              <a:t>Executiva e engenheira de Computação com mais de 20 anos de experiência em gestão e projetos de inovação, com um histórico em liderança e desenvolvimento estratégico de empresas. </a:t>
            </a:r>
          </a:p>
          <a:p>
            <a:pPr algn="l">
              <a:lnSpc>
                <a:spcPts val="2600"/>
              </a:lnSpc>
            </a:pPr>
            <a:endParaRPr lang="en-US" sz="2000">
              <a:solidFill>
                <a:srgbClr val="000000"/>
              </a:solidFill>
              <a:latin typeface="Canva Sans"/>
              <a:ea typeface="Canva Sans"/>
              <a:cs typeface="Canva Sans"/>
              <a:sym typeface="Canva Sans"/>
            </a:endParaRPr>
          </a:p>
          <a:p>
            <a:pPr algn="l">
              <a:lnSpc>
                <a:spcPts val="2600"/>
              </a:lnSpc>
            </a:pPr>
            <a:r>
              <a:rPr lang="en-US" sz="2000">
                <a:solidFill>
                  <a:srgbClr val="000000"/>
                </a:solidFill>
                <a:latin typeface="Canva Sans"/>
                <a:ea typeface="Canva Sans"/>
                <a:cs typeface="Canva Sans"/>
                <a:sym typeface="Canva Sans"/>
              </a:rPr>
              <a:t>Trabalhou em diversos setores, incluindo Fintech, Martech, Telecom, recentemente Mercado Financeiro e consultoria estratégica.</a:t>
            </a:r>
          </a:p>
          <a:p>
            <a:pPr algn="l">
              <a:lnSpc>
                <a:spcPts val="2600"/>
              </a:lnSpc>
            </a:pPr>
            <a:endParaRPr lang="en-US" sz="2000">
              <a:solidFill>
                <a:srgbClr val="000000"/>
              </a:solidFill>
              <a:latin typeface="Canva Sans"/>
              <a:ea typeface="Canva Sans"/>
              <a:cs typeface="Canva Sans"/>
              <a:sym typeface="Canva Sans"/>
            </a:endParaRPr>
          </a:p>
          <a:p>
            <a:pPr algn="l">
              <a:lnSpc>
                <a:spcPts val="2600"/>
              </a:lnSpc>
            </a:pPr>
            <a:endParaRPr lang="en-US" sz="2000">
              <a:solidFill>
                <a:srgbClr val="000000"/>
              </a:solidFill>
              <a:latin typeface="Canva Sans"/>
              <a:ea typeface="Canva Sans"/>
              <a:cs typeface="Canva Sans"/>
              <a:sym typeface="Canva Sans"/>
            </a:endParaRPr>
          </a:p>
          <a:p>
            <a:pPr algn="l">
              <a:lnSpc>
                <a:spcPts val="2600"/>
              </a:lnSpc>
            </a:pPr>
            <a:endParaRPr lang="en-US" sz="2000">
              <a:solidFill>
                <a:srgbClr val="000000"/>
              </a:solidFill>
              <a:latin typeface="Canva Sans"/>
              <a:ea typeface="Canva Sans"/>
              <a:cs typeface="Canva Sans"/>
              <a:sym typeface="Canva Sans"/>
            </a:endParaRPr>
          </a:p>
        </p:txBody>
      </p:sp>
      <p:sp>
        <p:nvSpPr>
          <p:cNvPr id="15" name="TextBox 15"/>
          <p:cNvSpPr txBox="1"/>
          <p:nvPr/>
        </p:nvSpPr>
        <p:spPr>
          <a:xfrm>
            <a:off x="4809243" y="3381837"/>
            <a:ext cx="4669544" cy="4213225"/>
          </a:xfrm>
          <a:prstGeom prst="rect">
            <a:avLst/>
          </a:prstGeom>
        </p:spPr>
        <p:txBody>
          <a:bodyPr lIns="0" tIns="0" rIns="0" bIns="0" rtlCol="0" anchor="t">
            <a:spAutoFit/>
          </a:bodyPr>
          <a:lstStyle/>
          <a:p>
            <a:pPr algn="l">
              <a:lnSpc>
                <a:spcPts val="2600"/>
              </a:lnSpc>
            </a:pPr>
            <a:r>
              <a:rPr lang="en-US" sz="2000" b="1">
                <a:solidFill>
                  <a:srgbClr val="000000"/>
                </a:solidFill>
                <a:latin typeface="Canva Sans Bold"/>
                <a:ea typeface="Canva Sans Bold"/>
                <a:cs typeface="Canva Sans Bold"/>
                <a:sym typeface="Canva Sans Bold"/>
              </a:rPr>
              <a:t>Claudia Alvim</a:t>
            </a:r>
          </a:p>
          <a:p>
            <a:pPr algn="l">
              <a:lnSpc>
                <a:spcPts val="2600"/>
              </a:lnSpc>
            </a:pPr>
            <a:endParaRPr lang="en-US" sz="2000" b="1">
              <a:solidFill>
                <a:srgbClr val="000000"/>
              </a:solidFill>
              <a:latin typeface="Canva Sans Bold"/>
              <a:ea typeface="Canva Sans Bold"/>
              <a:cs typeface="Canva Sans Bold"/>
              <a:sym typeface="Canva Sans Bold"/>
            </a:endParaRPr>
          </a:p>
          <a:p>
            <a:pPr algn="l">
              <a:lnSpc>
                <a:spcPts val="2600"/>
              </a:lnSpc>
            </a:pPr>
            <a:r>
              <a:rPr lang="en-US" sz="2000">
                <a:solidFill>
                  <a:srgbClr val="000000"/>
                </a:solidFill>
                <a:latin typeface="Canva Sans"/>
                <a:ea typeface="Canva Sans"/>
                <a:cs typeface="Canva Sans"/>
                <a:sym typeface="Canva Sans"/>
              </a:rPr>
              <a:t>Engenheira de Produção e </a:t>
            </a:r>
          </a:p>
          <a:p>
            <a:pPr algn="l">
              <a:lnSpc>
                <a:spcPts val="2600"/>
              </a:lnSpc>
            </a:pPr>
            <a:r>
              <a:rPr lang="en-US" sz="2000">
                <a:solidFill>
                  <a:srgbClr val="000000"/>
                </a:solidFill>
                <a:latin typeface="Canva Sans"/>
                <a:ea typeface="Canva Sans"/>
                <a:cs typeface="Canva Sans"/>
                <a:sym typeface="Canva Sans"/>
              </a:rPr>
              <a:t>Pós Graduação de Marketing </a:t>
            </a:r>
          </a:p>
          <a:p>
            <a:pPr algn="l">
              <a:lnSpc>
                <a:spcPts val="2600"/>
              </a:lnSpc>
            </a:pPr>
            <a:r>
              <a:rPr lang="en-US" sz="2000">
                <a:solidFill>
                  <a:srgbClr val="000000"/>
                </a:solidFill>
                <a:latin typeface="Canva Sans"/>
                <a:ea typeface="Canva Sans"/>
                <a:cs typeface="Canva Sans"/>
                <a:sym typeface="Canva Sans"/>
              </a:rPr>
              <a:t>com mais de 20 anos de </a:t>
            </a:r>
          </a:p>
          <a:p>
            <a:pPr algn="l">
              <a:lnSpc>
                <a:spcPts val="2600"/>
              </a:lnSpc>
            </a:pPr>
            <a:r>
              <a:rPr lang="en-US" sz="2000">
                <a:solidFill>
                  <a:srgbClr val="000000"/>
                </a:solidFill>
                <a:latin typeface="Canva Sans"/>
                <a:ea typeface="Canva Sans"/>
                <a:cs typeface="Canva Sans"/>
                <a:sym typeface="Canva Sans"/>
              </a:rPr>
              <a:t>experiência, tendo atuado em 3 startups e  2 multinacionais.</a:t>
            </a:r>
          </a:p>
          <a:p>
            <a:pPr algn="l">
              <a:lnSpc>
                <a:spcPts val="2600"/>
              </a:lnSpc>
            </a:pPr>
            <a:endParaRPr lang="en-US" sz="2000">
              <a:solidFill>
                <a:srgbClr val="000000"/>
              </a:solidFill>
              <a:latin typeface="Canva Sans"/>
              <a:ea typeface="Canva Sans"/>
              <a:cs typeface="Canva Sans"/>
              <a:sym typeface="Canva Sans"/>
            </a:endParaRPr>
          </a:p>
          <a:p>
            <a:pPr algn="l">
              <a:lnSpc>
                <a:spcPts val="2600"/>
              </a:lnSpc>
            </a:pPr>
            <a:r>
              <a:rPr lang="en-US" sz="2000">
                <a:solidFill>
                  <a:srgbClr val="000000"/>
                </a:solidFill>
                <a:latin typeface="Canva Sans"/>
                <a:ea typeface="Canva Sans"/>
                <a:cs typeface="Canva Sans"/>
                <a:sym typeface="Canva Sans"/>
              </a:rPr>
              <a:t>Atuou nas estratégias de </a:t>
            </a:r>
          </a:p>
          <a:p>
            <a:pPr algn="l">
              <a:lnSpc>
                <a:spcPts val="2600"/>
              </a:lnSpc>
            </a:pPr>
            <a:r>
              <a:rPr lang="en-US" sz="2000">
                <a:solidFill>
                  <a:srgbClr val="000000"/>
                </a:solidFill>
                <a:latin typeface="Canva Sans"/>
                <a:ea typeface="Canva Sans"/>
                <a:cs typeface="Canva Sans"/>
                <a:sym typeface="Canva Sans"/>
              </a:rPr>
              <a:t>Go-to-Market e validação de </a:t>
            </a:r>
          </a:p>
          <a:p>
            <a:pPr algn="l">
              <a:lnSpc>
                <a:spcPts val="2600"/>
              </a:lnSpc>
            </a:pPr>
            <a:r>
              <a:rPr lang="en-US" sz="2000">
                <a:solidFill>
                  <a:srgbClr val="000000"/>
                </a:solidFill>
                <a:latin typeface="Canva Sans"/>
                <a:ea typeface="Canva Sans"/>
                <a:cs typeface="Canva Sans"/>
                <a:sym typeface="Canva Sans"/>
              </a:rPr>
              <a:t>PMF em Fintech e Martech e</a:t>
            </a:r>
          </a:p>
          <a:p>
            <a:pPr algn="l">
              <a:lnSpc>
                <a:spcPts val="2600"/>
              </a:lnSpc>
            </a:pPr>
            <a:r>
              <a:rPr lang="en-US" sz="2000">
                <a:solidFill>
                  <a:srgbClr val="000000"/>
                </a:solidFill>
                <a:latin typeface="Canva Sans"/>
                <a:ea typeface="Canva Sans"/>
                <a:cs typeface="Canva Sans"/>
                <a:sym typeface="Canva Sans"/>
              </a:rPr>
              <a:t> liderou áreas de Marketing e </a:t>
            </a:r>
          </a:p>
          <a:p>
            <a:pPr algn="l">
              <a:lnSpc>
                <a:spcPts val="2600"/>
              </a:lnSpc>
            </a:pPr>
            <a:r>
              <a:rPr lang="en-US" sz="2000">
                <a:solidFill>
                  <a:srgbClr val="000000"/>
                </a:solidFill>
                <a:latin typeface="Canva Sans"/>
                <a:ea typeface="Canva Sans"/>
                <a:cs typeface="Canva Sans"/>
                <a:sym typeface="Canva Sans"/>
              </a:rPr>
              <a:t>Produto nas Multinacionais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9040" y="0"/>
            <a:ext cx="11487861" cy="10335929"/>
            <a:chOff x="0" y="0"/>
            <a:chExt cx="3025610" cy="2722220"/>
          </a:xfrm>
        </p:grpSpPr>
        <p:sp>
          <p:nvSpPr>
            <p:cNvPr id="3" name="Freeform 3"/>
            <p:cNvSpPr/>
            <p:nvPr/>
          </p:nvSpPr>
          <p:spPr>
            <a:xfrm>
              <a:off x="0" y="0"/>
              <a:ext cx="3025610" cy="2722220"/>
            </a:xfrm>
            <a:custGeom>
              <a:avLst/>
              <a:gdLst/>
              <a:ahLst/>
              <a:cxnLst/>
              <a:rect l="l" t="t" r="r" b="b"/>
              <a:pathLst>
                <a:path w="3025610" h="2722220">
                  <a:moveTo>
                    <a:pt x="34370" y="0"/>
                  </a:moveTo>
                  <a:lnTo>
                    <a:pt x="2991240" y="0"/>
                  </a:lnTo>
                  <a:cubicBezTo>
                    <a:pt x="3010221" y="0"/>
                    <a:pt x="3025610" y="15388"/>
                    <a:pt x="3025610" y="34370"/>
                  </a:cubicBezTo>
                  <a:lnTo>
                    <a:pt x="3025610" y="2687850"/>
                  </a:lnTo>
                  <a:cubicBezTo>
                    <a:pt x="3025610" y="2706832"/>
                    <a:pt x="3010221" y="2722220"/>
                    <a:pt x="2991240" y="2722220"/>
                  </a:cubicBezTo>
                  <a:lnTo>
                    <a:pt x="34370" y="2722220"/>
                  </a:lnTo>
                  <a:cubicBezTo>
                    <a:pt x="15388" y="2722220"/>
                    <a:pt x="0" y="2706832"/>
                    <a:pt x="0" y="2687850"/>
                  </a:cubicBezTo>
                  <a:lnTo>
                    <a:pt x="0" y="34370"/>
                  </a:lnTo>
                  <a:cubicBezTo>
                    <a:pt x="0" y="15388"/>
                    <a:pt x="15388" y="0"/>
                    <a:pt x="34370" y="0"/>
                  </a:cubicBezTo>
                  <a:close/>
                </a:path>
              </a:pathLst>
            </a:custGeom>
            <a:solidFill>
              <a:srgbClr val="FFCD46"/>
            </a:solidFill>
          </p:spPr>
          <p:txBody>
            <a:bodyPr/>
            <a:lstStyle/>
            <a:p>
              <a:endParaRPr lang="pt-BR"/>
            </a:p>
          </p:txBody>
        </p:sp>
        <p:sp>
          <p:nvSpPr>
            <p:cNvPr id="4" name="TextBox 4"/>
            <p:cNvSpPr txBox="1"/>
            <p:nvPr/>
          </p:nvSpPr>
          <p:spPr>
            <a:xfrm>
              <a:off x="0" y="-38100"/>
              <a:ext cx="3025610" cy="2760320"/>
            </a:xfrm>
            <a:prstGeom prst="rect">
              <a:avLst/>
            </a:prstGeom>
          </p:spPr>
          <p:txBody>
            <a:bodyPr lIns="50800" tIns="50800" rIns="50800" bIns="50800" rtlCol="0" anchor="ctr"/>
            <a:lstStyle/>
            <a:p>
              <a:pPr algn="ctr">
                <a:lnSpc>
                  <a:spcPts val="3499"/>
                </a:lnSpc>
              </a:pPr>
              <a:endParaRPr/>
            </a:p>
          </p:txBody>
        </p:sp>
      </p:grpSp>
      <p:sp>
        <p:nvSpPr>
          <p:cNvPr id="5" name="TextBox 5"/>
          <p:cNvSpPr txBox="1"/>
          <p:nvPr/>
        </p:nvSpPr>
        <p:spPr>
          <a:xfrm>
            <a:off x="597585" y="4303730"/>
            <a:ext cx="6258757" cy="3112390"/>
          </a:xfrm>
          <a:prstGeom prst="rect">
            <a:avLst/>
          </a:prstGeom>
        </p:spPr>
        <p:txBody>
          <a:bodyPr lIns="0" tIns="0" rIns="0" bIns="0" rtlCol="0" anchor="t">
            <a:spAutoFit/>
          </a:bodyPr>
          <a:lstStyle/>
          <a:p>
            <a:pPr algn="l">
              <a:lnSpc>
                <a:spcPts val="3499"/>
              </a:lnSpc>
            </a:pPr>
            <a:r>
              <a:rPr lang="en-US" sz="2499" b="1" dirty="0">
                <a:solidFill>
                  <a:srgbClr val="333333"/>
                </a:solidFill>
                <a:latin typeface="Canva Sans Bold"/>
                <a:ea typeface="Canva Sans Bold"/>
                <a:cs typeface="Canva Sans Bold"/>
                <a:sym typeface="Canva Sans Bold"/>
              </a:rPr>
              <a:t>GAIA</a:t>
            </a:r>
          </a:p>
          <a:p>
            <a:pPr algn="l">
              <a:lnSpc>
                <a:spcPts val="3499"/>
              </a:lnSpc>
            </a:pPr>
            <a:endParaRPr lang="en-US" sz="2499" b="1" dirty="0">
              <a:solidFill>
                <a:srgbClr val="333333"/>
              </a:solidFill>
              <a:latin typeface="Canva Sans Bold"/>
              <a:ea typeface="Canva Sans Bold"/>
              <a:cs typeface="Canva Sans Bold"/>
              <a:sym typeface="Canva Sans Bold"/>
            </a:endParaRPr>
          </a:p>
          <a:p>
            <a:pPr algn="l">
              <a:lnSpc>
                <a:spcPts val="3499"/>
              </a:lnSpc>
            </a:pPr>
            <a:r>
              <a:rPr lang="en-US" sz="2499" b="1" dirty="0">
                <a:solidFill>
                  <a:srgbClr val="333333"/>
                </a:solidFill>
                <a:latin typeface="Canva Sans Bold"/>
                <a:ea typeface="Canva Sans Bold"/>
                <a:cs typeface="Canva Sans Bold"/>
                <a:sym typeface="Canva Sans Bold"/>
              </a:rPr>
              <a:t>Claudia Alvim</a:t>
            </a:r>
          </a:p>
          <a:p>
            <a:pPr algn="l">
              <a:lnSpc>
                <a:spcPts val="3499"/>
              </a:lnSpc>
            </a:pPr>
            <a:r>
              <a:rPr lang="en-US" sz="2499" b="1" dirty="0">
                <a:solidFill>
                  <a:srgbClr val="333333"/>
                </a:solidFill>
                <a:latin typeface="Canva Sans Bold"/>
                <a:ea typeface="Canva Sans Bold"/>
                <a:cs typeface="Canva Sans Bold"/>
                <a:sym typeface="Canva Sans Bold"/>
              </a:rPr>
              <a:t>Frances </a:t>
            </a:r>
            <a:r>
              <a:rPr lang="en-US" sz="2499" b="1" dirty="0" err="1">
                <a:solidFill>
                  <a:srgbClr val="333333"/>
                </a:solidFill>
                <a:latin typeface="Canva Sans Bold"/>
                <a:ea typeface="Canva Sans Bold"/>
                <a:cs typeface="Canva Sans Bold"/>
                <a:sym typeface="Canva Sans Bold"/>
              </a:rPr>
              <a:t>Tanure</a:t>
            </a:r>
            <a:endParaRPr lang="en-US" sz="2499" b="1" dirty="0">
              <a:solidFill>
                <a:srgbClr val="333333"/>
              </a:solidFill>
              <a:latin typeface="Canva Sans Bold"/>
              <a:ea typeface="Canva Sans Bold"/>
              <a:cs typeface="Canva Sans Bold"/>
              <a:sym typeface="Canva Sans Bold"/>
            </a:endParaRPr>
          </a:p>
          <a:p>
            <a:pPr algn="l">
              <a:lnSpc>
                <a:spcPts val="3499"/>
              </a:lnSpc>
            </a:pPr>
            <a:endParaRPr lang="en-US" sz="2499" b="1" dirty="0">
              <a:solidFill>
                <a:srgbClr val="333333"/>
              </a:solidFill>
              <a:latin typeface="Canva Sans Bold"/>
              <a:ea typeface="Canva Sans Bold"/>
              <a:cs typeface="Canva Sans Bold"/>
              <a:sym typeface="Canva Sans Bold"/>
            </a:endParaRPr>
          </a:p>
          <a:p>
            <a:pPr algn="l">
              <a:lnSpc>
                <a:spcPts val="3499"/>
              </a:lnSpc>
            </a:pPr>
            <a:endParaRPr lang="en-US" sz="2499" b="1" dirty="0">
              <a:solidFill>
                <a:srgbClr val="333333"/>
              </a:solidFill>
              <a:latin typeface="Canva Sans Bold"/>
              <a:ea typeface="Canva Sans Bold"/>
              <a:cs typeface="Canva Sans Bold"/>
              <a:sym typeface="Canva Sans Bold"/>
            </a:endParaRPr>
          </a:p>
          <a:p>
            <a:pPr algn="l">
              <a:lnSpc>
                <a:spcPts val="3499"/>
              </a:lnSpc>
            </a:pPr>
            <a:r>
              <a:rPr lang="en-US" sz="2499" b="1" dirty="0">
                <a:solidFill>
                  <a:srgbClr val="333333"/>
                </a:solidFill>
                <a:latin typeface="Canva Sans Bold"/>
                <a:ea typeface="Canva Sans Bold"/>
                <a:cs typeface="Canva Sans Bold"/>
                <a:sym typeface="Canva Sans Bold"/>
              </a:rPr>
              <a:t>Claudiabs.alvim@gmail.com</a:t>
            </a:r>
          </a:p>
        </p:txBody>
      </p:sp>
      <p:sp>
        <p:nvSpPr>
          <p:cNvPr id="6" name="TextBox 6"/>
          <p:cNvSpPr txBox="1"/>
          <p:nvPr/>
        </p:nvSpPr>
        <p:spPr>
          <a:xfrm>
            <a:off x="567098" y="2958393"/>
            <a:ext cx="4309702" cy="915635"/>
          </a:xfrm>
          <a:prstGeom prst="rect">
            <a:avLst/>
          </a:prstGeom>
        </p:spPr>
        <p:txBody>
          <a:bodyPr wrap="square" lIns="0" tIns="0" rIns="0" bIns="0" rtlCol="0" anchor="t">
            <a:spAutoFit/>
          </a:bodyPr>
          <a:lstStyle/>
          <a:p>
            <a:pPr algn="ctr">
              <a:lnSpc>
                <a:spcPts val="7419"/>
              </a:lnSpc>
            </a:pPr>
            <a:r>
              <a:rPr lang="en-US" sz="5299" dirty="0" err="1">
                <a:solidFill>
                  <a:srgbClr val="000000"/>
                </a:solidFill>
                <a:latin typeface="League Spartan"/>
                <a:ea typeface="League Spartan"/>
                <a:cs typeface="League Spartan"/>
                <a:sym typeface="League Spartan"/>
              </a:rPr>
              <a:t>Obrigada</a:t>
            </a:r>
            <a:r>
              <a:rPr lang="en-US" sz="5299" dirty="0">
                <a:solidFill>
                  <a:srgbClr val="000000"/>
                </a:solidFill>
                <a:latin typeface="League Spartan"/>
                <a:ea typeface="League Spartan"/>
                <a:cs typeface="League Spartan"/>
                <a:sym typeface="League Spartan"/>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2228</Words>
  <Application>Microsoft Office PowerPoint</Application>
  <PresentationFormat>Personalizar</PresentationFormat>
  <Paragraphs>230</Paragraphs>
  <Slides>13</Slides>
  <Notes>3</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13</vt:i4>
      </vt:variant>
    </vt:vector>
  </HeadingPairs>
  <TitlesOfParts>
    <vt:vector size="21" baseType="lpstr">
      <vt:lpstr>Calibri</vt:lpstr>
      <vt:lpstr>Arial</vt:lpstr>
      <vt:lpstr>Montserrat</vt:lpstr>
      <vt:lpstr>Canva Sans</vt:lpstr>
      <vt:lpstr>Montserrat Bold</vt:lpstr>
      <vt:lpstr>League Spartan</vt:lpstr>
      <vt:lpstr>Canva Sans Bold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I2A2_Agentes_Inteligentes_Projeto_Final_Gaia</dc:title>
  <dc:creator>Gustavo Alvim</dc:creator>
  <cp:lastModifiedBy>Gustavo  Alvim</cp:lastModifiedBy>
  <cp:revision>3</cp:revision>
  <dcterms:created xsi:type="dcterms:W3CDTF">2006-08-16T00:00:00Z</dcterms:created>
  <dcterms:modified xsi:type="dcterms:W3CDTF">2025-11-03T00:35:52Z</dcterms:modified>
  <dc:identifier>DAG3kEuJJSQ</dc:identifier>
</cp:coreProperties>
</file>